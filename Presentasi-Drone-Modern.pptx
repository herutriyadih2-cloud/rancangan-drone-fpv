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Latensi (ms)</c:v>
                </c:pt>
              </c:strCache>
            </c:strRef>
          </c:tx>
          <c:spPr>
            <a:solidFill>
              <a:srgbClr val="E05C22"/>
            </a:solidFill>
            <a:ln>
              <a:noFill/>
            </a:ln>
          </c:spPr>
          <c:cat>
            <c:strRef>
              <c:f>Sheet1!$A$2:$A$6</c:f>
              <c:strCache>
                <c:ptCount val="5"/>
                <c:pt idx="0">
                  <c:v>Analog 5,8G</c:v>
                </c:pt>
                <c:pt idx="1">
                  <c:v>HDZero</c:v>
                </c:pt>
                <c:pt idx="2">
                  <c:v>DJI O4</c:v>
                </c:pt>
                <c:pt idx="3">
                  <c:v>Walksnail</c:v>
                </c:pt>
                <c:pt idx="4">
                  <c:v>Ambang nyaman</c:v>
                </c:pt>
              </c:strCache>
            </c:strRef>
          </c:cat>
          <c:val>
            <c:numRef>
              <c:f>Sheet1!$B$2:$B$6</c:f>
              <c:numCache>
                <c:formatCode>General</c:formatCode>
                <c:ptCount val="5"/>
                <c:pt idx="0">
                  <c:v>20</c:v>
                </c:pt>
                <c:pt idx="1">
                  <c:v>22</c:v>
                </c:pt>
                <c:pt idx="2">
                  <c:v>25</c:v>
                </c:pt>
                <c:pt idx="3">
                  <c:v>28</c:v>
                </c:pt>
                <c:pt idx="4">
                  <c:v>40</c:v>
                </c:pt>
              </c:numCache>
            </c:numRef>
          </c:val>
        </c:ser>
        <c:dLbls>
          <c:txPr>
            <a:bodyPr/>
            <a:lstStyle/>
            <a:p>
              <a:pPr>
                <a:defRPr sz="1000" b="1">
                  <a:solidFill>
                    <a:srgbClr val="ECEFF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253039"/>
            </a:solidFill>
          </a:ln>
        </c:spPr>
        <c:txPr>
          <a:bodyPr/>
          <a:lstStyle/>
          <a:p>
            <a:pPr>
              <a:defRPr sz="1000">
                <a:solidFill>
                  <a:srgbClr val="A9B4BE"/>
                </a:solidFill>
              </a:defRPr>
            </a:pPr>
          </a:p>
        </c:txPr>
        <c:crossAx val="-2113994440"/>
        <c:crosses val="autoZero"/>
        <c:auto val="1"/>
        <c:lblAlgn val="ctr"/>
        <c:lblOffset val="100"/>
        <c:noMultiLvlLbl val="0"/>
      </c:catAx>
      <c:valAx>
        <c:axId val="-2113994440"/>
        <c:scaling/>
        <c:delete val="0"/>
        <c:axPos val="b"/>
        <c:majorGridlines>
          <c:spPr>
            <a:ln>
              <a:solidFill>
                <a:srgbClr val="253039"/>
              </a:solidFill>
            </a:ln>
          </c:spPr>
        </c:majorGridlines>
        <c:numFmt formatCode="General" sourceLinked="0"/>
        <c:majorTickMark val="out"/>
        <c:minorTickMark val="none"/>
        <c:tickLblPos val="nextTo"/>
        <c:spPr>
          <a:ln>
            <a:noFill/>
          </a:ln>
        </c:spPr>
        <c:txPr>
          <a:bodyPr/>
          <a:lstStyle/>
          <a:p>
            <a:pPr>
              <a:defRPr sz="900">
                <a:solidFill>
                  <a:srgbClr val="6F7C88"/>
                </a:solidFill>
              </a:defRPr>
            </a:pPr>
          </a:p>
        </c:txPr>
        <c:crossAx val="-2068027336"/>
        <c:crosses val="autoZero"/>
      </c:valAx>
    </c:plotArea>
    <c:dispBlanksAs val="gap"/>
  </c:chart>
  <c:txPr>
    <a:bodyPr/>
    <a:lstStyle/>
    <a:p>
      <a:pPr>
        <a:defRPr sz="1000">
          <a:solidFill>
            <a:srgbClr val="A9B4BE"/>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Biaya (juta Rp)</c:v>
                </c:pt>
              </c:strCache>
            </c:strRef>
          </c:tx>
          <c:spPr>
            <a:solidFill>
              <a:srgbClr val="3987E5"/>
            </a:solidFill>
            <a:ln>
              <a:noFill/>
            </a:ln>
          </c:spPr>
          <c:cat>
            <c:strRef>
              <c:f>Sheet1!$A$2:$A$5</c:f>
              <c:strCache>
                <c:ptCount val="4"/>
                <c:pt idx="0">
                  <c:v>Analog</c:v>
                </c:pt>
                <c:pt idx="1">
                  <c:v>HDZero</c:v>
                </c:pt>
                <c:pt idx="2">
                  <c:v>Walksnail</c:v>
                </c:pt>
                <c:pt idx="3">
                  <c:v>DJI O4</c:v>
                </c:pt>
              </c:strCache>
            </c:strRef>
          </c:cat>
          <c:val>
            <c:numRef>
              <c:f>Sheet1!$B$2:$B$5</c:f>
              <c:numCache>
                <c:formatCode>General</c:formatCode>
                <c:ptCount val="4"/>
                <c:pt idx="0">
                  <c:v>4.3</c:v>
                </c:pt>
                <c:pt idx="1">
                  <c:v>8.5</c:v>
                </c:pt>
                <c:pt idx="2">
                  <c:v>10.0</c:v>
                </c:pt>
                <c:pt idx="3">
                  <c:v>13.0</c:v>
                </c:pt>
              </c:numCache>
            </c:numRef>
          </c:val>
        </c:ser>
        <c:dLbls>
          <c:txPr>
            <a:bodyPr/>
            <a:lstStyle/>
            <a:p>
              <a:pPr>
                <a:defRPr sz="1000" b="1">
                  <a:solidFill>
                    <a:srgbClr val="ECEFF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253039"/>
            </a:solidFill>
          </a:ln>
        </c:spPr>
        <c:txPr>
          <a:bodyPr/>
          <a:lstStyle/>
          <a:p>
            <a:pPr>
              <a:defRPr sz="1000">
                <a:solidFill>
                  <a:srgbClr val="A9B4BE"/>
                </a:solidFill>
              </a:defRPr>
            </a:pPr>
          </a:p>
        </c:txPr>
        <c:crossAx val="-2113994440"/>
        <c:crosses val="autoZero"/>
        <c:auto val="1"/>
        <c:lblAlgn val="ctr"/>
        <c:lblOffset val="100"/>
        <c:noMultiLvlLbl val="0"/>
      </c:catAx>
      <c:valAx>
        <c:axId val="-2113994440"/>
        <c:scaling/>
        <c:delete val="0"/>
        <c:axPos val="b"/>
        <c:majorGridlines>
          <c:spPr>
            <a:ln>
              <a:solidFill>
                <a:srgbClr val="253039"/>
              </a:solidFill>
            </a:ln>
          </c:spPr>
        </c:majorGridlines>
        <c:numFmt formatCode="General" sourceLinked="0"/>
        <c:majorTickMark val="out"/>
        <c:minorTickMark val="none"/>
        <c:tickLblPos val="nextTo"/>
        <c:spPr>
          <a:ln>
            <a:noFill/>
          </a:ln>
        </c:spPr>
        <c:txPr>
          <a:bodyPr/>
          <a:lstStyle/>
          <a:p>
            <a:pPr>
              <a:defRPr sz="900">
                <a:solidFill>
                  <a:srgbClr val="6F7C88"/>
                </a:solidFill>
              </a:defRPr>
            </a:pPr>
          </a:p>
        </c:txPr>
        <c:crossAx val="-2068027336"/>
        <c:crosses val="autoZero"/>
      </c:valAx>
    </c:plotArea>
    <c:dispBlanksAs val="gap"/>
  </c:chart>
  <c:txPr>
    <a:bodyPr/>
    <a:lstStyle/>
    <a:p>
      <a:pPr>
        <a:defRPr sz="1000">
          <a:solidFill>
            <a:srgbClr val="A9B4BE"/>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Massa (gram)</c:v>
                </c:pt>
              </c:strCache>
            </c:strRef>
          </c:tx>
          <c:spPr>
            <a:solidFill>
              <a:srgbClr val="E05C22"/>
            </a:solidFill>
            <a:ln>
              <a:noFill/>
            </a:ln>
          </c:spPr>
          <c:cat>
            <c:strRef>
              <c:f>Sheet1!$A$2:$A$7</c:f>
              <c:strCache>
                <c:ptCount val="6"/>
                <c:pt idx="0">
                  <c:v>Baterai 6S</c:v>
                </c:pt>
                <c:pt idx="1">
                  <c:v>Motor (4×)</c:v>
                </c:pt>
                <c:pt idx="2">
                  <c:v>Frame karbon</c:v>
                </c:pt>
                <c:pt idx="3">
                  <c:v>Elektronik</c:v>
                </c:pt>
                <c:pt idx="4">
                  <c:v>Baut &amp; hardware</c:v>
                </c:pt>
                <c:pt idx="5">
                  <c:v>Propeller (4×)</c:v>
                </c:pt>
              </c:strCache>
            </c:strRef>
          </c:cat>
          <c:val>
            <c:numRef>
              <c:f>Sheet1!$B$2:$B$7</c:f>
              <c:numCache>
                <c:formatCode>General</c:formatCode>
                <c:ptCount val="6"/>
                <c:pt idx="0">
                  <c:v>260</c:v>
                </c:pt>
                <c:pt idx="1">
                  <c:v>132</c:v>
                </c:pt>
                <c:pt idx="2">
                  <c:v>120</c:v>
                </c:pt>
                <c:pt idx="3">
                  <c:v>89</c:v>
                </c:pt>
                <c:pt idx="4">
                  <c:v>60</c:v>
                </c:pt>
                <c:pt idx="5">
                  <c:v>24</c:v>
                </c:pt>
              </c:numCache>
            </c:numRef>
          </c:val>
        </c:ser>
        <c:dLbls>
          <c:txPr>
            <a:bodyPr/>
            <a:lstStyle/>
            <a:p>
              <a:pPr>
                <a:defRPr sz="1100" b="1">
                  <a:solidFill>
                    <a:srgbClr val="ECEFF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253039"/>
            </a:solidFill>
          </a:ln>
        </c:spPr>
        <c:txPr>
          <a:bodyPr/>
          <a:lstStyle/>
          <a:p>
            <a:pPr>
              <a:defRPr sz="1000">
                <a:solidFill>
                  <a:srgbClr val="A9B4BE"/>
                </a:solidFill>
              </a:defRPr>
            </a:pPr>
          </a:p>
        </c:txPr>
        <c:crossAx val="-2113994440"/>
        <c:crosses val="autoZero"/>
        <c:auto val="1"/>
        <c:lblAlgn val="ctr"/>
        <c:lblOffset val="100"/>
        <c:noMultiLvlLbl val="0"/>
      </c:catAx>
      <c:valAx>
        <c:axId val="-2113994440"/>
        <c:scaling/>
        <c:delete val="0"/>
        <c:axPos val="b"/>
        <c:majorGridlines>
          <c:spPr>
            <a:ln>
              <a:solidFill>
                <a:srgbClr val="253039"/>
              </a:solidFill>
            </a:ln>
          </c:spPr>
        </c:majorGridlines>
        <c:numFmt formatCode="General" sourceLinked="0"/>
        <c:majorTickMark val="out"/>
        <c:minorTickMark val="none"/>
        <c:tickLblPos val="nextTo"/>
        <c:spPr>
          <a:ln>
            <a:noFill/>
          </a:ln>
        </c:spPr>
        <c:txPr>
          <a:bodyPr/>
          <a:lstStyle/>
          <a:p>
            <a:pPr>
              <a:defRPr sz="900">
                <a:solidFill>
                  <a:srgbClr val="6F7C88"/>
                </a:solidFill>
              </a:defRPr>
            </a:pPr>
          </a:p>
        </c:txPr>
        <c:crossAx val="-2068027336"/>
        <c:crosses val="autoZero"/>
      </c:valAx>
    </c:plotArea>
    <c:dispBlanksAs val="gap"/>
  </c:chart>
  <c:txPr>
    <a:bodyPr/>
    <a:lstStyle/>
    <a:p>
      <a:pPr>
        <a:defRPr sz="1000">
          <a:solidFill>
            <a:srgbClr val="A9B4BE"/>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Durasi (menit)</c:v>
                </c:pt>
              </c:strCache>
            </c:strRef>
          </c:tx>
          <c:spPr>
            <a:ln w="31750">
              <a:solidFill>
                <a:srgbClr val="E05C22"/>
              </a:solidFill>
            </a:ln>
          </c:spPr>
          <c:cat>
            <c:strRef>
              <c:f>Sheet1!$A$2:$A$6</c:f>
              <c:strCache>
                <c:ptCount val="5"/>
                <c:pt idx="0">
                  <c:v>1300</c:v>
                </c:pt>
                <c:pt idx="1">
                  <c:v>1500</c:v>
                </c:pt>
                <c:pt idx="2">
                  <c:v>1800</c:v>
                </c:pt>
                <c:pt idx="3">
                  <c:v>2000</c:v>
                </c:pt>
                <c:pt idx="4">
                  <c:v>2200</c:v>
                </c:pt>
              </c:strCache>
            </c:strRef>
          </c:cat>
          <c:val>
            <c:numRef>
              <c:f>Sheet1!$B$2:$B$6</c:f>
              <c:numCache>
                <c:formatCode>General</c:formatCode>
                <c:ptCount val="5"/>
                <c:pt idx="0">
                  <c:v>5.0</c:v>
                </c:pt>
                <c:pt idx="1">
                  <c:v>5.8</c:v>
                </c:pt>
                <c:pt idx="2">
                  <c:v>6.4</c:v>
                </c:pt>
                <c:pt idx="3">
                  <c:v>6.9</c:v>
                </c:pt>
                <c:pt idx="4">
                  <c:v>7.2</c:v>
                </c:pt>
              </c:numCache>
            </c:numRef>
          </c:val>
          <c:smooth val="0"/>
        </c:ser>
        <c:dLbls>
          <c:txPr>
            <a:bodyPr/>
            <a:lstStyle/>
            <a:p>
              <a:pPr>
                <a:defRPr sz="1000">
                  <a:solidFill>
                    <a:srgbClr val="ECEFF2"/>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a:solidFill>
                  <a:srgbClr val="A9B4BE"/>
                </a:solidFill>
              </a:defRPr>
            </a:pPr>
          </a:p>
        </c:txPr>
        <c:crossAx val="2140495176"/>
        <c:crosses val="autoZero"/>
        <c:auto val="1"/>
        <c:lblAlgn val="ctr"/>
        <c:lblOffset val="100"/>
        <c:noMultiLvlLbl val="0"/>
      </c:catAx>
      <c:valAx>
        <c:axId val="2140495176"/>
        <c:scaling/>
        <c:delete val="0"/>
        <c:axPos val="l"/>
        <c:majorGridlines>
          <c:spPr>
            <a:ln>
              <a:solidFill>
                <a:srgbClr val="253039"/>
              </a:solidFill>
            </a:ln>
          </c:spPr>
        </c:majorGridlines>
        <c:majorTickMark val="out"/>
        <c:minorTickMark val="none"/>
        <c:tickLblPos val="nextTo"/>
        <c:txPr>
          <a:bodyPr/>
          <a:lstStyle/>
          <a:p>
            <a:pPr>
              <a:defRPr>
                <a:solidFill>
                  <a:srgbClr val="6F7C88"/>
                </a:solidFill>
              </a:defRPr>
            </a:pPr>
          </a:p>
        </c:txPr>
        <c:crossAx val="2118791784"/>
        <c:crosses val="autoZero"/>
      </c:valAx>
    </c:plotArea>
    <c:plotVisOnly val="1"/>
    <c:dispBlanksAs val="gap"/>
    <c:showDLblsOverMax val="0"/>
  </c:chart>
  <c:txPr>
    <a:bodyPr/>
    <a:lstStyle/>
    <a:p>
      <a:pPr>
        <a:defRPr sz="1000">
          <a:solidFill>
            <a:srgbClr val="A9B4BE"/>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Thrust-to-weight</c:v>
                </c:pt>
              </c:strCache>
            </c:strRef>
          </c:tx>
          <c:spPr>
            <a:ln w="31750">
              <a:solidFill>
                <a:srgbClr val="9085E9"/>
              </a:solidFill>
            </a:ln>
          </c:spPr>
          <c:cat>
            <c:strRef>
              <c:f>Sheet1!$A$2:$A$6</c:f>
              <c:strCache>
                <c:ptCount val="5"/>
                <c:pt idx="0">
                  <c:v>1300</c:v>
                </c:pt>
                <c:pt idx="1">
                  <c:v>1500</c:v>
                </c:pt>
                <c:pt idx="2">
                  <c:v>1800</c:v>
                </c:pt>
                <c:pt idx="3">
                  <c:v>2000</c:v>
                </c:pt>
                <c:pt idx="4">
                  <c:v>2200</c:v>
                </c:pt>
              </c:strCache>
            </c:strRef>
          </c:cat>
          <c:val>
            <c:numRef>
              <c:f>Sheet1!$B$2:$B$6</c:f>
              <c:numCache>
                <c:formatCode>General</c:formatCode>
                <c:ptCount val="5"/>
                <c:pt idx="0">
                  <c:v>7.0</c:v>
                </c:pt>
                <c:pt idx="1">
                  <c:v>6.6</c:v>
                </c:pt>
                <c:pt idx="2">
                  <c:v>6.1</c:v>
                </c:pt>
                <c:pt idx="3">
                  <c:v>5.7</c:v>
                </c:pt>
                <c:pt idx="4">
                  <c:v>5.4</c:v>
                </c:pt>
              </c:numCache>
            </c:numRef>
          </c:val>
          <c:smooth val="0"/>
        </c:ser>
        <c:dLbls>
          <c:txPr>
            <a:bodyPr/>
            <a:lstStyle/>
            <a:p>
              <a:pPr>
                <a:defRPr sz="1000">
                  <a:solidFill>
                    <a:srgbClr val="ECEFF2"/>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a:solidFill>
                  <a:srgbClr val="A9B4BE"/>
                </a:solidFill>
              </a:defRPr>
            </a:pPr>
          </a:p>
        </c:txPr>
        <c:crossAx val="2140495176"/>
        <c:crosses val="autoZero"/>
        <c:auto val="1"/>
        <c:lblAlgn val="ctr"/>
        <c:lblOffset val="100"/>
        <c:noMultiLvlLbl val="0"/>
      </c:catAx>
      <c:valAx>
        <c:axId val="2140495176"/>
        <c:scaling/>
        <c:delete val="0"/>
        <c:axPos val="l"/>
        <c:majorGridlines>
          <c:spPr>
            <a:ln>
              <a:solidFill>
                <a:srgbClr val="253039"/>
              </a:solidFill>
            </a:ln>
          </c:spPr>
        </c:majorGridlines>
        <c:majorTickMark val="out"/>
        <c:minorTickMark val="none"/>
        <c:tickLblPos val="nextTo"/>
        <c:txPr>
          <a:bodyPr/>
          <a:lstStyle/>
          <a:p>
            <a:pPr>
              <a:defRPr>
                <a:solidFill>
                  <a:srgbClr val="6F7C88"/>
                </a:solidFill>
              </a:defRPr>
            </a:pPr>
          </a:p>
        </c:txPr>
        <c:crossAx val="2118791784"/>
        <c:crosses val="autoZero"/>
      </c:valAx>
    </c:plotArea>
    <c:plotVisOnly val="1"/>
    <c:dispBlanksAs val="gap"/>
    <c:showDLblsOverMax val="0"/>
  </c:chart>
  <c:txPr>
    <a:bodyPr/>
    <a:lstStyle/>
    <a:p>
      <a:pPr>
        <a:defRPr sz="1000">
          <a:solidFill>
            <a:srgbClr val="A9B4BE"/>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Diminta stik</c:v>
                </c:pt>
              </c:strCache>
            </c:strRef>
          </c:tx>
          <c:spPr>
            <a:ln w="22225">
              <a:solidFill>
                <a:srgbClr val="6F7C88"/>
              </a:solidFill>
              <a:prstDash val="dash"/>
            </a:ln>
          </c:spPr>
          <c:marker>
            <c:symbol val="none"/>
          </c:marker>
          <c:cat>
            <c:strRef>
              <c:f>Sheet1!$A$2:$A$61</c:f>
              <c:strCache>
                <c:ptCount val="60"/>
                <c:pt idx="0">
                  <c:v>0.0</c:v>
                </c:pt>
                <c:pt idx="1">
                  <c:v/>
                </c:pt>
                <c:pt idx="2">
                  <c:v/>
                </c:pt>
                <c:pt idx="3">
                  <c:v/>
                </c:pt>
                <c:pt idx="4">
                  <c:v/>
                </c:pt>
                <c:pt idx="5">
                  <c:v/>
                </c:pt>
                <c:pt idx="6">
                  <c:v/>
                </c:pt>
                <c:pt idx="7">
                  <c:v/>
                </c:pt>
                <c:pt idx="8">
                  <c:v/>
                </c:pt>
                <c:pt idx="9">
                  <c:v/>
                </c:pt>
                <c:pt idx="10">
                  <c:v>0.04</c:v>
                </c:pt>
                <c:pt idx="11">
                  <c:v/>
                </c:pt>
                <c:pt idx="12">
                  <c:v/>
                </c:pt>
                <c:pt idx="13">
                  <c:v/>
                </c:pt>
                <c:pt idx="14">
                  <c:v/>
                </c:pt>
                <c:pt idx="15">
                  <c:v/>
                </c:pt>
                <c:pt idx="16">
                  <c:v/>
                </c:pt>
                <c:pt idx="17">
                  <c:v/>
                </c:pt>
                <c:pt idx="18">
                  <c:v/>
                </c:pt>
                <c:pt idx="19">
                  <c:v/>
                </c:pt>
                <c:pt idx="20">
                  <c:v>0.08</c:v>
                </c:pt>
                <c:pt idx="21">
                  <c:v/>
                </c:pt>
                <c:pt idx="22">
                  <c:v/>
                </c:pt>
                <c:pt idx="23">
                  <c:v/>
                </c:pt>
                <c:pt idx="24">
                  <c:v/>
                </c:pt>
                <c:pt idx="25">
                  <c:v/>
                </c:pt>
                <c:pt idx="26">
                  <c:v/>
                </c:pt>
                <c:pt idx="27">
                  <c:v/>
                </c:pt>
                <c:pt idx="28">
                  <c:v/>
                </c:pt>
                <c:pt idx="29">
                  <c:v/>
                </c:pt>
                <c:pt idx="30">
                  <c:v>0.12</c:v>
                </c:pt>
                <c:pt idx="31">
                  <c:v/>
                </c:pt>
                <c:pt idx="32">
                  <c:v/>
                </c:pt>
                <c:pt idx="33">
                  <c:v/>
                </c:pt>
                <c:pt idx="34">
                  <c:v/>
                </c:pt>
                <c:pt idx="35">
                  <c:v/>
                </c:pt>
                <c:pt idx="36">
                  <c:v/>
                </c:pt>
                <c:pt idx="37">
                  <c:v/>
                </c:pt>
                <c:pt idx="38">
                  <c:v/>
                </c:pt>
                <c:pt idx="39">
                  <c:v/>
                </c:pt>
                <c:pt idx="40">
                  <c:v>0.16</c:v>
                </c:pt>
                <c:pt idx="41">
                  <c:v/>
                </c:pt>
                <c:pt idx="42">
                  <c:v/>
                </c:pt>
                <c:pt idx="43">
                  <c:v/>
                </c:pt>
                <c:pt idx="44">
                  <c:v/>
                </c:pt>
                <c:pt idx="45">
                  <c:v/>
                </c:pt>
                <c:pt idx="46">
                  <c:v/>
                </c:pt>
                <c:pt idx="47">
                  <c:v/>
                </c:pt>
                <c:pt idx="48">
                  <c:v/>
                </c:pt>
                <c:pt idx="49">
                  <c:v/>
                </c:pt>
                <c:pt idx="50">
                  <c:v>0.2</c:v>
                </c:pt>
                <c:pt idx="51">
                  <c:v/>
                </c:pt>
                <c:pt idx="52">
                  <c:v/>
                </c:pt>
                <c:pt idx="53">
                  <c:v/>
                </c:pt>
                <c:pt idx="54">
                  <c:v/>
                </c:pt>
                <c:pt idx="55">
                  <c:v/>
                </c:pt>
                <c:pt idx="56">
                  <c:v/>
                </c:pt>
                <c:pt idx="57">
                  <c:v/>
                </c:pt>
                <c:pt idx="58">
                  <c:v/>
                </c:pt>
                <c:pt idx="59">
                  <c:v/>
                </c:pt>
              </c:strCache>
            </c:strRef>
          </c:cat>
          <c:val>
            <c:numRef>
              <c:f>Sheet1!$B$2:$B$61</c:f>
              <c:numCache>
                <c:formatCode>General</c:formatCode>
                <c:ptCount val="60"/>
                <c:pt idx="0">
                  <c:v>300.0</c:v>
                </c:pt>
                <c:pt idx="1">
                  <c:v>300.0</c:v>
                </c:pt>
                <c:pt idx="2">
                  <c:v>300.0</c:v>
                </c:pt>
                <c:pt idx="3">
                  <c:v>300.0</c:v>
                </c:pt>
                <c:pt idx="4">
                  <c:v>300.0</c:v>
                </c:pt>
                <c:pt idx="5">
                  <c:v>300.0</c:v>
                </c:pt>
                <c:pt idx="6">
                  <c:v>300.0</c:v>
                </c:pt>
                <c:pt idx="7">
                  <c:v>300.0</c:v>
                </c:pt>
                <c:pt idx="8">
                  <c:v>300.0</c:v>
                </c:pt>
                <c:pt idx="9">
                  <c:v>300.0</c:v>
                </c:pt>
                <c:pt idx="10">
                  <c:v>300.0</c:v>
                </c:pt>
                <c:pt idx="11">
                  <c:v>300.0</c:v>
                </c:pt>
                <c:pt idx="12">
                  <c:v>300.0</c:v>
                </c:pt>
                <c:pt idx="13">
                  <c:v>300.0</c:v>
                </c:pt>
                <c:pt idx="14">
                  <c:v>300.0</c:v>
                </c:pt>
                <c:pt idx="15">
                  <c:v>300.0</c:v>
                </c:pt>
                <c:pt idx="16">
                  <c:v>300.0</c:v>
                </c:pt>
                <c:pt idx="17">
                  <c:v>300.0</c:v>
                </c:pt>
                <c:pt idx="18">
                  <c:v>300.0</c:v>
                </c:pt>
                <c:pt idx="19">
                  <c:v>300.0</c:v>
                </c:pt>
                <c:pt idx="20">
                  <c:v>300.0</c:v>
                </c:pt>
                <c:pt idx="21">
                  <c:v>300.0</c:v>
                </c:pt>
                <c:pt idx="22">
                  <c:v>300.0</c:v>
                </c:pt>
                <c:pt idx="23">
                  <c:v>300.0</c:v>
                </c:pt>
                <c:pt idx="24">
                  <c:v>300.0</c:v>
                </c:pt>
                <c:pt idx="25">
                  <c:v>300.0</c:v>
                </c:pt>
                <c:pt idx="26">
                  <c:v>300.0</c:v>
                </c:pt>
                <c:pt idx="27">
                  <c:v>300.0</c:v>
                </c:pt>
                <c:pt idx="28">
                  <c:v>300.0</c:v>
                </c:pt>
                <c:pt idx="29">
                  <c:v>300.0</c:v>
                </c:pt>
                <c:pt idx="30">
                  <c:v>300.0</c:v>
                </c:pt>
                <c:pt idx="31">
                  <c:v>300.0</c:v>
                </c:pt>
                <c:pt idx="32">
                  <c:v>300.0</c:v>
                </c:pt>
                <c:pt idx="33">
                  <c:v>300.0</c:v>
                </c:pt>
                <c:pt idx="34">
                  <c:v>300.0</c:v>
                </c:pt>
                <c:pt idx="35">
                  <c:v>300.0</c:v>
                </c:pt>
                <c:pt idx="36">
                  <c:v>300.0</c:v>
                </c:pt>
                <c:pt idx="37">
                  <c:v>300.0</c:v>
                </c:pt>
                <c:pt idx="38">
                  <c:v>300.0</c:v>
                </c:pt>
                <c:pt idx="39">
                  <c:v>300.0</c:v>
                </c:pt>
                <c:pt idx="40">
                  <c:v>300.0</c:v>
                </c:pt>
                <c:pt idx="41">
                  <c:v>300.0</c:v>
                </c:pt>
                <c:pt idx="42">
                  <c:v>300.0</c:v>
                </c:pt>
                <c:pt idx="43">
                  <c:v>300.0</c:v>
                </c:pt>
                <c:pt idx="44">
                  <c:v>300.0</c:v>
                </c:pt>
                <c:pt idx="45">
                  <c:v>300.0</c:v>
                </c:pt>
                <c:pt idx="46">
                  <c:v>300.0</c:v>
                </c:pt>
                <c:pt idx="47">
                  <c:v>300.0</c:v>
                </c:pt>
                <c:pt idx="48">
                  <c:v>300.0</c:v>
                </c:pt>
                <c:pt idx="49">
                  <c:v>300.0</c:v>
                </c:pt>
                <c:pt idx="50">
                  <c:v>300.0</c:v>
                </c:pt>
                <c:pt idx="51">
                  <c:v>300.0</c:v>
                </c:pt>
                <c:pt idx="52">
                  <c:v>300.0</c:v>
                </c:pt>
                <c:pt idx="53">
                  <c:v>300.0</c:v>
                </c:pt>
                <c:pt idx="54">
                  <c:v>300.0</c:v>
                </c:pt>
                <c:pt idx="55">
                  <c:v>300.0</c:v>
                </c:pt>
                <c:pt idx="56">
                  <c:v>300.0</c:v>
                </c:pt>
                <c:pt idx="57">
                  <c:v>300.0</c:v>
                </c:pt>
                <c:pt idx="58">
                  <c:v>300.0</c:v>
                </c:pt>
                <c:pt idx="59">
                  <c:v>300.0</c:v>
                </c:pt>
              </c:numCache>
            </c:numRef>
          </c:val>
          <c:smooth/>
        </c:ser>
        <c:ser>
          <c:idx val="1"/>
          <c:order val="1"/>
          <c:tx>
            <c:strRef>
              <c:f>Sheet1!$C$1</c:f>
              <c:strCache>
                <c:ptCount val="1"/>
                <c:pt idx="0">
                  <c:v>P rendah — lembek</c:v>
                </c:pt>
              </c:strCache>
            </c:strRef>
          </c:tx>
          <c:spPr>
            <a:ln w="22225">
              <a:solidFill>
                <a:srgbClr val="3987E5"/>
              </a:solidFill>
            </a:ln>
          </c:spPr>
          <c:marker>
            <c:symbol val="none"/>
          </c:marker>
          <c:cat>
            <c:strRef>
              <c:f>Sheet1!$A$2:$A$61</c:f>
              <c:strCache>
                <c:ptCount val="60"/>
                <c:pt idx="0">
                  <c:v>0.0</c:v>
                </c:pt>
                <c:pt idx="1">
                  <c:v/>
                </c:pt>
                <c:pt idx="2">
                  <c:v/>
                </c:pt>
                <c:pt idx="3">
                  <c:v/>
                </c:pt>
                <c:pt idx="4">
                  <c:v/>
                </c:pt>
                <c:pt idx="5">
                  <c:v/>
                </c:pt>
                <c:pt idx="6">
                  <c:v/>
                </c:pt>
                <c:pt idx="7">
                  <c:v/>
                </c:pt>
                <c:pt idx="8">
                  <c:v/>
                </c:pt>
                <c:pt idx="9">
                  <c:v/>
                </c:pt>
                <c:pt idx="10">
                  <c:v>0.04</c:v>
                </c:pt>
                <c:pt idx="11">
                  <c:v/>
                </c:pt>
                <c:pt idx="12">
                  <c:v/>
                </c:pt>
                <c:pt idx="13">
                  <c:v/>
                </c:pt>
                <c:pt idx="14">
                  <c:v/>
                </c:pt>
                <c:pt idx="15">
                  <c:v/>
                </c:pt>
                <c:pt idx="16">
                  <c:v/>
                </c:pt>
                <c:pt idx="17">
                  <c:v/>
                </c:pt>
                <c:pt idx="18">
                  <c:v/>
                </c:pt>
                <c:pt idx="19">
                  <c:v/>
                </c:pt>
                <c:pt idx="20">
                  <c:v>0.08</c:v>
                </c:pt>
                <c:pt idx="21">
                  <c:v/>
                </c:pt>
                <c:pt idx="22">
                  <c:v/>
                </c:pt>
                <c:pt idx="23">
                  <c:v/>
                </c:pt>
                <c:pt idx="24">
                  <c:v/>
                </c:pt>
                <c:pt idx="25">
                  <c:v/>
                </c:pt>
                <c:pt idx="26">
                  <c:v/>
                </c:pt>
                <c:pt idx="27">
                  <c:v/>
                </c:pt>
                <c:pt idx="28">
                  <c:v/>
                </c:pt>
                <c:pt idx="29">
                  <c:v/>
                </c:pt>
                <c:pt idx="30">
                  <c:v>0.12</c:v>
                </c:pt>
                <c:pt idx="31">
                  <c:v/>
                </c:pt>
                <c:pt idx="32">
                  <c:v/>
                </c:pt>
                <c:pt idx="33">
                  <c:v/>
                </c:pt>
                <c:pt idx="34">
                  <c:v/>
                </c:pt>
                <c:pt idx="35">
                  <c:v/>
                </c:pt>
                <c:pt idx="36">
                  <c:v/>
                </c:pt>
                <c:pt idx="37">
                  <c:v/>
                </c:pt>
                <c:pt idx="38">
                  <c:v/>
                </c:pt>
                <c:pt idx="39">
                  <c:v/>
                </c:pt>
                <c:pt idx="40">
                  <c:v>0.16</c:v>
                </c:pt>
                <c:pt idx="41">
                  <c:v/>
                </c:pt>
                <c:pt idx="42">
                  <c:v/>
                </c:pt>
                <c:pt idx="43">
                  <c:v/>
                </c:pt>
                <c:pt idx="44">
                  <c:v/>
                </c:pt>
                <c:pt idx="45">
                  <c:v/>
                </c:pt>
                <c:pt idx="46">
                  <c:v/>
                </c:pt>
                <c:pt idx="47">
                  <c:v/>
                </c:pt>
                <c:pt idx="48">
                  <c:v/>
                </c:pt>
                <c:pt idx="49">
                  <c:v/>
                </c:pt>
                <c:pt idx="50">
                  <c:v>0.2</c:v>
                </c:pt>
                <c:pt idx="51">
                  <c:v/>
                </c:pt>
                <c:pt idx="52">
                  <c:v/>
                </c:pt>
                <c:pt idx="53">
                  <c:v/>
                </c:pt>
                <c:pt idx="54">
                  <c:v/>
                </c:pt>
                <c:pt idx="55">
                  <c:v/>
                </c:pt>
                <c:pt idx="56">
                  <c:v/>
                </c:pt>
                <c:pt idx="57">
                  <c:v/>
                </c:pt>
                <c:pt idx="58">
                  <c:v/>
                </c:pt>
                <c:pt idx="59">
                  <c:v/>
                </c:pt>
              </c:strCache>
            </c:strRef>
          </c:cat>
          <c:val>
            <c:numRef>
              <c:f>Sheet1!$C$2:$C$61</c:f>
              <c:numCache>
                <c:formatCode>General</c:formatCode>
                <c:ptCount val="60"/>
                <c:pt idx="0">
                  <c:v>0.4</c:v>
                </c:pt>
                <c:pt idx="1">
                  <c:v>1.3</c:v>
                </c:pt>
                <c:pt idx="2">
                  <c:v>2.4</c:v>
                </c:pt>
                <c:pt idx="3">
                  <c:v>3.9</c:v>
                </c:pt>
                <c:pt idx="4">
                  <c:v>5.6</c:v>
                </c:pt>
                <c:pt idx="5">
                  <c:v>7.6</c:v>
                </c:pt>
                <c:pt idx="6">
                  <c:v>9.7</c:v>
                </c:pt>
                <c:pt idx="7">
                  <c:v>12.1</c:v>
                </c:pt>
                <c:pt idx="8">
                  <c:v>14.6</c:v>
                </c:pt>
                <c:pt idx="9">
                  <c:v>17.2</c:v>
                </c:pt>
                <c:pt idx="10">
                  <c:v>20.0</c:v>
                </c:pt>
                <c:pt idx="11">
                  <c:v>22.8</c:v>
                </c:pt>
                <c:pt idx="12">
                  <c:v>25.8</c:v>
                </c:pt>
                <c:pt idx="13">
                  <c:v>28.8</c:v>
                </c:pt>
                <c:pt idx="14">
                  <c:v>31.9</c:v>
                </c:pt>
                <c:pt idx="15">
                  <c:v>35.1</c:v>
                </c:pt>
                <c:pt idx="16">
                  <c:v>38.3</c:v>
                </c:pt>
                <c:pt idx="17">
                  <c:v>41.6</c:v>
                </c:pt>
                <c:pt idx="18">
                  <c:v>44.9</c:v>
                </c:pt>
                <c:pt idx="19">
                  <c:v>48.3</c:v>
                </c:pt>
                <c:pt idx="20">
                  <c:v>51.7</c:v>
                </c:pt>
                <c:pt idx="21">
                  <c:v>55.1</c:v>
                </c:pt>
                <c:pt idx="22">
                  <c:v>58.5</c:v>
                </c:pt>
                <c:pt idx="23">
                  <c:v>62.0</c:v>
                </c:pt>
                <c:pt idx="24">
                  <c:v>65.5</c:v>
                </c:pt>
                <c:pt idx="25">
                  <c:v>68.9</c:v>
                </c:pt>
                <c:pt idx="26">
                  <c:v>72.5</c:v>
                </c:pt>
                <c:pt idx="27">
                  <c:v>76.0</c:v>
                </c:pt>
                <c:pt idx="28">
                  <c:v>79.5</c:v>
                </c:pt>
                <c:pt idx="29">
                  <c:v>83.0</c:v>
                </c:pt>
                <c:pt idx="30">
                  <c:v>86.5</c:v>
                </c:pt>
                <c:pt idx="31">
                  <c:v>90.1</c:v>
                </c:pt>
                <c:pt idx="32">
                  <c:v>93.6</c:v>
                </c:pt>
                <c:pt idx="33">
                  <c:v>97.1</c:v>
                </c:pt>
                <c:pt idx="34">
                  <c:v>100.6</c:v>
                </c:pt>
                <c:pt idx="35">
                  <c:v>104.2</c:v>
                </c:pt>
                <c:pt idx="36">
                  <c:v>107.7</c:v>
                </c:pt>
                <c:pt idx="37">
                  <c:v>111.2</c:v>
                </c:pt>
                <c:pt idx="38">
                  <c:v>114.7</c:v>
                </c:pt>
                <c:pt idx="39">
                  <c:v>118.2</c:v>
                </c:pt>
                <c:pt idx="40">
                  <c:v>121.7</c:v>
                </c:pt>
                <c:pt idx="41">
                  <c:v>125.2</c:v>
                </c:pt>
                <c:pt idx="42">
                  <c:v>128.7</c:v>
                </c:pt>
                <c:pt idx="43">
                  <c:v>132.1</c:v>
                </c:pt>
                <c:pt idx="44">
                  <c:v>135.6</c:v>
                </c:pt>
                <c:pt idx="45">
                  <c:v>139.0</c:v>
                </c:pt>
                <c:pt idx="46">
                  <c:v>142.4</c:v>
                </c:pt>
                <c:pt idx="47">
                  <c:v>145.8</c:v>
                </c:pt>
                <c:pt idx="48">
                  <c:v>149.2</c:v>
                </c:pt>
                <c:pt idx="49">
                  <c:v>152.6</c:v>
                </c:pt>
                <c:pt idx="50">
                  <c:v>156.0</c:v>
                </c:pt>
                <c:pt idx="51">
                  <c:v>159.3</c:v>
                </c:pt>
                <c:pt idx="52">
                  <c:v>162.7</c:v>
                </c:pt>
                <c:pt idx="53">
                  <c:v>166.0</c:v>
                </c:pt>
                <c:pt idx="54">
                  <c:v>169.3</c:v>
                </c:pt>
                <c:pt idx="55">
                  <c:v>172.6</c:v>
                </c:pt>
                <c:pt idx="56">
                  <c:v>175.9</c:v>
                </c:pt>
                <c:pt idx="57">
                  <c:v>179.1</c:v>
                </c:pt>
                <c:pt idx="58">
                  <c:v>182.3</c:v>
                </c:pt>
                <c:pt idx="59">
                  <c:v>185.6</c:v>
                </c:pt>
              </c:numCache>
            </c:numRef>
          </c:val>
          <c:smooth/>
        </c:ser>
        <c:ser>
          <c:idx val="2"/>
          <c:order val="2"/>
          <c:tx>
            <c:strRef>
              <c:f>Sheet1!$D$1</c:f>
              <c:strCache>
                <c:ptCount val="1"/>
                <c:pt idx="0">
                  <c:v>Tersetel</c:v>
                </c:pt>
              </c:strCache>
            </c:strRef>
          </c:tx>
          <c:spPr>
            <a:ln w="31750">
              <a:solidFill>
                <a:srgbClr val="E05C22"/>
              </a:solidFill>
            </a:ln>
          </c:spPr>
          <c:marker>
            <c:symbol val="none"/>
          </c:marker>
          <c:cat>
            <c:strRef>
              <c:f>Sheet1!$A$2:$A$61</c:f>
              <c:strCache>
                <c:ptCount val="60"/>
                <c:pt idx="0">
                  <c:v>0.0</c:v>
                </c:pt>
                <c:pt idx="1">
                  <c:v/>
                </c:pt>
                <c:pt idx="2">
                  <c:v/>
                </c:pt>
                <c:pt idx="3">
                  <c:v/>
                </c:pt>
                <c:pt idx="4">
                  <c:v/>
                </c:pt>
                <c:pt idx="5">
                  <c:v/>
                </c:pt>
                <c:pt idx="6">
                  <c:v/>
                </c:pt>
                <c:pt idx="7">
                  <c:v/>
                </c:pt>
                <c:pt idx="8">
                  <c:v/>
                </c:pt>
                <c:pt idx="9">
                  <c:v/>
                </c:pt>
                <c:pt idx="10">
                  <c:v>0.04</c:v>
                </c:pt>
                <c:pt idx="11">
                  <c:v/>
                </c:pt>
                <c:pt idx="12">
                  <c:v/>
                </c:pt>
                <c:pt idx="13">
                  <c:v/>
                </c:pt>
                <c:pt idx="14">
                  <c:v/>
                </c:pt>
                <c:pt idx="15">
                  <c:v/>
                </c:pt>
                <c:pt idx="16">
                  <c:v/>
                </c:pt>
                <c:pt idx="17">
                  <c:v/>
                </c:pt>
                <c:pt idx="18">
                  <c:v/>
                </c:pt>
                <c:pt idx="19">
                  <c:v/>
                </c:pt>
                <c:pt idx="20">
                  <c:v>0.08</c:v>
                </c:pt>
                <c:pt idx="21">
                  <c:v/>
                </c:pt>
                <c:pt idx="22">
                  <c:v/>
                </c:pt>
                <c:pt idx="23">
                  <c:v/>
                </c:pt>
                <c:pt idx="24">
                  <c:v/>
                </c:pt>
                <c:pt idx="25">
                  <c:v/>
                </c:pt>
                <c:pt idx="26">
                  <c:v/>
                </c:pt>
                <c:pt idx="27">
                  <c:v/>
                </c:pt>
                <c:pt idx="28">
                  <c:v/>
                </c:pt>
                <c:pt idx="29">
                  <c:v/>
                </c:pt>
                <c:pt idx="30">
                  <c:v>0.12</c:v>
                </c:pt>
                <c:pt idx="31">
                  <c:v/>
                </c:pt>
                <c:pt idx="32">
                  <c:v/>
                </c:pt>
                <c:pt idx="33">
                  <c:v/>
                </c:pt>
                <c:pt idx="34">
                  <c:v/>
                </c:pt>
                <c:pt idx="35">
                  <c:v/>
                </c:pt>
                <c:pt idx="36">
                  <c:v/>
                </c:pt>
                <c:pt idx="37">
                  <c:v/>
                </c:pt>
                <c:pt idx="38">
                  <c:v/>
                </c:pt>
                <c:pt idx="39">
                  <c:v/>
                </c:pt>
                <c:pt idx="40">
                  <c:v>0.16</c:v>
                </c:pt>
                <c:pt idx="41">
                  <c:v/>
                </c:pt>
                <c:pt idx="42">
                  <c:v/>
                </c:pt>
                <c:pt idx="43">
                  <c:v/>
                </c:pt>
                <c:pt idx="44">
                  <c:v/>
                </c:pt>
                <c:pt idx="45">
                  <c:v/>
                </c:pt>
                <c:pt idx="46">
                  <c:v/>
                </c:pt>
                <c:pt idx="47">
                  <c:v/>
                </c:pt>
                <c:pt idx="48">
                  <c:v/>
                </c:pt>
                <c:pt idx="49">
                  <c:v/>
                </c:pt>
                <c:pt idx="50">
                  <c:v>0.2</c:v>
                </c:pt>
                <c:pt idx="51">
                  <c:v/>
                </c:pt>
                <c:pt idx="52">
                  <c:v/>
                </c:pt>
                <c:pt idx="53">
                  <c:v/>
                </c:pt>
                <c:pt idx="54">
                  <c:v/>
                </c:pt>
                <c:pt idx="55">
                  <c:v/>
                </c:pt>
                <c:pt idx="56">
                  <c:v/>
                </c:pt>
                <c:pt idx="57">
                  <c:v/>
                </c:pt>
                <c:pt idx="58">
                  <c:v/>
                </c:pt>
                <c:pt idx="59">
                  <c:v/>
                </c:pt>
              </c:strCache>
            </c:strRef>
          </c:cat>
          <c:val>
            <c:numRef>
              <c:f>Sheet1!$D$2:$D$61</c:f>
              <c:numCache>
                <c:formatCode>General</c:formatCode>
                <c:ptCount val="60"/>
                <c:pt idx="0">
                  <c:v>1.5</c:v>
                </c:pt>
                <c:pt idx="1">
                  <c:v>4.2</c:v>
                </c:pt>
                <c:pt idx="2">
                  <c:v>8.1</c:v>
                </c:pt>
                <c:pt idx="3">
                  <c:v>12.9</c:v>
                </c:pt>
                <c:pt idx="4">
                  <c:v>18.5</c:v>
                </c:pt>
                <c:pt idx="5">
                  <c:v>24.8</c:v>
                </c:pt>
                <c:pt idx="6">
                  <c:v>31.7</c:v>
                </c:pt>
                <c:pt idx="7">
                  <c:v>39.1</c:v>
                </c:pt>
                <c:pt idx="8">
                  <c:v>46.9</c:v>
                </c:pt>
                <c:pt idx="9">
                  <c:v>55.0</c:v>
                </c:pt>
                <c:pt idx="10">
                  <c:v>63.4</c:v>
                </c:pt>
                <c:pt idx="11">
                  <c:v>72.0</c:v>
                </c:pt>
                <c:pt idx="12">
                  <c:v>80.7</c:v>
                </c:pt>
                <c:pt idx="13">
                  <c:v>89.5</c:v>
                </c:pt>
                <c:pt idx="14">
                  <c:v>98.3</c:v>
                </c:pt>
                <c:pt idx="15">
                  <c:v>107.2</c:v>
                </c:pt>
                <c:pt idx="16">
                  <c:v>116.0</c:v>
                </c:pt>
                <c:pt idx="17">
                  <c:v>124.8</c:v>
                </c:pt>
                <c:pt idx="18">
                  <c:v>133.5</c:v>
                </c:pt>
                <c:pt idx="19">
                  <c:v>142.1</c:v>
                </c:pt>
                <c:pt idx="20">
                  <c:v>150.5</c:v>
                </c:pt>
                <c:pt idx="21">
                  <c:v>158.9</c:v>
                </c:pt>
                <c:pt idx="22">
                  <c:v>167.1</c:v>
                </c:pt>
                <c:pt idx="23">
                  <c:v>175.1</c:v>
                </c:pt>
                <c:pt idx="24">
                  <c:v>183.0</c:v>
                </c:pt>
                <c:pt idx="25">
                  <c:v>190.6</c:v>
                </c:pt>
                <c:pt idx="26">
                  <c:v>198.1</c:v>
                </c:pt>
                <c:pt idx="27">
                  <c:v>205.4</c:v>
                </c:pt>
                <c:pt idx="28">
                  <c:v>212.5</c:v>
                </c:pt>
                <c:pt idx="29">
                  <c:v>219.4</c:v>
                </c:pt>
                <c:pt idx="30">
                  <c:v>226.1</c:v>
                </c:pt>
                <c:pt idx="31">
                  <c:v>232.6</c:v>
                </c:pt>
                <c:pt idx="32">
                  <c:v>238.9</c:v>
                </c:pt>
                <c:pt idx="33">
                  <c:v>245.0</c:v>
                </c:pt>
                <c:pt idx="34">
                  <c:v>250.9</c:v>
                </c:pt>
                <c:pt idx="35">
                  <c:v>256.6</c:v>
                </c:pt>
                <c:pt idx="36">
                  <c:v>262.1</c:v>
                </c:pt>
                <c:pt idx="37">
                  <c:v>267.4</c:v>
                </c:pt>
                <c:pt idx="38">
                  <c:v>272.5</c:v>
                </c:pt>
                <c:pt idx="39">
                  <c:v>277.4</c:v>
                </c:pt>
                <c:pt idx="40">
                  <c:v>282.2</c:v>
                </c:pt>
                <c:pt idx="41">
                  <c:v>286.7</c:v>
                </c:pt>
                <c:pt idx="42">
                  <c:v>291.1</c:v>
                </c:pt>
                <c:pt idx="43">
                  <c:v>295.2</c:v>
                </c:pt>
                <c:pt idx="44">
                  <c:v>299.2</c:v>
                </c:pt>
                <c:pt idx="45">
                  <c:v>303.1</c:v>
                </c:pt>
                <c:pt idx="46">
                  <c:v>306.7</c:v>
                </c:pt>
                <c:pt idx="47">
                  <c:v>310.2</c:v>
                </c:pt>
                <c:pt idx="48">
                  <c:v>313.6</c:v>
                </c:pt>
                <c:pt idx="49">
                  <c:v>316.7</c:v>
                </c:pt>
                <c:pt idx="50">
                  <c:v>319.8</c:v>
                </c:pt>
                <c:pt idx="51">
                  <c:v>322.6</c:v>
                </c:pt>
                <c:pt idx="52">
                  <c:v>325.4</c:v>
                </c:pt>
                <c:pt idx="53">
                  <c:v>328.0</c:v>
                </c:pt>
                <c:pt idx="54">
                  <c:v>330.4</c:v>
                </c:pt>
                <c:pt idx="55">
                  <c:v>332.8</c:v>
                </c:pt>
                <c:pt idx="56">
                  <c:v>335.0</c:v>
                </c:pt>
                <c:pt idx="57">
                  <c:v>337.0</c:v>
                </c:pt>
                <c:pt idx="58">
                  <c:v>339.0</c:v>
                </c:pt>
                <c:pt idx="59">
                  <c:v>340.8</c:v>
                </c:pt>
              </c:numCache>
            </c:numRef>
          </c:val>
          <c:smooth/>
        </c:ser>
        <c:ser>
          <c:idx val="3"/>
          <c:order val="3"/>
          <c:tx>
            <c:strRef>
              <c:f>Sheet1!$E$1</c:f>
              <c:strCache>
                <c:ptCount val="1"/>
                <c:pt idx="0">
                  <c:v>P tinggi — osilasi</c:v>
                </c:pt>
              </c:strCache>
            </c:strRef>
          </c:tx>
          <c:spPr>
            <a:ln w="22225">
              <a:solidFill>
                <a:srgbClr val="9085E9"/>
              </a:solidFill>
            </a:ln>
          </c:spPr>
          <c:marker>
            <c:symbol val="none"/>
          </c:marker>
          <c:cat>
            <c:strRef>
              <c:f>Sheet1!$A$2:$A$61</c:f>
              <c:strCache>
                <c:ptCount val="60"/>
                <c:pt idx="0">
                  <c:v>0.0</c:v>
                </c:pt>
                <c:pt idx="1">
                  <c:v/>
                </c:pt>
                <c:pt idx="2">
                  <c:v/>
                </c:pt>
                <c:pt idx="3">
                  <c:v/>
                </c:pt>
                <c:pt idx="4">
                  <c:v/>
                </c:pt>
                <c:pt idx="5">
                  <c:v/>
                </c:pt>
                <c:pt idx="6">
                  <c:v/>
                </c:pt>
                <c:pt idx="7">
                  <c:v/>
                </c:pt>
                <c:pt idx="8">
                  <c:v/>
                </c:pt>
                <c:pt idx="9">
                  <c:v/>
                </c:pt>
                <c:pt idx="10">
                  <c:v>0.04</c:v>
                </c:pt>
                <c:pt idx="11">
                  <c:v/>
                </c:pt>
                <c:pt idx="12">
                  <c:v/>
                </c:pt>
                <c:pt idx="13">
                  <c:v/>
                </c:pt>
                <c:pt idx="14">
                  <c:v/>
                </c:pt>
                <c:pt idx="15">
                  <c:v/>
                </c:pt>
                <c:pt idx="16">
                  <c:v/>
                </c:pt>
                <c:pt idx="17">
                  <c:v/>
                </c:pt>
                <c:pt idx="18">
                  <c:v/>
                </c:pt>
                <c:pt idx="19">
                  <c:v/>
                </c:pt>
                <c:pt idx="20">
                  <c:v>0.08</c:v>
                </c:pt>
                <c:pt idx="21">
                  <c:v/>
                </c:pt>
                <c:pt idx="22">
                  <c:v/>
                </c:pt>
                <c:pt idx="23">
                  <c:v/>
                </c:pt>
                <c:pt idx="24">
                  <c:v/>
                </c:pt>
                <c:pt idx="25">
                  <c:v/>
                </c:pt>
                <c:pt idx="26">
                  <c:v/>
                </c:pt>
                <c:pt idx="27">
                  <c:v/>
                </c:pt>
                <c:pt idx="28">
                  <c:v/>
                </c:pt>
                <c:pt idx="29">
                  <c:v/>
                </c:pt>
                <c:pt idx="30">
                  <c:v>0.12</c:v>
                </c:pt>
                <c:pt idx="31">
                  <c:v/>
                </c:pt>
                <c:pt idx="32">
                  <c:v/>
                </c:pt>
                <c:pt idx="33">
                  <c:v/>
                </c:pt>
                <c:pt idx="34">
                  <c:v/>
                </c:pt>
                <c:pt idx="35">
                  <c:v/>
                </c:pt>
                <c:pt idx="36">
                  <c:v/>
                </c:pt>
                <c:pt idx="37">
                  <c:v/>
                </c:pt>
                <c:pt idx="38">
                  <c:v/>
                </c:pt>
                <c:pt idx="39">
                  <c:v/>
                </c:pt>
                <c:pt idx="40">
                  <c:v>0.16</c:v>
                </c:pt>
                <c:pt idx="41">
                  <c:v/>
                </c:pt>
                <c:pt idx="42">
                  <c:v/>
                </c:pt>
                <c:pt idx="43">
                  <c:v/>
                </c:pt>
                <c:pt idx="44">
                  <c:v/>
                </c:pt>
                <c:pt idx="45">
                  <c:v/>
                </c:pt>
                <c:pt idx="46">
                  <c:v/>
                </c:pt>
                <c:pt idx="47">
                  <c:v/>
                </c:pt>
                <c:pt idx="48">
                  <c:v/>
                </c:pt>
                <c:pt idx="49">
                  <c:v/>
                </c:pt>
                <c:pt idx="50">
                  <c:v>0.2</c:v>
                </c:pt>
                <c:pt idx="51">
                  <c:v/>
                </c:pt>
                <c:pt idx="52">
                  <c:v/>
                </c:pt>
                <c:pt idx="53">
                  <c:v/>
                </c:pt>
                <c:pt idx="54">
                  <c:v/>
                </c:pt>
                <c:pt idx="55">
                  <c:v/>
                </c:pt>
                <c:pt idx="56">
                  <c:v/>
                </c:pt>
                <c:pt idx="57">
                  <c:v/>
                </c:pt>
                <c:pt idx="58">
                  <c:v/>
                </c:pt>
                <c:pt idx="59">
                  <c:v/>
                </c:pt>
              </c:strCache>
            </c:strRef>
          </c:cat>
          <c:val>
            <c:numRef>
              <c:f>Sheet1!$E$2:$E$61</c:f>
              <c:numCache>
                <c:formatCode>General</c:formatCode>
                <c:ptCount val="60"/>
                <c:pt idx="0">
                  <c:v>1.6</c:v>
                </c:pt>
                <c:pt idx="1">
                  <c:v>4.6</c:v>
                </c:pt>
                <c:pt idx="2">
                  <c:v>8.8</c:v>
                </c:pt>
                <c:pt idx="3">
                  <c:v>14.0</c:v>
                </c:pt>
                <c:pt idx="4">
                  <c:v>20.0</c:v>
                </c:pt>
                <c:pt idx="5">
                  <c:v>26.9</c:v>
                </c:pt>
                <c:pt idx="6">
                  <c:v>34.4</c:v>
                </c:pt>
                <c:pt idx="7">
                  <c:v>42.5</c:v>
                </c:pt>
                <c:pt idx="8">
                  <c:v>51.0</c:v>
                </c:pt>
                <c:pt idx="9">
                  <c:v>60.0</c:v>
                </c:pt>
                <c:pt idx="10">
                  <c:v>69.3</c:v>
                </c:pt>
                <c:pt idx="11">
                  <c:v>78.9</c:v>
                </c:pt>
                <c:pt idx="12">
                  <c:v>88.8</c:v>
                </c:pt>
                <c:pt idx="13">
                  <c:v>98.9</c:v>
                </c:pt>
                <c:pt idx="14">
                  <c:v>109.2</c:v>
                </c:pt>
                <c:pt idx="15">
                  <c:v>119.6</c:v>
                </c:pt>
                <c:pt idx="16">
                  <c:v>130.2</c:v>
                </c:pt>
                <c:pt idx="17">
                  <c:v>140.9</c:v>
                </c:pt>
                <c:pt idx="18">
                  <c:v>151.6</c:v>
                </c:pt>
                <c:pt idx="19">
                  <c:v>162.5</c:v>
                </c:pt>
                <c:pt idx="20">
                  <c:v>173.3</c:v>
                </c:pt>
                <c:pt idx="21">
                  <c:v>184.3</c:v>
                </c:pt>
                <c:pt idx="22">
                  <c:v>195.2</c:v>
                </c:pt>
                <c:pt idx="23">
                  <c:v>206.1</c:v>
                </c:pt>
                <c:pt idx="24">
                  <c:v>216.8</c:v>
                </c:pt>
                <c:pt idx="25">
                  <c:v>227.2</c:v>
                </c:pt>
                <c:pt idx="26">
                  <c:v>237.3</c:v>
                </c:pt>
                <c:pt idx="27">
                  <c:v>246.9</c:v>
                </c:pt>
                <c:pt idx="28">
                  <c:v>256.2</c:v>
                </c:pt>
                <c:pt idx="29">
                  <c:v>264.9</c:v>
                </c:pt>
                <c:pt idx="30">
                  <c:v>273.2</c:v>
                </c:pt>
                <c:pt idx="31">
                  <c:v>280.9</c:v>
                </c:pt>
                <c:pt idx="32">
                  <c:v>288.1</c:v>
                </c:pt>
                <c:pt idx="33">
                  <c:v>294.7</c:v>
                </c:pt>
                <c:pt idx="34">
                  <c:v>300.8</c:v>
                </c:pt>
                <c:pt idx="35">
                  <c:v>306.4</c:v>
                </c:pt>
                <c:pt idx="36">
                  <c:v>311.5</c:v>
                </c:pt>
                <c:pt idx="37">
                  <c:v>316.0</c:v>
                </c:pt>
                <c:pt idx="38">
                  <c:v>320.1</c:v>
                </c:pt>
                <c:pt idx="39">
                  <c:v>323.7</c:v>
                </c:pt>
                <c:pt idx="40">
                  <c:v>326.8</c:v>
                </c:pt>
                <c:pt idx="41">
                  <c:v>329.6</c:v>
                </c:pt>
                <c:pt idx="42">
                  <c:v>331.9</c:v>
                </c:pt>
                <c:pt idx="43">
                  <c:v>333.9</c:v>
                </c:pt>
                <c:pt idx="44">
                  <c:v>335.6</c:v>
                </c:pt>
                <c:pt idx="45">
                  <c:v>336.9</c:v>
                </c:pt>
                <c:pt idx="46">
                  <c:v>337.9</c:v>
                </c:pt>
                <c:pt idx="47">
                  <c:v>338.7</c:v>
                </c:pt>
                <c:pt idx="48">
                  <c:v>339.3</c:v>
                </c:pt>
                <c:pt idx="49">
                  <c:v>339.6</c:v>
                </c:pt>
                <c:pt idx="50">
                  <c:v>339.7</c:v>
                </c:pt>
                <c:pt idx="51">
                  <c:v>339.7</c:v>
                </c:pt>
                <c:pt idx="52">
                  <c:v>339.5</c:v>
                </c:pt>
                <c:pt idx="53">
                  <c:v>339.1</c:v>
                </c:pt>
                <c:pt idx="54">
                  <c:v>338.7</c:v>
                </c:pt>
                <c:pt idx="55">
                  <c:v>338.2</c:v>
                </c:pt>
                <c:pt idx="56">
                  <c:v>337.6</c:v>
                </c:pt>
                <c:pt idx="57">
                  <c:v>336.9</c:v>
                </c:pt>
                <c:pt idx="58">
                  <c:v>336.2</c:v>
                </c:pt>
                <c:pt idx="59">
                  <c:v>335.4</c:v>
                </c:pt>
              </c:numCache>
            </c:numRef>
          </c:val>
          <c:smooth/>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a:solidFill>
                  <a:srgbClr val="6F7C88"/>
                </a:solidFill>
              </a:defRPr>
            </a:pPr>
          </a:p>
        </c:txPr>
        <c:crossAx val="2140495176"/>
        <c:crosses val="autoZero"/>
        <c:auto val="1"/>
        <c:lblAlgn val="ctr"/>
        <c:lblOffset val="100"/>
        <c:noMultiLvlLbl val="0"/>
      </c:catAx>
      <c:valAx>
        <c:axId val="2140495176"/>
        <c:scaling/>
        <c:delete val="0"/>
        <c:axPos val="l"/>
        <c:majorGridlines>
          <c:spPr>
            <a:ln>
              <a:solidFill>
                <a:srgbClr val="253039"/>
              </a:solidFill>
            </a:ln>
          </c:spPr>
        </c:majorGridlines>
        <c:majorTickMark val="out"/>
        <c:minorTickMark val="none"/>
        <c:tickLblPos val="nextTo"/>
        <c:txPr>
          <a:bodyPr/>
          <a:lstStyle/>
          <a:p>
            <a:pPr>
              <a:defRPr>
                <a:solidFill>
                  <a:srgbClr val="6F7C88"/>
                </a:solidFill>
              </a:defRPr>
            </a:pPr>
          </a:p>
        </c:txPr>
        <c:crossAx val="2118791784"/>
        <c:crosses val="autoZero"/>
      </c:valAx>
    </c:plotArea>
    <c:legend>
      <c:legendPos val="b"/>
      <c:layout/>
      <c:overlay val="0"/>
      <c:txPr>
        <a:bodyPr/>
        <a:lstStyle/>
        <a:p>
          <a:pPr>
            <a:defRPr sz="1000">
              <a:solidFill>
                <a:srgbClr val="A9B4BE"/>
              </a:solidFill>
            </a:defRPr>
          </a:pPr>
        </a:p>
      </c:txPr>
    </c:legend>
    <c:plotVisOnly val="1"/>
    <c:dispBlanksAs val="gap"/>
    <c:showDLblsOverMax val="0"/>
  </c:chart>
  <c:txPr>
    <a:bodyPr/>
    <a:lstStyle/>
    <a:p>
      <a:pPr>
        <a:defRPr sz="1000">
          <a:solidFill>
            <a:srgbClr val="A9B4BE"/>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Drone</c:v>
                </c:pt>
              </c:strCache>
            </c:strRef>
          </c:tx>
          <c:spPr>
            <a:solidFill>
              <a:srgbClr val="E05C22"/>
            </a:solidFill>
            <a:ln>
              <a:noFill/>
            </a:ln>
          </c:spPr>
          <c:cat>
            <c:strRef>
              <c:f>Sheet1!$A$2:$A$4</c:f>
              <c:strCache>
                <c:ptCount val="3"/>
                <c:pt idx="0">
                  <c:v>Hemat</c:v>
                </c:pt>
                <c:pt idx="1">
                  <c:v>Standar ← usulan</c:v>
                </c:pt>
                <c:pt idx="2">
                  <c:v>Premium</c:v>
                </c:pt>
              </c:strCache>
            </c:strRef>
          </c:cat>
          <c:val>
            <c:numRef>
              <c:f>Sheet1!$B$2:$B$4</c:f>
              <c:numCache>
                <c:formatCode>General</c:formatCode>
                <c:ptCount val="3"/>
                <c:pt idx="0">
                  <c:v>3.9</c:v>
                </c:pt>
                <c:pt idx="1">
                  <c:v>5.3</c:v>
                </c:pt>
                <c:pt idx="2">
                  <c:v>11.0</c:v>
                </c:pt>
              </c:numCache>
            </c:numRef>
          </c:val>
        </c:ser>
        <c:ser>
          <c:idx val="1"/>
          <c:order val="1"/>
          <c:tx>
            <c:strRef>
              <c:f>Sheet1!$C$1</c:f>
              <c:strCache>
                <c:ptCount val="1"/>
                <c:pt idx="0">
                  <c:v>Perlengkapan</c:v>
                </c:pt>
              </c:strCache>
            </c:strRef>
          </c:tx>
          <c:spPr>
            <a:solidFill>
              <a:srgbClr val="C98500"/>
            </a:solidFill>
            <a:ln>
              <a:noFill/>
            </a:ln>
          </c:spPr>
          <c:cat>
            <c:strRef>
              <c:f>Sheet1!$A$2:$A$4</c:f>
              <c:strCache>
                <c:ptCount val="3"/>
                <c:pt idx="0">
                  <c:v>Hemat</c:v>
                </c:pt>
                <c:pt idx="1">
                  <c:v>Standar ← usulan</c:v>
                </c:pt>
                <c:pt idx="2">
                  <c:v>Premium</c:v>
                </c:pt>
              </c:strCache>
            </c:strRef>
          </c:cat>
          <c:val>
            <c:numRef>
              <c:f>Sheet1!$C$2:$C$4</c:f>
              <c:numCache>
                <c:formatCode>General</c:formatCode>
                <c:ptCount val="3"/>
                <c:pt idx="0">
                  <c:v>4.5</c:v>
                </c:pt>
                <c:pt idx="1">
                  <c:v>7.0</c:v>
                </c:pt>
                <c:pt idx="2">
                  <c:v>9.0</c:v>
                </c:pt>
              </c:numCache>
            </c:numRef>
          </c:val>
        </c:ser>
        <c:dLbls>
          <c:txPr>
            <a:bodyPr/>
            <a:lstStyle/>
            <a:p>
              <a:pPr>
                <a:defRPr sz="1100" b="1">
                  <a:solidFill>
                    <a:srgbClr val="ECEFF2"/>
                  </a:solidFill>
                </a:defRPr>
              </a:pPr>
            </a:p>
          </c:txPr>
          <c:showLegendKey val="0"/>
          <c:showVal val="1"/>
          <c:showCatName val="0"/>
          <c:showSerName val="0"/>
          <c:showPercent val="0"/>
          <c:showBubbleSize val="0"/>
          <c:showLeaderLines val="1"/>
        </c:dLbls>
        <c:gapWidth val="90"/>
        <c:overlap val="100"/>
        <c:axId val="-2068027336"/>
        <c:axId val="-2113994440"/>
      </c:barChart>
      <c:catAx>
        <c:axId val="-2068027336"/>
        <c:scaling>
          <c:orientation val="minMax"/>
        </c:scaling>
        <c:delete val="0"/>
        <c:axPos val="b"/>
        <c:majorTickMark val="out"/>
        <c:minorTickMark val="none"/>
        <c:tickLblPos val="nextTo"/>
        <c:spPr>
          <a:ln>
            <a:solidFill>
              <a:srgbClr val="253039"/>
            </a:solidFill>
          </a:ln>
        </c:spPr>
        <c:txPr>
          <a:bodyPr/>
          <a:lstStyle/>
          <a:p>
            <a:pPr>
              <a:defRPr sz="1000">
                <a:solidFill>
                  <a:srgbClr val="A9B4BE"/>
                </a:solidFill>
              </a:defRPr>
            </a:pPr>
          </a:p>
        </c:txPr>
        <c:crossAx val="-2113994440"/>
        <c:crosses val="autoZero"/>
        <c:auto val="1"/>
        <c:lblAlgn val="ctr"/>
        <c:lblOffset val="100"/>
        <c:noMultiLvlLbl val="0"/>
      </c:catAx>
      <c:valAx>
        <c:axId val="-2113994440"/>
        <c:scaling/>
        <c:delete val="0"/>
        <c:axPos val="l"/>
        <c:majorGridlines>
          <c:spPr>
            <a:ln>
              <a:solidFill>
                <a:srgbClr val="253039"/>
              </a:solidFill>
            </a:ln>
          </c:spPr>
        </c:majorGridlines>
        <c:numFmt formatCode="General" sourceLinked="0"/>
        <c:majorTickMark val="out"/>
        <c:minorTickMark val="none"/>
        <c:tickLblPos val="nextTo"/>
        <c:spPr>
          <a:ln>
            <a:noFill/>
          </a:ln>
        </c:spPr>
        <c:txPr>
          <a:bodyPr/>
          <a:lstStyle/>
          <a:p>
            <a:pPr>
              <a:defRPr sz="900">
                <a:solidFill>
                  <a:srgbClr val="6F7C88"/>
                </a:solidFill>
              </a:defRPr>
            </a:pPr>
          </a:p>
        </c:txPr>
        <c:crossAx val="-2068027336"/>
        <c:crosses val="autoZero"/>
      </c:valAx>
    </c:plotArea>
    <c:legend>
      <c:legendPos val="b"/>
      <c:overlay val="0"/>
      <c:txPr>
        <a:bodyPr/>
        <a:lstStyle/>
        <a:p>
          <a:pPr>
            <a:defRPr sz="1000">
              <a:solidFill>
                <a:srgbClr val="A9B4BE"/>
              </a:solidFill>
            </a:defRPr>
          </a:pPr>
        </a:p>
      </c:txPr>
    </c:legend>
    <c:dispBlanksAs val="gap"/>
  </c:chart>
  <c:txPr>
    <a:bodyPr/>
    <a:lstStyle/>
    <a:p>
      <a:pPr>
        <a:defRPr sz="1000">
          <a:solidFill>
            <a:srgbClr val="A9B4BE"/>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SAMPUL PEMBUKA (animasi marketing). Latar bertema pemetaan drone (kontur, jalur survei, grid), logo otak digital, judul besar 'Smart Drone AI Modern'. Elemen muncul beranimasi fade-in berurutan saat slide tampil — bukaan yang memukau untuk menarik perhatian investor. Setelah kesan pertama, ingat pesan jujur di slide-slide berikutnya: arsitektur AI ini TERBUKTI (bukan langka), dan nilainya ada pada penerapan, bukan kebaruan.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visual pembuka. Ini render desain buatan pengguna sendiri untuk paket 5 inci — bukan foto produk orang lain, bukan tiruan. Sampaikan bahwa dimensi &amp; tata letaknya mengikuti rancangan kita. Catatan jujur: gambar menampilkan 4S &amp; sensor ultrasonik sebagai konsep; spesifikasi teknis final ada di slide berikutnya (6S).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anatomi 5 inci — render terurai buatan pengguna. Pakai ini untuk menjelaskan tata letak: dari bawah ke atas, stack di tengah, baterai, kamera di depan. Sama seperti render 3D kita, hanya versi foto-realistis buatan pengguna.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 kedua yang lebih murah: QUADCRAFT F1, cinewhoop ducted. Baling-baling terlindung cincin (aman indoor &amp; dekat orang). Kamera menunduk untuk dokumentasi, Raspberry Pi Zero untuk merekam. Ini alternatif ~Rp 3,5-4 jt bila anggaran jadi pertimbangan utama. Bukan pemetaan presisi — dokumentasi &amp; inspeksi visual sederhana.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anatomi terurai QUADCRAFT F1 buatan pengguna. Empat panel menjelaskan tata letak, detail stack kontrol, dan aliran daya/data. Pakai untuk memandu penjelasan komponen di slide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tiap komponen beserta fungsi MODERN-nya. Tekankan teknologi terkini: DShot600 (digital ber-checksum, bukan PWM analog lama), gyro 8 kHz, RPM filter, edge-AI pada Raspberry Pi. Ini yang membedakan drone 2026 dari drone lama. Setiap kartu = satu komponen + apa fungsi modernnya.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KEUNGGULAN UTAMA — ini pembeda drone ini dari drone biasa. Konsep DUA OTAK: (1) Flight Controller = otak penerbangan, real-time, menjaga drone tetap terbang 8.000×/detik; (2) Raspberry Pi = otak kecerdasan, menjalankan AI/computer vision untuk melihat, mengenali, dan merekam. Kenapa harus dua? Karena satu otak tak bisa keduanya: kendali real-time butuh fokus mutlak &amp; waktu pasti; AI butuh daya komputasi besar &amp; Linux yang tidak real-time. Memisah keduanya = drone yang STABIL sekaligus CERDAS. Inilah arsitektur 'companion computer' yang dipakai drone profesional modern. Jujur: Pi Zero 2 W kelas entry — AI-nya ringan (deteksi objek dasar), tapi nyata &amp; bisa dikembangkan.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posisi &amp; nilai — framing JUJUR. JANGAN klaim 'langka/pertama': arsitektur companion computer (FC + Raspberry Pi) sudah umum &amp; matang, dan investor teknis akan langsung tahu — klaim palsu menjatuhkan kredibilitas. Jual sebaliknya: arsitektur TERBUKTI yang DITERAPKAN untuk kebutuhan nyata, dibangun in-house (bukan kotak hitam), terjangkau, dan terbuka tanpa vendor lock-in. Diferensiasi datang dari PENERAPAN &amp; EKSEKUSI, bukan kebaruan. Ajak tim memilih SATU masalah utama (inspeksi / dokumentasi / monitoring) sebagai fokus — itu yang mempertajam pitch jauh melebihi kata 'AI'.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Paruh pertama menjawab 'apakah rancangannya benar secara teknis'. Paruh kedua menjawab 'apakah masuk akal secara biaya dan waktu'. Minta peserta menahan pertanyaan biaya sampai Bagian 4 agar diskusi teknis tidak terpotong. Tiga keputusan harus keluar dari rapat ini; slide 24 akan mengulanginya.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yang harus diingat kalau semua slide lain terlupakan. Empat angka: rasio dorong-ke-bobot 7:1 (drone sanggup mengangkat tujuh kali beratnya sendiri — ini yang membuat freestyle mungkin), massa 685 gram, biaya drone 5,3 juta, total dengan perlengkapan 12,3 juta. Poin yang sering mengagetkan: perlengkapan lebih mahal dari drone-nya, tapi itu biaya sekali seumur hidup. Kalau ditanya kenapa 6S bukan 4S: pada daya sama, 6S menarik arus dua pertiga — kabel lebih tipis, ESC lebih adem, throttle lebih responsif.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Menempatkan pilihan kita di dalam peta supaya orang paham kita tidak memilih sembarangan. Kelas ditentukan oleh diameter propeller, dan itu menentukan semua hal lain. Kelas 5 inci dipilih karena titik temu: komponen paling melimpah, harga wajar, komunitas terbesar. Kalau ada yang mengusulkan langsung ke 7 inci untuk long-range: bisa, tapi belajar terbang dengan drone berat dan mahal adalah cara termahal untuk gagal.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Keputusan teknologi terpenting dalam deck; slide ini akan memicu debat terpanjang — biarkan. DUA grafik terpisah, bukan satu grafik dua sumbu, karena latensi dan harga besaran berbeda dan menggabungkannya menipu mata. Grafik kiri: analog menang di latensi (20 ms), tapi digital modern sudah turun ke 22–28 ms — selisihnya kini tipis, dan inilah perubahan besar dua tahun terakhir. Grafik kanan: harga digital masih 2–3 kali lipat. Argumen kami: untuk build PERTAMA, crash adalah keniscayaan, dan menghancurkan kamera Rp 350 rb jauh lebih ringan daripada unit Rp 3 juta. Analog dulu, digital di v2. Ini poin yang paling ingin kami dengar bantahannya.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Kenapa membangun drone hari ini jauh lebih mudah dibanding lima tahun lalu. ExpressLRS: dulu tiap merek punya protokol tertutup dan mahal; kini satu standar terbuka mengalahkan semuanya dalam latensi DAN harga. AM32: firmware ESC open-source menggantikan BLHeli_32 yang berhenti dikembangkan — ESC yang kita beli tidak akan jadi barang mati. RPM filter: ESC melaporkan RPM tiap motor ke flight controller, sehingga filter bisa membidik frekuensi getaran secara presisi — ini alasan drone 2026 terasa jauh lebih 'terkunci'. 6S kini standar kelas 5 inci.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Manajemen risiko, dan harus disampaikan jujur: aturan terbaru TIDAK diverifikasi saat menyusun deck ini. Angka dan pasal di sini harus dicek ke sumber resmi DJPU/Kemenhub sebelum jadi dasar keputusan. Prinsip umum: ada batas ketinggian, ada kawasan larangan di sekitar bandara (KKOP), dan drone di atas bobot tertentu perlu registrasi. Rekomendasi operasional yang tidak bergantung detail aturan: lapangan terbuka, jauh dari orang, jangan di atas kerumunan, jangan dekat bandara, dan selalu ada spotter selain pilot.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Konfigurasi True-X: keempat motor berjarak sama dari pusat, membentuk X simetris. Simetri berarti perilaku drone identik di keempat arah, sehingga tuning PID untuk roll juga berlaku untuk pitch. Konfigurasi lain (stretched-X, deadcat) mengorbankan simetri demi ruang kamera. Untuk freestyle, simetri lebih berharga. Wheelbase 220 mm = jarak diagonal antar motor. Lengan karbon 5 mm: 4 mm terlalu rapuh, 6 mm menambah bobot tanpa manfaat.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3D interaktif ada di situs — buka link-nya dan putar modelnya langsung di depan peserta; gunakan tombol 'Urai' untuk memisahkan komponen. Tata letak: baterai di atas (mudah diganti, melindungi elektronik saat jatuh terbalik), stack di tengah (terlindung dari segala arah), kamera di depan dijepit dua pelat karbon, antena di belakang menjauh dari motor. Model digambar dengan canvas 2D murni tanpa library — sekitar 150 baris matematika, dan semua dimensinya ukuran asli dalam milimeter, jadi sekaligus berfungsi sebagai gambar teknik.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sudut pandang lain dari drone yang sama. Sudut dari BAWAH (kanan bawah) yang paling berguna saat merakit — di situlah semua kabel dan solder berada, dan itu sisi yang paling jarang dilihat orang sebelum mereka terlanjur menyolder. Pandangan dari atas menunjukkan simetri True-X: keempat motor berjarak sama dari pusat. Model 3D interaktif ada di situs — bisa diputar bebas di depan peserta kalau ada yang minta melihat sisi tertentu.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Pandangan terurai (exploded view) — cara tercepat menjelaskan apa saja isinya dan bagaimana urutan tumpukannya. Dari bawah ke atas: pelat bawah karbon dengan empat lengan, lalu ESC 4-in-1, lalu flight controller di atasnya (keduanya disebut 'stack'), lalu pelat atas, lalu baterai. Kamera menonjol di depan dijepit dua pelat. Antena mencuat ke belakang. Perhatikan bahwa urutan tumpukan ini SAMA dengan urutan perakitan — itu bukan kebetulan, melainkan alasan kenapa urutannya tidak boleh ditukar.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Galeri komponen. Tekankan: setiap gambar di sini dirender dari rancangan KITA SENDIRI dalam ukuran milimeter yang sebenarnya — bukan foto produk orang lain, bukan tiruan. Untuk melihat wujud fisik produk aslinya beserta harga terkini, gunakan nama produk di slide daftar belanja lalu cari di marketplace. Sampaikan bahwa harga di sini estimasi.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1 — Frame kering. Waktu: 45 menit. Alat: Obeng hex 2.0 · Loctite biru. Rakit seluruh frame TANPA satu pun komponen elektronik, lalu bongkar lagi. Tujuannya bukan merakit, tapi MEMERIKSA. Frame karbon punya toleransi manufaktur, dan lubang baut yang meleset setengah milimeter baru terasa saat empat lengan dipasang bersamaan. Kalau baut seret sekarang, itu masalah lima menit. Kalau baru ketahuan setelah ESC tersolder, itu masalah lima jam. KESALAHAN YANG SERING TERJADI: Loctite MERAH bersifat permanen — hanya lepas di 250°C, dan kalian akan merusak frame saat mencoba membongkarnya. Pakai yang BIRU (243). CEK SEBELUM LANJUT: Pelat atas duduk rata tanpa dipaksa, tidak ada lengan yang bergoyang. CATATAN: Kenapa ini dilakukan lebih dulu: bagian ini yang paling sering menyimpan kejutan, dan paling murah diperbaiki saat belum ada elektronik menempel.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2 — Pasang motor. Waktu: 30 menit. Alat: Obeng hex 2.0 · Loctite biru. Empat motor, empat baut masing-masing. Yang menentukan bukan cara memasangnya — tapi PANJANG BAUTNYA. Baut yang terlalu panjang menembus dan menyentuh lilitan tembaga di dalam motor. Motornya tetap berputar saat diuji di meja, lalu MATI TOTAL DI UDARA — dan kalian tidak akan pernah tahu penyebabnya. Ini kegagalan klasik yang menghabiskan berhari-hari waktu pencarian. KESALAHAN YANG SERING TERJADI: Baut motor yang lepas saat terbang = drone hilang. Bukan kiasan: motor terlepas, drone berputar liar, menghilang di semak. Loctite biru harganya Rp 40 ribu. CEK SEBELUM LANJUT: Putar tiap bell motor dengan jari — harus mulus, tanpa suara gesekan. CATATAN: Ulir baut tidak boleh masuk lebih dalam dari 4 mm ke badan motor. Kalau baut bawaan terlalu panjang, tambahkan ring atau beli baut yang lebih pendek.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3 — Solder ESC, XT60, kapasitor. Waktu: 2 jam. Alat: Solder 60 W chisel · timah 60/40 · multimeter. Tahap paling berisiko dalam seluruh proyek. DI SINILAH DRONE TERBAKAR, kalau ia akan terbakar. Tiga kabel per motor, dua belas sambungan, lalu XT60 dan kapasitor. Urutan kabel motor bebas — arah putaran diperbaiki lewat software, bukan dengan menukar kabel. Yang tidak boleh salah adalah POLARITAS: merah ke plus, hitam ke minus, kaki panjang kapasitor ke pad merah. KESALAHAN YANG SERING TERJADI: Kapasitor terbalik akan MELEDAK. Dan penyalaan pertama WAJIB lewat smoke stopper — kalau ada korslet, yang mati alat Rp 150 ribu itu, bukan ESC + FC kalian yang Rp 1,25 juta. CEK SEBELUM LANJUT: Multimeter tidak berbunyi antara + dan −. Semua sambungan mengilap, bukan menggumpal. CATATAN: Sambungan yang benar terlihat MENGILAP dan CEKUNG. Yang buram dan menggumpal adalah sambungan dingin — ia terlihat 'jadi' di meja, lalu lepas di udara.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4 — Tumpuk flight controller. Waktu: 30 menit. Alat: Obeng hex 2.0 · grommet karet. FC ditumpuk di atas ESC. Yang menentukan kualitas terbang di sini bukan cara memasangnya, tapi KARET PEREDAMNYA. Gyro adalah sensor paling sensitif di drone — ia membaca 8 000 kali per detik. Kalau getaran motor merambat lewat baut logam, gyro membaca getaran itu sebagai 'gerakan drone', dan PID berusaha mengoreksinya. Hasilnya: motor bergetar mengejar hantu, lalu panas. KESALAHAN YANG SERING TERJADI: FC yang dibaut kencang langsung ke karbon = tune tidak akan pernah bagus, sekeras apa pun dicoba. Banyak orang menghabiskan berminggu-minggu menyalahkan PID, padahal masalahnya ada di empat karet seharga Rp 5 ribu. CEK SEBELUM LANJUT: Buka Betaflight — model 3D di layar bergerak mengikuti drone, dan arahnya benar. CATATAN: Jangan kencangkan baut sampai mentok: FC harus bisa bergerak sedikit di atas karetnya. Itu fitur, bukan cacat.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5 — Kamera &amp; pelat depan. Waktu: 40 menit. Alat: Obeng hex 1.5 · solder. Kamera dijepit dua pelat karbon di hidung drone, dimiringkan 25–30° KE ATAS. Kenapa dimiringkan? Karena drone terbang dalam kondisi NUNDUK — untuk maju, ia memiringkan badannya ke depan. Kalau kamera dipasang lurus, yang terlihat saat melaju kencang hanyalah tanah. Makin miring ke atas, makin cepat gaya terbang yang didukungnya. KESALAHAN YANG SERING TERJADI: Kabel kamera yang menjuntai akan TERSAYAT PROPELLER pada penerbangan pertama. Semua kabel harus terikat atau terselip — tidak ada yang boleh melewati bidang putaran propeller. CEK SEBELUM LANJUT: Gambar muncul di goggles, tidak miring, tanpa garis noise berjalan. CATATAN: Kabel kamera disolder KE FC, bukan langsung ke VTX — supaya OSD (voltase, timer) bisa ditimpakan ke gambar sebelum dipancarkan.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6 — VTX, antena, penerima. Waktu: 45 menit. Alat: Solder · zip tie · heat shrink. Tiga komponen radio. Kuncinya adalah MENJAUHKAN MEREKA SATU SAMA LAIN. VTX 800 mW memancarkan sinyal yang cukup kuat untuk MENULIKAN penerima ELRS yang letaknya berdempetan. Ini penyebab umum 'jangkauan radio pendek' yang membuat orang menyalahkan penerimanya. Solusinya gratis: jauhkan kedua antena, dan buat keduanya saling tegak lurus. KESALAHAN YANG SERING TERJADI: JANGAN PERNAH menyalakan VTX tanpa antena terpasang. Daya pancarnya memantul kembali dan membakar penguat di dalamnya dalam hitungan detik. Tidak bisa diperbaiki. CEK SEBELUM LANJUT: Berjalan 100 m menjauh: gambar tetap jernih, drone tetap merespons stik. CATATAN: VTX 800 mW SANGAT panas — pasang dengan heatsink menghadap udara terbuka, jangan terhimpit di antara baterai dan pelat.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7 — Pelat atas &amp; baterai. Waktu: 20 menit. Alat: Obeng hex 2.0 · battery strap. Drone sekarang LENGKAP — kecuali propeller. Kenapa baterai di atas, bukan di bawah? Tiga alasan: mudah diganti tanpa membalik drone; ia menjadi PELINDUNG ELEKTRONIK saat drone jatuh terbalik (dan drone AKAN jatuh terbalik); serta menaikkan titik berat sedikit, yang membuat drone lebih mudah diayun saat flip. KESALAHAN YANG SERING TERJADI: Baterai yang terlepas saat terbang bukan cuma kehilangan baterai — kabelnya tersentak putus dan drone MATI SEKETIKA di udara. Pad anti-slip bukan aksesori opsional. CEK SEBELUM LANJUT: Guncang drone terbalik: tidak ada yang bergeser, baterai tidak bergerak sedikit pun. CATATAN: Timbang drone: harus sekitar 685 gram. Kalau jauh lebih berat, ada yang salah — dan TWR kalian tidak akan sesuai perhitungan.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8 — Propeller — dan terbang. Waktu: 10 menit. Alat: Prop tool · lapangan terbuka. Propeller adalah hal TERAKHIR yang dipasang, dan PERTAMA yang dilepas. Pasang di lapangan, bukan di rumah. Sebelum sampai di sini, seluruh konfigurasi Betaflight harus SUDAH SELESAI: arah putaran motor benar, failsafe di-set ke Drop, radio ter-bind, mode Arm terpasang di switch. Semua itu dilakukan TANPA PROPELLER. Kalau ada satu saja yang belum, jangan pasang propeller. KESALAHAN YANG SERING TERJADI: Bilah 5 inci pada 25 000 RPM bisa membuka jari sampai tulang. Tidak ada 'cuma sebentar'. Tidak ada 'saya hati-hati kok'. CEK SEBELUM LANJUT: Hover stabil 30 detik, motor hangat tapi masih bisa dipegang, tidak ada suara mendengung. CATATAN: Propeller punya tanda CW dan CCW — salah pasang, drone langsung terbalik saat throttle dinaikkan. Retak sekecil apa pun = BUANG.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Bacakan hanya baris yang mengundang perdebatan, bukan seluruh tabel. Paling penting: stack (FC + ESC) dibeli SEPAKET — lebih murah dan dijamin cocok kabel serta lubang bautnya. Motor 2207 = diameter stator 22 mm, tinggi 7 mm; stator lebih tinggi = torsi lebih besar, dibutuhkan untuk memutar propeller 5 inci. Baterai 100C = sanggup 130 ampere, jauh di atas kebutuhan puncak 44 A, sehingga voltase tidak anjlok saat throttle disentak. Propeller dibeli 5 set karena paling sering hancur. SEMUA HARGA ESTIMASI — undang koreksi di sini.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Grafik ini menjelaskan kenapa setiap gram diperdebatkan. Baterai adalah satu komponen terberat — 260 dari 685 gram, hampir 40 persen. Ini keputusan desain paling berpengaruh, dan satu-satunya yang bisa diubah SETELAH drone selesai dibangun. Poin kedua: elektronik hanya 13 persen, jadi berhemat di elektronik tidak banyak mengubah bobot — tapi mengorbankan kualitas gambar dan keandalan. Berhematlah di tempat lain.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paling penting secara analitis. Dua grafik terpisah karena satuannya berbeda — menit dan rasio — dan menggabungkan keduanya di satu grafik dua sumbu akan menipu mata. Menaikkan kapasitas dari 1300 ke 1800 mAh menambah durasi sekitar 1,5 menit tapi menurunkan TWR dari 7,0 ke 6,1. Di 2200 mAh, TWR jatuh ke 5,4 dan drone mulai terasa berat saat flip. Kesimpulan: 1300 mAh optimal untuk freestyle. Kalau ingin long-range, jawabannya BUKAN baterai lebih besar di frame yang sama — jawabannya frame 7 inci. Orang sering memaksa drone freestyle jadi long-range dan berakhir dengan drone yang buruk di keduanya.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pembuktian bahwa rancangan ini bukan tebakan. Thrust-to-weight 7:1 — minimum 4:1 untuk freestyle, di bawah 3:1 tidak bisa pulih dari dive. Throttle melayang 30 persen: drone hanya butuh sepertiga tenaga untuk diam di udara, menyisakan dua pertiga untuk manuver; kalau hover butuh 50 persen, drone kelebihan berat. Arus puncak 44 A melawan ESC 55 A memberi headroom 25 persen — ini margin keamanan, bukan pemborosan; ESC yang bekerja di 100 persen kapasitas akan mati muda. Beban baterai hanya 34C dari rating 100C: baterai bekerja santai dan akan awet.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jalur berjalan paralel dan sebagian besar saling independen. Daya: baterai ke ESC ke motor. Kontrol: radio ke penerima ke FC ke ESC. Video: kamera ke FC (untuk ditimpa OSD) lalu ke pemancar. Yang penting untuk manajemen risiko: jalur video TERPISAH dari jalur kontrol. Kalau video mati, drone masih sepenuhnya bisa dikendalikan — walau pilot terbang buta. Sebaliknya, kalau kontrol putus, video yang hidup tidak ada gunanya. Itu sebabnya kita tidak berhemat di penerima radio.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Kalimat pembuka: drone ini TIDAK stabil secara alami. Tanpa komputer yang mengoreksi, ia terguling dalam waktu di bawah satu detik — seperti sapu yang ditegakkan di telapak tangan. Yang membuatnya tampak menempel di udara adalah enam langkah ini, diulang delapan ribu kali per detik. Seluruh siklus selesai di bawah 300 mikrodetik — manusia berkedip seribu kali lebih lambat. Kecepatan inilah, bukan sensor mahal atau algoritma pintar, yang membuat benda tak stabil ini terbang. Kenapa harus secepat itu: semakin cepat koreksi diberikan, semakin KECIL koreksi yang dibutuhkan — dan koreksi kecil berarti terbang halus.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Inti dari seluruh tuning drone. Garis di grafik adalah kecepatan putar drone terhadap waktu setelah pilot meminta 300 derajat per detik. P terlalu rendah: drone lembek, lambat mencapai target, terasa 'berenang'. Tersetel: naik cepat, sedikit overshoot, langsung mantap. P terlalu tinggi: berosilasi — di dunia nyata inilah suara mendengung dan motor panas. Peran: P adalah otot (bereaksi pada error sekarang), I adalah ingatan (melawan bias permanen seperti baterai berat sebelah), D adalah rem (memprediksi ke mana drone akan pergi, meredam osilasi). Ada simulator interaktif di situs — demokan langsung kalau ada yang penasaran.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ini adalah seluruh pengetahuan drone tentang bentuk fisiknya sendiri. Baca per KOLOM, bukan per baris. Kolom roll: motor kanan minus, kiri plus — perintah roll kanan memperlambat motor kanan, drone miring ke kanan. Kolom pitch: motor belakang plus, hidung terangkat. Kolom yaw paling menarik: polanya diagonal, dan diagonal itu persis pasangan motor yang berputar searah. Yaw TIDAK mendorong udara ke samping — ia mempercepat dua motor searah sehingga torsi reaksinya memuntir badan drone ke arah sebaliknya. Sama seperti pergelangan tangan menahan bor listrik. Airmode: kalau throttle nol dan pilot memerintahkan flip, motor 'seharusnya' berputar negatif — mustahil. Airmode menaikkan keempat motor bersamaan sampai koreksi muat. Tanpa itu, drone kehilangan kendali total saat throttle nol — persis saat dive.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yang paling jarang dibahas, dan paling sering menentukan apakah seseorang pulang dengan sepuluh jari utuh. Setiap syarat arming lahir dari kecelakaan nyata seseorang. Kenapa failsafe harus DROP, bukan pulang otomatis: untuk quad 5 inci tanpa GPS, drone tanpa kendali yang motornya masih menyala adalah gergaji terbang 700 gram yang melesat ke arah tak terduga. Menjatuhkannya jauh lebih aman — dan drone biasanya masih bisa diperbaiki. Runaway takeoff prevention: kalau motor menyala tapi gyro melaporkan gerakan tidak masuk akal (misalnya arah motor terbalik), FC mematikan motor dalam ratusan milidetik. Aturan mati untuk tim: propeller dipasang terakhir, dilepas pertama.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Bagian 4 — bisnis. Grafik bertumpuk: bagian bawah drone, bagian atas perlengkapan. Perlengkapan lebih mahal dari drone di semua tier — tapi itu biaya SEKALI SEUMUR HIDUP; radio, goggles, charger, dan alat solder akan dipakai untuk drone kedua dan seterusnya. Drone kedua nanti hanya 5,3 juta. Rekomendasi tier Standar: titik temu terbaik antara harga dan rasa, tidak ada yang perlu di-upgrade dalam 1–2 tahun. Tier Hemat bisa terbang, tapi goggles murahnya akan minta diganti dalam hitungan bulan — akhirnya membayar dua kali.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Menjawab 'berapa biaya sesungguhnya kalau proyek ini berlanjut'. Biaya awal 12,3 juta, tapi biaya marginal drone berikutnya hanya 5,3 juta, dan biaya rutin sekitar 200 ribu per bulan untuk propeller dan sesekali lengan frame. Kalau ditanya soal nilai/ROI: bingkai sebagai investasi KAPABILITAS, bukan barang. Yang dibeli adalah kemampuan tim merancang, merakit, dan menerbangkan sistem udara tanpa awak — kapabilitas yang bisa dikembangkan ke survei, inspeksi, atau dokumentasi. Sebutkan ini bahan diskusi, bukan klaim.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Delapan minggu, urutan tidak boleh ditukar. Minggu 1–2 riset dan pembelian (komponen impor butuh waktu). Minggu 3 rakit mekanik: frame kering dulu. Minggu 4 penyolderan — minggu paling berisiko, smoke stopper dipakai di sini. Minggu 5 konfigurasi Betaflight, semuanya TANPA PROPELLER. Minggu 6 hover test pertama, lapangan terbuka, satu meter di atas tanah. Minggu 7–8 tuning PID dan filter — satu perubahan per penerbangan, selalu raba suhu motor setelah mendarat. Perhatikan: terbang pertama baru di minggu 6. Lima minggu persiapan untuk satu menit hover — itu bukan pemborosan, itu yang membedakan drone yang bertahan dari drone yang terbakar di penyalaan pertama.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hanya membacakan — tanyakan risiko apa yang terlewat. Risiko tertinggi: korslet saat penyalaan pertama (dampak besar, cukup sering pada build pertama) — mitigasinya smoke stopper Rp 150 ribu. Risiko yang sering diremehkan: propeller berputar saat tangan masih dekat — mitigasinya PROSEDUR, bukan alat. Risiko paling mungkin tapi dampak kecil: crash merusak lengan frame — beli frame yang lengannya dijual satuan, stok cadangan sejak awal. Baterai terbakar: LiPo yang rusak karena crash bisa terbakar berjam-jam kemudian tanpa peringatan — tas tahan api dan karantina 30 menit setelah crash keras.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tahap. v1 yang dibahas hari ini: analog, freestyle, tujuannya BELAJAR — bukan menghasilkan karya. v2 setelah tim nyaman terbang: naik ke video digital, karena saat itu crash sudah jarang dan risiko biayanya turun drastis. v3 adalah percabangan: long-range 7 inci dengan GPS, atau otonomi dan computer vision. Yang penting: v1 sengaja dirancang agar TIDAK TERBUANG. Radio, goggles, charger, alat, dan yang terpenting — pengetahuan tim — semuanya terbawa ke v2 dan v3. Yang diganti hanya komponen drone-nya sendiri.</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penutup yang paling penting. Jangan biarkan rapat bubar tanpa tiga jawaban ini. Keputusan 1: analog atau digital untuk v1 — rekomendasi analog, tapi ini yang paling ingin kami dengar bantahannya. Keputusan 2: tingkat anggaran — rekomendasi Standar 12,3 juta, karena Hemat berujung membayar dua kali. Keputusan 3: siapa mengerjakan apa, dan apakah 8 minggu realistis dengan beban kerja tim saat ini. Selain itu, dua tugas harus diberi NAMA ORANG hari ini: verifikasi harga ke marketplace, dan verifikasi regulasi terbaru. Keduanya adalah lubang jujur dalam deck ini.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diskusi. Pertanyaan pemantik kalau ruangan diam: (1) Apa yang paling meragukan dari rancangan ini? (2) Adakah komponen yang menurut kalian salah pilih? (3) Adakah pengalaman crash yang harus kami antisipasi? Ingatkan bahwa seluruh dokumen — model 3D, kode firmware, simulator PID, dan daftar belanja — tersedia di situs dan bisa dibuka siapa saja kapan saja.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1.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chart" Target="../charts/chart4.xml"/><Relationship Id="rId4" Type="http://schemas.openxmlformats.org/officeDocument/2006/relationships/chart" Target="../charts/char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chart" Target="../charts/char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pic>
        <p:nvPicPr>
          <p:cNvPr id="2" name="Picture 1" descr="cover-bg.png"/>
          <p:cNvPicPr>
            <a:picLocks noChangeAspect="1"/>
          </p:cNvPicPr>
          <p:nvPr/>
        </p:nvPicPr>
        <p:blipFill>
          <a:blip r:embed="rId3"/>
          <a:stretch>
            <a:fillRect/>
          </a:stretch>
        </p:blipFill>
        <p:spPr>
          <a:xfrm>
            <a:off x="0" y="0"/>
            <a:ext cx="12191695" cy="6858000"/>
          </a:xfrm>
          <a:prstGeom prst="rect">
            <a:avLst/>
          </a:prstGeom>
        </p:spPr>
      </p:pic>
      <p:pic>
        <p:nvPicPr>
          <p:cNvPr id="3" name="Picture 2" descr="brain-logo.png"/>
          <p:cNvPicPr>
            <a:picLocks noChangeAspect="1"/>
          </p:cNvPicPr>
          <p:nvPr/>
        </p:nvPicPr>
        <p:blipFill>
          <a:blip r:embed="rId4"/>
          <a:stretch>
            <a:fillRect/>
          </a:stretch>
        </p:blipFill>
        <p:spPr>
          <a:xfrm>
            <a:off x="548640" y="621792"/>
            <a:ext cx="1600200" cy="1600200"/>
          </a:xfrm>
          <a:prstGeom prst="rect">
            <a:avLst/>
          </a:prstGeom>
        </p:spPr>
      </p:pic>
      <p:sp>
        <p:nvSpPr>
          <p:cNvPr id="4" name="TextBox 3"/>
          <p:cNvSpPr txBox="1"/>
          <p:nvPr/>
        </p:nvSpPr>
        <p:spPr>
          <a:xfrm>
            <a:off x="603504" y="2304288"/>
            <a:ext cx="8229600" cy="274320"/>
          </a:xfrm>
          <a:prstGeom prst="rect">
            <a:avLst/>
          </a:prstGeom>
          <a:noFill/>
        </p:spPr>
        <p:txBody>
          <a:bodyPr wrap="square" lIns="0" rIns="0" tIns="0" bIns="0">
            <a:spAutoFit/>
          </a:bodyPr>
          <a:lstStyle/>
          <a:p>
            <a:pPr algn="l">
              <a:lnSpc>
                <a:spcPct val="125000"/>
              </a:lnSpc>
              <a:spcAft>
                <a:spcPts val="600"/>
              </a:spcAft>
            </a:pPr>
            <a:r>
              <a:rPr sz="1100" b="1">
                <a:solidFill>
                  <a:srgbClr val="F2662C"/>
                </a:solidFill>
                <a:latin typeface="Consolas"/>
              </a:rPr>
              <a:t>RANCANGAN SMART DRONE · 2026</a:t>
            </a:r>
          </a:p>
        </p:txBody>
      </p:sp>
      <p:sp>
        <p:nvSpPr>
          <p:cNvPr id="5" name="TextBox 4"/>
          <p:cNvSpPr txBox="1"/>
          <p:nvPr/>
        </p:nvSpPr>
        <p:spPr>
          <a:xfrm>
            <a:off x="566928" y="2615184"/>
            <a:ext cx="8595360" cy="1920240"/>
          </a:xfrm>
          <a:prstGeom prst="rect">
            <a:avLst/>
          </a:prstGeom>
          <a:noFill/>
        </p:spPr>
        <p:txBody>
          <a:bodyPr wrap="square" lIns="0" tIns="0">
            <a:spAutoFit/>
          </a:bodyPr>
          <a:lstStyle/>
          <a:p>
            <a:pPr>
              <a:lnSpc>
                <a:spcPct val="98000"/>
              </a:lnSpc>
            </a:pPr>
            <a:r>
              <a:rPr sz="6200" b="1">
                <a:solidFill>
                  <a:srgbClr val="ECEFF2"/>
                </a:solidFill>
                <a:latin typeface="Bahnschrift"/>
              </a:rPr>
              <a:t>Smart Drone</a:t>
            </a:r>
          </a:p>
          <a:p>
            <a:pPr>
              <a:lnSpc>
                <a:spcPct val="98000"/>
              </a:lnSpc>
            </a:pPr>
            <a:r>
              <a:rPr sz="6200" b="1">
                <a:solidFill>
                  <a:srgbClr val="F2662C"/>
                </a:solidFill>
                <a:latin typeface="Bahnschrift"/>
              </a:rPr>
              <a:t>AI Modern</a:t>
            </a:r>
          </a:p>
        </p:txBody>
      </p:sp>
      <p:sp>
        <p:nvSpPr>
          <p:cNvPr id="6" name="TextBox 5"/>
          <p:cNvSpPr txBox="1"/>
          <p:nvPr/>
        </p:nvSpPr>
        <p:spPr>
          <a:xfrm>
            <a:off x="566928" y="4434840"/>
            <a:ext cx="7589520" cy="822960"/>
          </a:xfrm>
          <a:prstGeom prst="rect">
            <a:avLst/>
          </a:prstGeom>
          <a:noFill/>
        </p:spPr>
        <p:txBody>
          <a:bodyPr wrap="square" lIns="0" rIns="0" tIns="0" bIns="0">
            <a:spAutoFit/>
          </a:bodyPr>
          <a:lstStyle/>
          <a:p>
            <a:pPr algn="l">
              <a:lnSpc>
                <a:spcPct val="140000"/>
              </a:lnSpc>
              <a:spcAft>
                <a:spcPts val="600"/>
              </a:spcAft>
            </a:pPr>
            <a:r>
              <a:rPr sz="1500" b="0">
                <a:solidFill>
                  <a:srgbClr val="A9B4BE"/>
                </a:solidFill>
                <a:latin typeface="Segoe UI"/>
              </a:rPr>
              <a:t>Quadcopter dengan dua otak — flight controller untuk terbang, Raspberry Pi untuk computer vision. Dirancang, dirakit, dan dipahami sendiri.</a:t>
            </a:r>
          </a:p>
        </p:txBody>
      </p:sp>
      <p:sp>
        <p:nvSpPr>
          <p:cNvPr id="7" name="TextBox 6"/>
          <p:cNvSpPr txBox="1"/>
          <p:nvPr/>
        </p:nvSpPr>
        <p:spPr>
          <a:xfrm>
            <a:off x="566928" y="5623560"/>
            <a:ext cx="265176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OTAK</a:t>
            </a:r>
          </a:p>
        </p:txBody>
      </p:sp>
      <p:sp>
        <p:nvSpPr>
          <p:cNvPr id="8" name="TextBox 7"/>
          <p:cNvSpPr txBox="1"/>
          <p:nvPr/>
        </p:nvSpPr>
        <p:spPr>
          <a:xfrm>
            <a:off x="566928" y="5861304"/>
            <a:ext cx="2651760" cy="274320"/>
          </a:xfrm>
          <a:prstGeom prst="rect">
            <a:avLst/>
          </a:prstGeom>
          <a:noFill/>
        </p:spPr>
        <p:txBody>
          <a:bodyPr wrap="square" lIns="0" rIns="0" tIns="0" bIns="0">
            <a:spAutoFit/>
          </a:bodyPr>
          <a:lstStyle/>
          <a:p>
            <a:pPr algn="l">
              <a:lnSpc>
                <a:spcPct val="125000"/>
              </a:lnSpc>
              <a:spcAft>
                <a:spcPts val="600"/>
              </a:spcAft>
            </a:pPr>
            <a:r>
              <a:rPr sz="1300" b="1">
                <a:solidFill>
                  <a:srgbClr val="ECEFF2"/>
                </a:solidFill>
                <a:latin typeface="Segoe UI"/>
              </a:rPr>
              <a:t>FC + Raspberry Pi</a:t>
            </a:r>
          </a:p>
        </p:txBody>
      </p:sp>
      <p:sp>
        <p:nvSpPr>
          <p:cNvPr id="9" name="TextBox 8"/>
          <p:cNvSpPr txBox="1"/>
          <p:nvPr/>
        </p:nvSpPr>
        <p:spPr>
          <a:xfrm>
            <a:off x="3355848" y="5623560"/>
            <a:ext cx="265176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KEMAMPUAN</a:t>
            </a:r>
          </a:p>
        </p:txBody>
      </p:sp>
      <p:sp>
        <p:nvSpPr>
          <p:cNvPr id="10" name="TextBox 9"/>
          <p:cNvSpPr txBox="1"/>
          <p:nvPr/>
        </p:nvSpPr>
        <p:spPr>
          <a:xfrm>
            <a:off x="3355848" y="5861304"/>
            <a:ext cx="2651760" cy="274320"/>
          </a:xfrm>
          <a:prstGeom prst="rect">
            <a:avLst/>
          </a:prstGeom>
          <a:noFill/>
        </p:spPr>
        <p:txBody>
          <a:bodyPr wrap="square" lIns="0" rIns="0" tIns="0" bIns="0">
            <a:spAutoFit/>
          </a:bodyPr>
          <a:lstStyle/>
          <a:p>
            <a:pPr algn="l">
              <a:lnSpc>
                <a:spcPct val="125000"/>
              </a:lnSpc>
              <a:spcAft>
                <a:spcPts val="600"/>
              </a:spcAft>
            </a:pPr>
            <a:r>
              <a:rPr sz="1300" b="1">
                <a:solidFill>
                  <a:srgbClr val="ECEFF2"/>
                </a:solidFill>
                <a:latin typeface="Segoe UI"/>
              </a:rPr>
              <a:t>Edge-AI vision</a:t>
            </a:r>
          </a:p>
        </p:txBody>
      </p:sp>
      <p:sp>
        <p:nvSpPr>
          <p:cNvPr id="11" name="TextBox 10"/>
          <p:cNvSpPr txBox="1"/>
          <p:nvPr/>
        </p:nvSpPr>
        <p:spPr>
          <a:xfrm>
            <a:off x="6144768" y="5623560"/>
            <a:ext cx="265176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VARIAN</a:t>
            </a:r>
          </a:p>
        </p:txBody>
      </p:sp>
      <p:sp>
        <p:nvSpPr>
          <p:cNvPr id="12" name="TextBox 11"/>
          <p:cNvSpPr txBox="1"/>
          <p:nvPr/>
        </p:nvSpPr>
        <p:spPr>
          <a:xfrm>
            <a:off x="6144768" y="5861304"/>
            <a:ext cx="2651760" cy="274320"/>
          </a:xfrm>
          <a:prstGeom prst="rect">
            <a:avLst/>
          </a:prstGeom>
          <a:noFill/>
        </p:spPr>
        <p:txBody>
          <a:bodyPr wrap="square" lIns="0" rIns="0" tIns="0" bIns="0">
            <a:spAutoFit/>
          </a:bodyPr>
          <a:lstStyle/>
          <a:p>
            <a:pPr algn="l">
              <a:lnSpc>
                <a:spcPct val="125000"/>
              </a:lnSpc>
              <a:spcAft>
                <a:spcPts val="600"/>
              </a:spcAft>
            </a:pPr>
            <a:r>
              <a:rPr sz="1300" b="1">
                <a:solidFill>
                  <a:srgbClr val="ECEFF2"/>
                </a:solidFill>
                <a:latin typeface="Segoe UI"/>
              </a:rPr>
              <a:t>5" &amp; cinewhoop</a:t>
            </a:r>
          </a:p>
        </p:txBody>
      </p:sp>
      <p:sp>
        <p:nvSpPr>
          <p:cNvPr id="13" name="TextBox 12"/>
          <p:cNvSpPr txBox="1"/>
          <p:nvPr/>
        </p:nvSpPr>
        <p:spPr>
          <a:xfrm>
            <a:off x="8933687" y="5623560"/>
            <a:ext cx="265176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STATUS</a:t>
            </a:r>
          </a:p>
        </p:txBody>
      </p:sp>
      <p:sp>
        <p:nvSpPr>
          <p:cNvPr id="14" name="TextBox 13"/>
          <p:cNvSpPr txBox="1"/>
          <p:nvPr/>
        </p:nvSpPr>
        <p:spPr>
          <a:xfrm>
            <a:off x="8933687" y="5861304"/>
            <a:ext cx="2651760" cy="274320"/>
          </a:xfrm>
          <a:prstGeom prst="rect">
            <a:avLst/>
          </a:prstGeom>
          <a:noFill/>
        </p:spPr>
        <p:txBody>
          <a:bodyPr wrap="square" lIns="0" rIns="0" tIns="0" bIns="0">
            <a:spAutoFit/>
          </a:bodyPr>
          <a:lstStyle/>
          <a:p>
            <a:pPr algn="l">
              <a:lnSpc>
                <a:spcPct val="125000"/>
              </a:lnSpc>
              <a:spcAft>
                <a:spcPts val="600"/>
              </a:spcAft>
            </a:pPr>
            <a:r>
              <a:rPr sz="1300" b="1">
                <a:solidFill>
                  <a:srgbClr val="ECEFF2"/>
                </a:solidFill>
                <a:latin typeface="Segoe UI"/>
              </a:rPr>
              <a:t>Rancangan siap</a:t>
            </a:r>
          </a:p>
        </p:txBody>
      </p:sp>
      <p:sp>
        <p:nvSpPr>
          <p:cNvPr id="15" name="TextBox 14"/>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Smart Drone AI Modern</a:t>
            </a:r>
          </a:p>
        </p:txBody>
      </p:sp>
      <p:sp>
        <p:nvSpPr>
          <p:cNvPr id="16" name="TextBox 15"/>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01 / 43</a:t>
            </a:r>
          </a:p>
        </p:txBody>
      </p:sp>
      <p:sp>
        <p:nvSpPr>
          <p:cNvPr id="17" name="Rectangle 16"/>
          <p:cNvSpPr/>
          <p:nvPr/>
        </p:nvSpPr>
        <p:spPr>
          <a:xfrm>
            <a:off x="0" y="6803136"/>
            <a:ext cx="283527"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afterEffect">
                                  <p:stCondLst>
                                    <p:cond delay="43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afterEffect">
                                  <p:stCondLst>
                                    <p:cond delay="71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afterEffect">
                                  <p:stCondLst>
                                    <p:cond delay="99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afterEffect">
                                  <p:stCondLst>
                                    <p:cond delay="127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afterEffect">
                                  <p:stCondLst>
                                    <p:cond delay="15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nodeType="afterEffect">
                                  <p:stCondLst>
                                    <p:cond delay="183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WUJUD RANCANGAN · PAKET 5" (RP 12,5 JT)</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Render desain — </a:t>
            </a:r>
            <a:r>
              <a:rPr sz="3400" b="1">
                <a:solidFill>
                  <a:srgbClr val="F2662C"/>
                </a:solidFill>
                <a:latin typeface="Bahnschrift"/>
              </a:rPr>
              <a:t>buatan sendiri</a:t>
            </a:r>
          </a:p>
        </p:txBody>
      </p:sp>
      <p:pic>
        <p:nvPicPr>
          <p:cNvPr id="4" name="Picture 3" descr="desain-5inci.jpg"/>
          <p:cNvPicPr>
            <a:picLocks noChangeAspect="1"/>
          </p:cNvPicPr>
          <p:nvPr/>
        </p:nvPicPr>
        <p:blipFill>
          <a:blip r:embed="rId3"/>
          <a:stretch>
            <a:fillRect/>
          </a:stretch>
        </p:blipFill>
        <p:spPr>
          <a:xfrm>
            <a:off x="2240014" y="1554480"/>
            <a:ext cx="7718066" cy="4160520"/>
          </a:xfrm>
          <a:prstGeom prst="rect">
            <a:avLst/>
          </a:prstGeom>
        </p:spPr>
      </p:pic>
      <p:sp>
        <p:nvSpPr>
          <p:cNvPr id="5" name="Rectangle 4"/>
          <p:cNvSpPr/>
          <p:nvPr/>
        </p:nvSpPr>
        <p:spPr>
          <a:xfrm>
            <a:off x="566928" y="5870448"/>
            <a:ext cx="457200"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5779008"/>
            <a:ext cx="10515600" cy="457200"/>
          </a:xfrm>
          <a:prstGeom prst="rect">
            <a:avLst/>
          </a:prstGeom>
          <a:noFill/>
        </p:spPr>
        <p:txBody>
          <a:bodyPr wrap="square" lIns="0" rIns="0" tIns="0" bIns="0">
            <a:spAutoFit/>
          </a:bodyPr>
          <a:lstStyle/>
          <a:p>
            <a:pPr algn="l">
              <a:lnSpc>
                <a:spcPct val="125000"/>
              </a:lnSpc>
              <a:spcAft>
                <a:spcPts val="600"/>
              </a:spcAft>
            </a:pPr>
            <a:r>
              <a:rPr sz="1150" b="0">
                <a:solidFill>
                  <a:srgbClr val="A9B4BE"/>
                </a:solidFill>
                <a:latin typeface="Segoe UI"/>
              </a:rPr>
              <a:t>Render foto-realistis rancangan 5 inci: frame karbon X terbuka, stack FC+ESC dalam casing transparan, kamera HD di depan.</a:t>
            </a:r>
          </a:p>
        </p:txBody>
      </p:sp>
      <p:sp>
        <p:nvSpPr>
          <p:cNvPr id="8" name="TextBox 7"/>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ANATOMI · PAKET 5"</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Terurai — </a:t>
            </a:r>
            <a:r>
              <a:rPr sz="3400" b="1">
                <a:solidFill>
                  <a:srgbClr val="F2662C"/>
                </a:solidFill>
                <a:latin typeface="Bahnschrift"/>
              </a:rPr>
              <a:t>setiap komponen</a:t>
            </a:r>
          </a:p>
        </p:txBody>
      </p:sp>
      <p:pic>
        <p:nvPicPr>
          <p:cNvPr id="4" name="Picture 3" descr="desain-5inci-anatomi.jpg"/>
          <p:cNvPicPr>
            <a:picLocks noChangeAspect="1"/>
          </p:cNvPicPr>
          <p:nvPr/>
        </p:nvPicPr>
        <p:blipFill>
          <a:blip r:embed="rId3"/>
          <a:stretch>
            <a:fillRect/>
          </a:stretch>
        </p:blipFill>
        <p:spPr>
          <a:xfrm>
            <a:off x="2240014" y="1554480"/>
            <a:ext cx="7718066" cy="4160520"/>
          </a:xfrm>
          <a:prstGeom prst="rect">
            <a:avLst/>
          </a:prstGeom>
        </p:spPr>
      </p:pic>
      <p:sp>
        <p:nvSpPr>
          <p:cNvPr id="5" name="Rectangle 4"/>
          <p:cNvSpPr/>
          <p:nvPr/>
        </p:nvSpPr>
        <p:spPr>
          <a:xfrm>
            <a:off x="566928" y="5870448"/>
            <a:ext cx="457200"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5779008"/>
            <a:ext cx="10515600" cy="457200"/>
          </a:xfrm>
          <a:prstGeom prst="rect">
            <a:avLst/>
          </a:prstGeom>
          <a:noFill/>
        </p:spPr>
        <p:txBody>
          <a:bodyPr wrap="square" lIns="0" rIns="0" tIns="0" bIns="0">
            <a:spAutoFit/>
          </a:bodyPr>
          <a:lstStyle/>
          <a:p>
            <a:pPr algn="l">
              <a:lnSpc>
                <a:spcPct val="125000"/>
              </a:lnSpc>
              <a:spcAft>
                <a:spcPts val="600"/>
              </a:spcAft>
            </a:pPr>
            <a:r>
              <a:rPr sz="1150" b="0">
                <a:solidFill>
                  <a:srgbClr val="A9B4BE"/>
                </a:solidFill>
                <a:latin typeface="Segoe UI"/>
              </a:rPr>
              <a:t>Diagram terurai berlabel: antena VTX, FC, ESC 4-in-1, baterai, kamera HD, motor brushless, dan lengan serat karbon.</a:t>
            </a:r>
          </a:p>
        </p:txBody>
      </p:sp>
      <p:sp>
        <p:nvSpPr>
          <p:cNvPr id="8" name="TextBox 7"/>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VARIAN HEMAT · DUCTED</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QUADCRAFT </a:t>
            </a:r>
            <a:r>
              <a:rPr sz="3400" b="1">
                <a:solidFill>
                  <a:srgbClr val="F2662C"/>
                </a:solidFill>
                <a:latin typeface="Bahnschrift"/>
              </a:rPr>
              <a:t>F1</a:t>
            </a:r>
          </a:p>
        </p:txBody>
      </p:sp>
      <p:pic>
        <p:nvPicPr>
          <p:cNvPr id="4" name="Picture 3" descr="desain-hemat.jpg"/>
          <p:cNvPicPr>
            <a:picLocks noChangeAspect="1"/>
          </p:cNvPicPr>
          <p:nvPr/>
        </p:nvPicPr>
        <p:blipFill>
          <a:blip r:embed="rId3"/>
          <a:stretch>
            <a:fillRect/>
          </a:stretch>
        </p:blipFill>
        <p:spPr>
          <a:xfrm>
            <a:off x="3239737" y="1554480"/>
            <a:ext cx="5718620" cy="4160520"/>
          </a:xfrm>
          <a:prstGeom prst="rect">
            <a:avLst/>
          </a:prstGeom>
        </p:spPr>
      </p:pic>
      <p:sp>
        <p:nvSpPr>
          <p:cNvPr id="5" name="Rectangle 4"/>
          <p:cNvSpPr/>
          <p:nvPr/>
        </p:nvSpPr>
        <p:spPr>
          <a:xfrm>
            <a:off x="566928" y="5870448"/>
            <a:ext cx="457200"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5779008"/>
            <a:ext cx="10515600" cy="457200"/>
          </a:xfrm>
          <a:prstGeom prst="rect">
            <a:avLst/>
          </a:prstGeom>
          <a:noFill/>
        </p:spPr>
        <p:txBody>
          <a:bodyPr wrap="square" lIns="0" rIns="0" tIns="0" bIns="0">
            <a:spAutoFit/>
          </a:bodyPr>
          <a:lstStyle/>
          <a:p>
            <a:pPr algn="l">
              <a:lnSpc>
                <a:spcPct val="125000"/>
              </a:lnSpc>
              <a:spcAft>
                <a:spcPts val="600"/>
              </a:spcAft>
            </a:pPr>
            <a:r>
              <a:rPr sz="1150" b="0">
                <a:solidFill>
                  <a:srgbClr val="A9B4BE"/>
                </a:solidFill>
                <a:latin typeface="Segoe UI"/>
              </a:rPr>
              <a:t>Varian hemat: cinewhoop ducted 4S dengan kamera menunduk &amp; Raspberry Pi untuk merekam. ~Rp 3,5–4 jt. Aman terbang di dalam ruangan.</a:t>
            </a:r>
          </a:p>
        </p:txBody>
      </p:sp>
      <p:sp>
        <p:nvSpPr>
          <p:cNvPr id="8" name="TextBox 7"/>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ANATOMI TERURAI · QUADCRAFT F1</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Terurai — </a:t>
            </a:r>
            <a:r>
              <a:rPr sz="3400" b="1">
                <a:solidFill>
                  <a:srgbClr val="F2662C"/>
                </a:solidFill>
                <a:latin typeface="Bahnschrift"/>
              </a:rPr>
              <a:t>empat panel penjelasan</a:t>
            </a:r>
          </a:p>
        </p:txBody>
      </p:sp>
      <p:pic>
        <p:nvPicPr>
          <p:cNvPr id="4" name="Picture 3" descr="desain-hemat-anatomi.jpg"/>
          <p:cNvPicPr>
            <a:picLocks noChangeAspect="1"/>
          </p:cNvPicPr>
          <p:nvPr/>
        </p:nvPicPr>
        <p:blipFill>
          <a:blip r:embed="rId3"/>
          <a:stretch>
            <a:fillRect/>
          </a:stretch>
        </p:blipFill>
        <p:spPr>
          <a:xfrm>
            <a:off x="3239737" y="1554480"/>
            <a:ext cx="5718620" cy="4160520"/>
          </a:xfrm>
          <a:prstGeom prst="rect">
            <a:avLst/>
          </a:prstGeom>
        </p:spPr>
      </p:pic>
      <p:sp>
        <p:nvSpPr>
          <p:cNvPr id="5" name="Rectangle 4"/>
          <p:cNvSpPr/>
          <p:nvPr/>
        </p:nvSpPr>
        <p:spPr>
          <a:xfrm>
            <a:off x="566928" y="5870448"/>
            <a:ext cx="457200"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5779008"/>
            <a:ext cx="10515600" cy="457200"/>
          </a:xfrm>
          <a:prstGeom prst="rect">
            <a:avLst/>
          </a:prstGeom>
          <a:noFill/>
        </p:spPr>
        <p:txBody>
          <a:bodyPr wrap="square" lIns="0" rIns="0" tIns="0" bIns="0">
            <a:spAutoFit/>
          </a:bodyPr>
          <a:lstStyle/>
          <a:p>
            <a:pPr algn="l">
              <a:lnSpc>
                <a:spcPct val="125000"/>
              </a:lnSpc>
              <a:spcAft>
                <a:spcPts val="600"/>
              </a:spcAft>
            </a:pPr>
            <a:r>
              <a:rPr sz="1150" b="0">
                <a:solidFill>
                  <a:srgbClr val="A9B4BE"/>
                </a:solidFill>
                <a:latin typeface="Segoe UI"/>
              </a:rPr>
              <a:t>Empat panel: tampilan utama berlabel · detail sistem kontrol pusat (heatsink, F7, ESC, IMU) · diagram arsitektur sinyal &amp; daya (DShot600, jaringan bintang terpusat).</a:t>
            </a:r>
          </a:p>
        </p:txBody>
      </p:sp>
      <p:sp>
        <p:nvSpPr>
          <p:cNvPr id="8" name="TextBox 7"/>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ANATOMI · FUNGSI MODERN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Setiap komponen — </a:t>
            </a:r>
            <a:r>
              <a:rPr sz="3400" b="1">
                <a:solidFill>
                  <a:srgbClr val="F2662C"/>
                </a:solidFill>
                <a:latin typeface="Bahnschrift"/>
              </a:rPr>
              <a:t>dan fungsi modernnya</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Bukan sekadar merakit part. Tiap komponen membawa teknologi terkini yang membedakan drone 2026 dari drone lama.</a:t>
            </a:r>
          </a:p>
        </p:txBody>
      </p:sp>
      <p:sp>
        <p:nvSpPr>
          <p:cNvPr id="5" name="Rectangle 4"/>
          <p:cNvSpPr/>
          <p:nvPr/>
        </p:nvSpPr>
        <p:spPr>
          <a:xfrm>
            <a:off x="566928" y="2331720"/>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31720"/>
            <a:ext cx="31750" cy="18288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496312"/>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DUCT PELINDUNG</a:t>
            </a:r>
          </a:p>
        </p:txBody>
      </p:sp>
      <p:sp>
        <p:nvSpPr>
          <p:cNvPr id="8" name="TextBox 7"/>
          <p:cNvSpPr txBox="1"/>
          <p:nvPr/>
        </p:nvSpPr>
        <p:spPr>
          <a:xfrm>
            <a:off x="768096" y="2715768"/>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Aman indoor + menambah efisiensi dorong di kecepatan rendah. Ciri khas cinewhoop.</a:t>
            </a:r>
          </a:p>
        </p:txBody>
      </p:sp>
      <p:sp>
        <p:nvSpPr>
          <p:cNvPr id="9" name="Rectangle 8"/>
          <p:cNvSpPr/>
          <p:nvPr/>
        </p:nvSpPr>
        <p:spPr>
          <a:xfrm>
            <a:off x="3355848" y="2331720"/>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55848" y="2331720"/>
            <a:ext cx="31750" cy="18288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7016" y="2496312"/>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MOTOR + BILAH KARBON</a:t>
            </a:r>
          </a:p>
        </p:txBody>
      </p:sp>
      <p:sp>
        <p:nvSpPr>
          <p:cNvPr id="12" name="TextBox 11"/>
          <p:cNvSpPr txBox="1"/>
          <p:nvPr/>
        </p:nvSpPr>
        <p:spPr>
          <a:xfrm>
            <a:off x="3557016" y="2715768"/>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Torsi tinggi, respons instan. Bilah karbon kaku untuk dorongan presisi.</a:t>
            </a:r>
          </a:p>
        </p:txBody>
      </p:sp>
      <p:sp>
        <p:nvSpPr>
          <p:cNvPr id="13" name="Rectangle 12"/>
          <p:cNvSpPr/>
          <p:nvPr/>
        </p:nvSpPr>
        <p:spPr>
          <a:xfrm>
            <a:off x="6144768" y="2331720"/>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44768" y="2331720"/>
            <a:ext cx="31750" cy="18288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2496312"/>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FLIGHT CONTROLLER F7</a:t>
            </a:r>
          </a:p>
        </p:txBody>
      </p:sp>
      <p:sp>
        <p:nvSpPr>
          <p:cNvPr id="16" name="TextBox 15"/>
          <p:cNvSpPr txBox="1"/>
          <p:nvPr/>
        </p:nvSpPr>
        <p:spPr>
          <a:xfrm>
            <a:off x="6345936" y="2715768"/>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Gyro dibaca 8.000×/detik, menjalankan Betaflight — menjaga drone tetap tegak.</a:t>
            </a:r>
          </a:p>
        </p:txBody>
      </p:sp>
      <p:sp>
        <p:nvSpPr>
          <p:cNvPr id="17" name="Rectangle 16"/>
          <p:cNvSpPr/>
          <p:nvPr/>
        </p:nvSpPr>
        <p:spPr>
          <a:xfrm>
            <a:off x="8933687" y="2331720"/>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33687" y="2331720"/>
            <a:ext cx="31750" cy="18288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4855" y="2496312"/>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ESC 4-IN-1 · 35 A</a:t>
            </a:r>
          </a:p>
        </p:txBody>
      </p:sp>
      <p:sp>
        <p:nvSpPr>
          <p:cNvPr id="20" name="TextBox 19"/>
          <p:cNvSpPr txBox="1"/>
          <p:nvPr/>
        </p:nvSpPr>
        <p:spPr>
          <a:xfrm>
            <a:off x="9134855" y="2715768"/>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Protokol DShot600 — digital ber-checksum, kebal noise. Bukan PWM analog lama.</a:t>
            </a:r>
          </a:p>
        </p:txBody>
      </p:sp>
      <p:sp>
        <p:nvSpPr>
          <p:cNvPr id="21" name="Rectangle 20"/>
          <p:cNvSpPr/>
          <p:nvPr/>
        </p:nvSpPr>
        <p:spPr>
          <a:xfrm>
            <a:off x="566928" y="4306824"/>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306824"/>
            <a:ext cx="31750" cy="18288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471416"/>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HEATSINK TEMBAGA</a:t>
            </a:r>
          </a:p>
        </p:txBody>
      </p:sp>
      <p:sp>
        <p:nvSpPr>
          <p:cNvPr id="24" name="TextBox 23"/>
          <p:cNvSpPr txBox="1"/>
          <p:nvPr/>
        </p:nvSpPr>
        <p:spPr>
          <a:xfrm>
            <a:off x="768096" y="4690872"/>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Pendinginan pasif prosesor &amp; ESC — tahan hover lama tanpa overheat.</a:t>
            </a:r>
          </a:p>
        </p:txBody>
      </p:sp>
      <p:sp>
        <p:nvSpPr>
          <p:cNvPr id="25" name="Rectangle 24"/>
          <p:cNvSpPr/>
          <p:nvPr/>
        </p:nvSpPr>
        <p:spPr>
          <a:xfrm>
            <a:off x="3355848" y="4306824"/>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55848" y="4306824"/>
            <a:ext cx="31750" cy="18288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7016" y="4471416"/>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IMU + BAROMETER</a:t>
            </a:r>
          </a:p>
        </p:txBody>
      </p:sp>
      <p:sp>
        <p:nvSpPr>
          <p:cNvPr id="28" name="TextBox 27"/>
          <p:cNvSpPr txBox="1"/>
          <p:nvPr/>
        </p:nvSpPr>
        <p:spPr>
          <a:xfrm>
            <a:off x="3557016" y="4690872"/>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Stabilisasi presisi + tahan ketinggian otomatis (altitude hold).</a:t>
            </a:r>
          </a:p>
        </p:txBody>
      </p:sp>
      <p:sp>
        <p:nvSpPr>
          <p:cNvPr id="29" name="Rectangle 28"/>
          <p:cNvSpPr/>
          <p:nvPr/>
        </p:nvSpPr>
        <p:spPr>
          <a:xfrm>
            <a:off x="6144768" y="4306824"/>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44768" y="4306824"/>
            <a:ext cx="31750" cy="18288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45936" y="4471416"/>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ANTENA DIPOLE TERINTEGRASI</a:t>
            </a:r>
          </a:p>
        </p:txBody>
      </p:sp>
      <p:sp>
        <p:nvSpPr>
          <p:cNvPr id="32" name="TextBox 31"/>
          <p:cNvSpPr txBox="1"/>
          <p:nvPr/>
        </p:nvSpPr>
        <p:spPr>
          <a:xfrm>
            <a:off x="6345936" y="4690872"/>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Jangkauan sinyal video &amp; kontrol yang jernih, menyatu di bodi.</a:t>
            </a:r>
          </a:p>
        </p:txBody>
      </p:sp>
      <p:sp>
        <p:nvSpPr>
          <p:cNvPr id="33" name="Rectangle 32"/>
          <p:cNvSpPr/>
          <p:nvPr/>
        </p:nvSpPr>
        <p:spPr>
          <a:xfrm>
            <a:off x="8933687" y="4306824"/>
            <a:ext cx="2670048"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33687" y="4306824"/>
            <a:ext cx="31750" cy="1828800"/>
          </a:xfrm>
          <a:prstGeom prst="rect">
            <a:avLst/>
          </a:prstGeom>
          <a:solidFill>
            <a:srgbClr val="908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34855" y="4471416"/>
            <a:ext cx="22860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RASPBERRY PI ZERO 2 W</a:t>
            </a:r>
          </a:p>
        </p:txBody>
      </p:sp>
      <p:sp>
        <p:nvSpPr>
          <p:cNvPr id="36" name="TextBox 35"/>
          <p:cNvSpPr txBox="1"/>
          <p:nvPr/>
        </p:nvSpPr>
        <p:spPr>
          <a:xfrm>
            <a:off x="9134855" y="4690872"/>
            <a:ext cx="2286000"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EDGE-AI: deteksi objek &amp; pengenalan visual, plus merekam. Otak kecerdasan.</a:t>
            </a:r>
          </a:p>
        </p:txBody>
      </p:sp>
      <p:sp>
        <p:nvSpPr>
          <p:cNvPr id="37" name="TextBox 36"/>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Anatomi &amp; fungsi modern</a:t>
            </a:r>
          </a:p>
        </p:txBody>
      </p:sp>
      <p:sp>
        <p:nvSpPr>
          <p:cNvPr id="38" name="TextBox 37"/>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06 / 43</a:t>
            </a:r>
          </a:p>
        </p:txBody>
      </p:sp>
      <p:sp>
        <p:nvSpPr>
          <p:cNvPr id="39" name="Rectangle 38"/>
          <p:cNvSpPr/>
          <p:nvPr/>
        </p:nvSpPr>
        <p:spPr>
          <a:xfrm>
            <a:off x="0" y="6803136"/>
            <a:ext cx="1701166"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KEUNGGULAN UTAMA</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Dua otak yang bekerja </a:t>
            </a:r>
            <a:r>
              <a:rPr sz="3400" b="1">
                <a:solidFill>
                  <a:srgbClr val="F2662C"/>
                </a:solidFill>
                <a:latin typeface="Bahnschrift"/>
              </a:rPr>
              <a:t>bersama</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Inilah yang membedakan drone ini dari drone biasa: bukan satu, tapi DUA otak — masing-masing ahli di bidangnya, bekerja berdampingan.</a:t>
            </a:r>
          </a:p>
        </p:txBody>
      </p:sp>
      <p:sp>
        <p:nvSpPr>
          <p:cNvPr id="5" name="Rectangle 4"/>
          <p:cNvSpPr/>
          <p:nvPr/>
        </p:nvSpPr>
        <p:spPr>
          <a:xfrm>
            <a:off x="566928" y="2377440"/>
            <a:ext cx="5440680" cy="25146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31750" cy="25146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542032"/>
            <a:ext cx="505663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OTAK 1 · PENERBANGAN</a:t>
            </a:r>
          </a:p>
        </p:txBody>
      </p:sp>
      <p:sp>
        <p:nvSpPr>
          <p:cNvPr id="8" name="TextBox 7"/>
          <p:cNvSpPr txBox="1"/>
          <p:nvPr/>
        </p:nvSpPr>
        <p:spPr>
          <a:xfrm>
            <a:off x="768096" y="2761488"/>
            <a:ext cx="505663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Flight Controller F7</a:t>
            </a:r>
          </a:p>
        </p:txBody>
      </p:sp>
      <p:sp>
        <p:nvSpPr>
          <p:cNvPr id="9" name="TextBox 8"/>
          <p:cNvSpPr txBox="1"/>
          <p:nvPr/>
        </p:nvSpPr>
        <p:spPr>
          <a:xfrm>
            <a:off x="768096" y="3108960"/>
            <a:ext cx="5056632" cy="164592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REAL-TIME. Membaca gyro 8.000×/detik dan menjalankan loop PID Betaflight untuk menjaga drone tetap tegak &amp; stabil — tak pernah lengah sedetik pun. Fokus tunggal: MENERBANGKAN.</a:t>
            </a:r>
          </a:p>
        </p:txBody>
      </p:sp>
      <p:sp>
        <p:nvSpPr>
          <p:cNvPr id="10" name="Rectangle 9"/>
          <p:cNvSpPr/>
          <p:nvPr/>
        </p:nvSpPr>
        <p:spPr>
          <a:xfrm>
            <a:off x="6190488" y="2377440"/>
            <a:ext cx="5440680" cy="25146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0488" y="2377440"/>
            <a:ext cx="31750" cy="2514600"/>
          </a:xfrm>
          <a:prstGeom prst="rect">
            <a:avLst/>
          </a:prstGeom>
          <a:solidFill>
            <a:srgbClr val="908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6" y="2542032"/>
            <a:ext cx="505663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OTAK 2 · KECERDASAN (AI)</a:t>
            </a:r>
          </a:p>
        </p:txBody>
      </p:sp>
      <p:sp>
        <p:nvSpPr>
          <p:cNvPr id="13" name="TextBox 12"/>
          <p:cNvSpPr txBox="1"/>
          <p:nvPr/>
        </p:nvSpPr>
        <p:spPr>
          <a:xfrm>
            <a:off x="6391656" y="2761488"/>
            <a:ext cx="505663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Raspberry Pi Zero 2 W</a:t>
            </a:r>
          </a:p>
        </p:txBody>
      </p:sp>
      <p:sp>
        <p:nvSpPr>
          <p:cNvPr id="14" name="TextBox 13"/>
          <p:cNvSpPr txBox="1"/>
          <p:nvPr/>
        </p:nvSpPr>
        <p:spPr>
          <a:xfrm>
            <a:off x="6391656" y="3108960"/>
            <a:ext cx="5056632" cy="164592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LINUX QUAD-CORE. Menjalankan computer vision di edge: mendeteksi objek, mengenali visual, dan merekam. Fokusnya: MELIHAT &amp; BERPIKIR — kemampuan AI modern yang bisa terus dikembangkan.</a:t>
            </a:r>
          </a:p>
        </p:txBody>
      </p:sp>
      <p:sp>
        <p:nvSpPr>
          <p:cNvPr id="15" name="Rectangle 14"/>
          <p:cNvSpPr/>
          <p:nvPr/>
        </p:nvSpPr>
        <p:spPr>
          <a:xfrm>
            <a:off x="566928" y="5074920"/>
            <a:ext cx="11064240"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5074920"/>
            <a:ext cx="31750" cy="11430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23951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HARUS DUA OTAK?</a:t>
            </a:r>
          </a:p>
        </p:txBody>
      </p:sp>
      <p:sp>
        <p:nvSpPr>
          <p:cNvPr id="18" name="TextBox 17"/>
          <p:cNvSpPr txBox="1"/>
          <p:nvPr/>
        </p:nvSpPr>
        <p:spPr>
          <a:xfrm>
            <a:off x="768096" y="5458968"/>
            <a:ext cx="10680192"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Satu otak tak bisa melakukan keduanya sekaligus: kendali terbang butuh KETEPATAN WAKTU MUTLAK (real-time), sedangkan AI butuh DAYA KOMPUTASI BESAR di atas Linux yang tidak real-time. Dengan memisahnya, drone jadi STABIL sekaligus CERDAS — persis arsitektur 'companion computer' pada drone profesional modern. FC menerbangkan; Pi tidak pernah menyentuh kendali terbang.</a:t>
            </a:r>
          </a:p>
        </p:txBody>
      </p:sp>
      <p:sp>
        <p:nvSpPr>
          <p:cNvPr id="19" name="TextBox 18"/>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Keunggulan: dua otak</a:t>
            </a:r>
          </a:p>
        </p:txBody>
      </p:sp>
      <p:sp>
        <p:nvSpPr>
          <p:cNvPr id="20" name="TextBox 19"/>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07 / 43</a:t>
            </a:r>
          </a:p>
        </p:txBody>
      </p:sp>
      <p:sp>
        <p:nvSpPr>
          <p:cNvPr id="21" name="Rectangle 20"/>
          <p:cNvSpPr/>
          <p:nvPr/>
        </p:nvSpPr>
        <p:spPr>
          <a:xfrm>
            <a:off x="0" y="6803136"/>
            <a:ext cx="1984694"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POSISI &amp; NILAI</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Nilai sebenarnya — bukan 'baru', tapi </a:t>
            </a:r>
            <a:r>
              <a:rPr sz="3400" b="1">
                <a:solidFill>
                  <a:srgbClr val="F2662C"/>
                </a:solidFill>
                <a:latin typeface="Bahnschrift"/>
              </a:rPr>
              <a:t>'terbukti &amp; tepat'</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Kekuatannya bukan karena tak ada yang punya — arsitektur AI-companion sudah matang. Justru itu kelebihannya: terbukti, risiko rendah, dan kami terapkan untuk kebutuhan nyata dengan harga terjangkau.</a:t>
            </a:r>
          </a:p>
        </p:txBody>
      </p:sp>
      <p:sp>
        <p:nvSpPr>
          <p:cNvPr id="5" name="Rectangle 4"/>
          <p:cNvSpPr/>
          <p:nvPr/>
        </p:nvSpPr>
        <p:spPr>
          <a:xfrm>
            <a:off x="566928" y="2377440"/>
            <a:ext cx="2606040" cy="24688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31750" cy="246888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01</a:t>
            </a:r>
          </a:p>
        </p:txBody>
      </p:sp>
      <p:sp>
        <p:nvSpPr>
          <p:cNvPr id="8" name="TextBox 7"/>
          <p:cNvSpPr txBox="1"/>
          <p:nvPr/>
        </p:nvSpPr>
        <p:spPr>
          <a:xfrm>
            <a:off x="76809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Terbukti, bukan bertaruh</a:t>
            </a:r>
          </a:p>
        </p:txBody>
      </p:sp>
      <p:sp>
        <p:nvSpPr>
          <p:cNvPr id="9" name="TextBox 8"/>
          <p:cNvSpPr txBox="1"/>
          <p:nvPr/>
        </p:nvSpPr>
        <p:spPr>
          <a:xfrm>
            <a:off x="768096" y="3108960"/>
            <a:ext cx="2221992" cy="160020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Arsitektur FC + companion computer sudah matang &amp; terdokumentasi luas. Risiko teknis rendah — bukan eksperimen.</a:t>
            </a:r>
          </a:p>
        </p:txBody>
      </p:sp>
      <p:sp>
        <p:nvSpPr>
          <p:cNvPr id="10" name="Rectangle 9"/>
          <p:cNvSpPr/>
          <p:nvPr/>
        </p:nvSpPr>
        <p:spPr>
          <a:xfrm>
            <a:off x="3355848" y="2377440"/>
            <a:ext cx="2606040" cy="24688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55848" y="2377440"/>
            <a:ext cx="31750" cy="246888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701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02</a:t>
            </a:r>
          </a:p>
        </p:txBody>
      </p:sp>
      <p:sp>
        <p:nvSpPr>
          <p:cNvPr id="13" name="TextBox 12"/>
          <p:cNvSpPr txBox="1"/>
          <p:nvPr/>
        </p:nvSpPr>
        <p:spPr>
          <a:xfrm>
            <a:off x="355701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Dipahami sendiri</a:t>
            </a:r>
          </a:p>
        </p:txBody>
      </p:sp>
      <p:sp>
        <p:nvSpPr>
          <p:cNvPr id="14" name="TextBox 13"/>
          <p:cNvSpPr txBox="1"/>
          <p:nvPr/>
        </p:nvSpPr>
        <p:spPr>
          <a:xfrm>
            <a:off x="3557016" y="3108960"/>
            <a:ext cx="2221992" cy="160020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Bukan kotak hitam. Setiap sambungan, parameter, dan baris kode dikuasai tim — bisa diperbaiki &amp; dikembangkan in-house.</a:t>
            </a:r>
          </a:p>
        </p:txBody>
      </p:sp>
      <p:sp>
        <p:nvSpPr>
          <p:cNvPr id="15" name="Rectangle 14"/>
          <p:cNvSpPr/>
          <p:nvPr/>
        </p:nvSpPr>
        <p:spPr>
          <a:xfrm>
            <a:off x="6144768" y="2377440"/>
            <a:ext cx="2606040" cy="24688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2377440"/>
            <a:ext cx="31750" cy="246888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03</a:t>
            </a:r>
          </a:p>
        </p:txBody>
      </p:sp>
      <p:sp>
        <p:nvSpPr>
          <p:cNvPr id="18" name="TextBox 17"/>
          <p:cNvSpPr txBox="1"/>
          <p:nvPr/>
        </p:nvSpPr>
        <p:spPr>
          <a:xfrm>
            <a:off x="634593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Terjangkau</a:t>
            </a:r>
          </a:p>
        </p:txBody>
      </p:sp>
      <p:sp>
        <p:nvSpPr>
          <p:cNvPr id="19" name="TextBox 18"/>
          <p:cNvSpPr txBox="1"/>
          <p:nvPr/>
        </p:nvSpPr>
        <p:spPr>
          <a:xfrm>
            <a:off x="6345936" y="3108960"/>
            <a:ext cx="2221992" cy="160020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Kemampuan AI-drone di harga jauh di bawah platform pabrikan — Rp 3,5–4 jt vs puluhan juta.</a:t>
            </a:r>
          </a:p>
        </p:txBody>
      </p:sp>
      <p:sp>
        <p:nvSpPr>
          <p:cNvPr id="20" name="Rectangle 19"/>
          <p:cNvSpPr/>
          <p:nvPr/>
        </p:nvSpPr>
        <p:spPr>
          <a:xfrm>
            <a:off x="8933687" y="2377440"/>
            <a:ext cx="2606040" cy="24688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33687" y="2377440"/>
            <a:ext cx="31750" cy="246888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5"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04</a:t>
            </a:r>
          </a:p>
        </p:txBody>
      </p:sp>
      <p:sp>
        <p:nvSpPr>
          <p:cNvPr id="23" name="TextBox 22"/>
          <p:cNvSpPr txBox="1"/>
          <p:nvPr/>
        </p:nvSpPr>
        <p:spPr>
          <a:xfrm>
            <a:off x="9134855"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Terbuka, tanpa lock-in</a:t>
            </a:r>
          </a:p>
        </p:txBody>
      </p:sp>
      <p:sp>
        <p:nvSpPr>
          <p:cNvPr id="24" name="TextBox 23"/>
          <p:cNvSpPr txBox="1"/>
          <p:nvPr/>
        </p:nvSpPr>
        <p:spPr>
          <a:xfrm>
            <a:off x="9134855" y="3108960"/>
            <a:ext cx="2221992" cy="160020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Betaflight + Raspberry Pi + computer vision open-source. Bebas dikembangkan, tak terikat satu vendor.</a:t>
            </a:r>
          </a:p>
        </p:txBody>
      </p:sp>
      <p:sp>
        <p:nvSpPr>
          <p:cNvPr id="25" name="Rectangle 24"/>
          <p:cNvSpPr/>
          <p:nvPr/>
        </p:nvSpPr>
        <p:spPr>
          <a:xfrm>
            <a:off x="566928" y="5029200"/>
            <a:ext cx="11064240" cy="11887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5029200"/>
            <a:ext cx="31750" cy="118872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519379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 MANA DIARAHKAN</a:t>
            </a:r>
          </a:p>
        </p:txBody>
      </p:sp>
      <p:sp>
        <p:nvSpPr>
          <p:cNvPr id="28" name="TextBox 27"/>
          <p:cNvSpPr txBox="1"/>
          <p:nvPr/>
        </p:nvSpPr>
        <p:spPr>
          <a:xfrm>
            <a:off x="768096" y="5413248"/>
            <a:ext cx="106801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Penerapan yang paling bernilai</a:t>
            </a:r>
          </a:p>
        </p:txBody>
      </p:sp>
      <p:sp>
        <p:nvSpPr>
          <p:cNvPr id="29" name="TextBox 28"/>
          <p:cNvSpPr txBox="1"/>
          <p:nvPr/>
        </p:nvSpPr>
        <p:spPr>
          <a:xfrm>
            <a:off x="768096" y="5760720"/>
            <a:ext cx="10680192" cy="32004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Kemampuan lihat–kenali–rekam ini paling berguna untuk: INSPEKSI VISUAL (bangunan, atap, ruang sempit — aman berkat duct pelindung) · DOKUMENTASI · MONITORING &amp; DETEKSI OBJEK sederhana. Langkah berikutnya: pilih SATU sebagai fokus utama — itu yang mempertajam pitch, jauh melebihi sekadar kata 'AI'.</a:t>
            </a:r>
          </a:p>
        </p:txBody>
      </p:sp>
      <p:sp>
        <p:nvSpPr>
          <p:cNvPr id="30" name="TextBox 29"/>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Posisi &amp; nilai</a:t>
            </a:r>
          </a:p>
        </p:txBody>
      </p:sp>
      <p:sp>
        <p:nvSpPr>
          <p:cNvPr id="31" name="TextBox 30"/>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08 / 43</a:t>
            </a:r>
          </a:p>
        </p:txBody>
      </p:sp>
      <p:sp>
        <p:nvSpPr>
          <p:cNvPr id="32" name="Rectangle 31"/>
          <p:cNvSpPr/>
          <p:nvPr/>
        </p:nvSpPr>
        <p:spPr>
          <a:xfrm>
            <a:off x="0" y="6803136"/>
            <a:ext cx="2268222"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ALUR DISKUSI</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Empat bagian, dua pertanyaan besar</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Paruh pertama menguji apakah rancangan ini benar secara TEKNIS. Paruh kedua menguji apakah ia masuk akal secara BIAYA dan WAKTU.</a:t>
            </a:r>
          </a:p>
        </p:txBody>
      </p:sp>
      <p:sp>
        <p:nvSpPr>
          <p:cNvPr id="5" name="Rectangle 4"/>
          <p:cNvSpPr/>
          <p:nvPr/>
        </p:nvSpPr>
        <p:spPr>
          <a:xfrm>
            <a:off x="566928" y="2377440"/>
            <a:ext cx="2606040" cy="3108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31750" cy="31089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BAGIAN 1 · 5 MENIT</a:t>
            </a:r>
          </a:p>
        </p:txBody>
      </p:sp>
      <p:sp>
        <p:nvSpPr>
          <p:cNvPr id="8" name="TextBox 7"/>
          <p:cNvSpPr txBox="1"/>
          <p:nvPr/>
        </p:nvSpPr>
        <p:spPr>
          <a:xfrm>
            <a:off x="76809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Peta Industri 2026</a:t>
            </a:r>
          </a:p>
        </p:txBody>
      </p:sp>
      <p:sp>
        <p:nvSpPr>
          <p:cNvPr id="9" name="TextBox 8"/>
          <p:cNvSpPr txBox="1"/>
          <p:nvPr/>
        </p:nvSpPr>
        <p:spPr>
          <a:xfrm>
            <a:off x="768096" y="3108960"/>
            <a:ext cx="2221992" cy="22402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Kelas-kelas drone, pergeseran analog ke digital, ekosistem yang sudah jadi standar, dan aturan yang berlaku di Indonesia.</a:t>
            </a:r>
          </a:p>
        </p:txBody>
      </p:sp>
      <p:sp>
        <p:nvSpPr>
          <p:cNvPr id="10" name="Rectangle 9"/>
          <p:cNvSpPr/>
          <p:nvPr/>
        </p:nvSpPr>
        <p:spPr>
          <a:xfrm>
            <a:off x="3355848" y="2377440"/>
            <a:ext cx="2606040" cy="3108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55848" y="2377440"/>
            <a:ext cx="31750" cy="31089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701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BAGIAN 2 · 8 MENIT</a:t>
            </a:r>
          </a:p>
        </p:txBody>
      </p:sp>
      <p:sp>
        <p:nvSpPr>
          <p:cNvPr id="13" name="TextBox 12"/>
          <p:cNvSpPr txBox="1"/>
          <p:nvPr/>
        </p:nvSpPr>
        <p:spPr>
          <a:xfrm>
            <a:off x="355701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Rancangan Kami</a:t>
            </a:r>
          </a:p>
        </p:txBody>
      </p:sp>
      <p:sp>
        <p:nvSpPr>
          <p:cNvPr id="14" name="TextBox 13"/>
          <p:cNvSpPr txBox="1"/>
          <p:nvPr/>
        </p:nvSpPr>
        <p:spPr>
          <a:xfrm>
            <a:off x="3557016" y="3108960"/>
            <a:ext cx="2221992" cy="22402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Konsep, komponen terpilih, distribusi bobot dan biaya, serta perhitungan yang menentukan drone ini terbang atau tidak.</a:t>
            </a:r>
          </a:p>
        </p:txBody>
      </p:sp>
      <p:sp>
        <p:nvSpPr>
          <p:cNvPr id="15" name="Rectangle 14"/>
          <p:cNvSpPr/>
          <p:nvPr/>
        </p:nvSpPr>
        <p:spPr>
          <a:xfrm>
            <a:off x="6144768" y="2377440"/>
            <a:ext cx="2606040" cy="3108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2377440"/>
            <a:ext cx="31750" cy="31089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BAGIAN 3 · 7 MENIT</a:t>
            </a:r>
          </a:p>
        </p:txBody>
      </p:sp>
      <p:sp>
        <p:nvSpPr>
          <p:cNvPr id="18" name="TextBox 17"/>
          <p:cNvSpPr txBox="1"/>
          <p:nvPr/>
        </p:nvSpPr>
        <p:spPr>
          <a:xfrm>
            <a:off x="634593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Sistem &amp; Firmware</a:t>
            </a:r>
          </a:p>
        </p:txBody>
      </p:sp>
      <p:sp>
        <p:nvSpPr>
          <p:cNvPr id="19" name="TextBox 18"/>
          <p:cNvSpPr txBox="1"/>
          <p:nvPr/>
        </p:nvSpPr>
        <p:spPr>
          <a:xfrm>
            <a:off x="6345936" y="3108960"/>
            <a:ext cx="2221992" cy="22402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Arsitektur tiga jalur, loop kendali 8 kHz, PID, mixer, dan lapisan keselamatan yang menjaga manusia.</a:t>
            </a:r>
          </a:p>
        </p:txBody>
      </p:sp>
      <p:sp>
        <p:nvSpPr>
          <p:cNvPr id="20" name="Rectangle 19"/>
          <p:cNvSpPr/>
          <p:nvPr/>
        </p:nvSpPr>
        <p:spPr>
          <a:xfrm>
            <a:off x="8933687" y="2377440"/>
            <a:ext cx="2606040" cy="3108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33687" y="2377440"/>
            <a:ext cx="31750" cy="31089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5"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BAGIAN 4 · 8 MENIT</a:t>
            </a:r>
          </a:p>
        </p:txBody>
      </p:sp>
      <p:sp>
        <p:nvSpPr>
          <p:cNvPr id="23" name="TextBox 22"/>
          <p:cNvSpPr txBox="1"/>
          <p:nvPr/>
        </p:nvSpPr>
        <p:spPr>
          <a:xfrm>
            <a:off x="9134855"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Anggaran &amp; Roadmap</a:t>
            </a:r>
          </a:p>
        </p:txBody>
      </p:sp>
      <p:sp>
        <p:nvSpPr>
          <p:cNvPr id="24" name="TextBox 23"/>
          <p:cNvSpPr txBox="1"/>
          <p:nvPr/>
        </p:nvSpPr>
        <p:spPr>
          <a:xfrm>
            <a:off x="9134855" y="3108960"/>
            <a:ext cx="2221992" cy="22402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Tiga tingkat anggaran, timeline delapan minggu, risiko dan mitigasinya, lalu tiga keputusan yang diminta hari ini.</a:t>
            </a:r>
          </a:p>
        </p:txBody>
      </p:sp>
      <p:sp>
        <p:nvSpPr>
          <p:cNvPr id="25" name="TextBox 24"/>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Agenda</a:t>
            </a:r>
          </a:p>
        </p:txBody>
      </p:sp>
      <p:sp>
        <p:nvSpPr>
          <p:cNvPr id="26" name="TextBox 25"/>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09 / 43</a:t>
            </a:r>
          </a:p>
        </p:txBody>
      </p:sp>
      <p:sp>
        <p:nvSpPr>
          <p:cNvPr id="27" name="Rectangle 26"/>
          <p:cNvSpPr/>
          <p:nvPr/>
        </p:nvSpPr>
        <p:spPr>
          <a:xfrm>
            <a:off x="0" y="6803136"/>
            <a:ext cx="2551750"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RINGKASAN EKSEKUTIF</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Empat angka yang merangkum seluruh rancangan</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Quadcopter 5 inci bertenaga 6S untuk freestyle: cukup lincah untuk akrobatik, cukup sederhana untuk dirakit sebagai proyek pertama.</a:t>
            </a:r>
          </a:p>
        </p:txBody>
      </p:sp>
      <p:sp>
        <p:nvSpPr>
          <p:cNvPr id="5" name="Rectangle 4"/>
          <p:cNvSpPr/>
          <p:nvPr/>
        </p:nvSpPr>
        <p:spPr>
          <a:xfrm>
            <a:off x="566928" y="23317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31720"/>
            <a:ext cx="2606040"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4780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THRUST-TO-WEIGHT</a:t>
            </a:r>
          </a:p>
        </p:txBody>
      </p:sp>
      <p:sp>
        <p:nvSpPr>
          <p:cNvPr id="8" name="TextBox 7"/>
          <p:cNvSpPr txBox="1"/>
          <p:nvPr/>
        </p:nvSpPr>
        <p:spPr>
          <a:xfrm>
            <a:off x="749808" y="2697480"/>
            <a:ext cx="2331720" cy="457200"/>
          </a:xfrm>
          <a:prstGeom prst="rect">
            <a:avLst/>
          </a:prstGeom>
          <a:noFill/>
        </p:spPr>
        <p:txBody>
          <a:bodyPr wrap="none" lIns="0" tIns="0">
            <a:spAutoFit/>
          </a:bodyPr>
          <a:lstStyle/>
          <a:p>
            <a:r>
              <a:rPr sz="3000" b="1">
                <a:solidFill>
                  <a:srgbClr val="F2662C"/>
                </a:solidFill>
                <a:latin typeface="Bahnschrift"/>
              </a:rPr>
              <a:t>7,0</a:t>
            </a:r>
            <a:r>
              <a:rPr sz="1300">
                <a:solidFill>
                  <a:srgbClr val="A9B4BE"/>
                </a:solidFill>
                <a:latin typeface="Segoe UI"/>
              </a:rPr>
              <a:t> : 1</a:t>
            </a:r>
          </a:p>
        </p:txBody>
      </p:sp>
      <p:sp>
        <p:nvSpPr>
          <p:cNvPr id="9" name="TextBox 8"/>
          <p:cNvSpPr txBox="1"/>
          <p:nvPr/>
        </p:nvSpPr>
        <p:spPr>
          <a:xfrm>
            <a:off x="749808" y="32278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Sanggup mengangkat 7× bobotnya sendiri. Di bawah 3:1 tak bisa pulih dari dive.</a:t>
            </a:r>
          </a:p>
        </p:txBody>
      </p:sp>
      <p:sp>
        <p:nvSpPr>
          <p:cNvPr id="10" name="Rectangle 9"/>
          <p:cNvSpPr/>
          <p:nvPr/>
        </p:nvSpPr>
        <p:spPr>
          <a:xfrm>
            <a:off x="3355848" y="23317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55848" y="2331720"/>
            <a:ext cx="2606040"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8728" y="24780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MASSA TERBANG</a:t>
            </a:r>
          </a:p>
        </p:txBody>
      </p:sp>
      <p:sp>
        <p:nvSpPr>
          <p:cNvPr id="13" name="TextBox 12"/>
          <p:cNvSpPr txBox="1"/>
          <p:nvPr/>
        </p:nvSpPr>
        <p:spPr>
          <a:xfrm>
            <a:off x="3538728" y="2697480"/>
            <a:ext cx="2331720" cy="457200"/>
          </a:xfrm>
          <a:prstGeom prst="rect">
            <a:avLst/>
          </a:prstGeom>
          <a:noFill/>
        </p:spPr>
        <p:txBody>
          <a:bodyPr wrap="none" lIns="0" tIns="0">
            <a:spAutoFit/>
          </a:bodyPr>
          <a:lstStyle/>
          <a:p>
            <a:r>
              <a:rPr sz="3000" b="1">
                <a:solidFill>
                  <a:srgbClr val="ECEFF2"/>
                </a:solidFill>
                <a:latin typeface="Bahnschrift"/>
              </a:rPr>
              <a:t>685</a:t>
            </a:r>
            <a:r>
              <a:rPr sz="1300">
                <a:solidFill>
                  <a:srgbClr val="A9B4BE"/>
                </a:solidFill>
                <a:latin typeface="Segoe UI"/>
              </a:rPr>
              <a:t> g</a:t>
            </a:r>
          </a:p>
        </p:txBody>
      </p:sp>
      <p:sp>
        <p:nvSpPr>
          <p:cNvPr id="14" name="TextBox 13"/>
          <p:cNvSpPr txBox="1"/>
          <p:nvPr/>
        </p:nvSpPr>
        <p:spPr>
          <a:xfrm>
            <a:off x="3538728" y="32278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Sweet spot kelas 5" ada di 650–750 g. Lebih berat = malas berputar.</a:t>
            </a:r>
          </a:p>
        </p:txBody>
      </p:sp>
      <p:sp>
        <p:nvSpPr>
          <p:cNvPr id="15" name="Rectangle 14"/>
          <p:cNvSpPr/>
          <p:nvPr/>
        </p:nvSpPr>
        <p:spPr>
          <a:xfrm>
            <a:off x="6144768" y="23317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2331720"/>
            <a:ext cx="2606040"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24780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BIAYA DRONE</a:t>
            </a:r>
          </a:p>
        </p:txBody>
      </p:sp>
      <p:sp>
        <p:nvSpPr>
          <p:cNvPr id="18" name="TextBox 17"/>
          <p:cNvSpPr txBox="1"/>
          <p:nvPr/>
        </p:nvSpPr>
        <p:spPr>
          <a:xfrm>
            <a:off x="6327648" y="2697480"/>
            <a:ext cx="2331720" cy="457200"/>
          </a:xfrm>
          <a:prstGeom prst="rect">
            <a:avLst/>
          </a:prstGeom>
          <a:noFill/>
        </p:spPr>
        <p:txBody>
          <a:bodyPr wrap="none" lIns="0" tIns="0">
            <a:spAutoFit/>
          </a:bodyPr>
          <a:lstStyle/>
          <a:p>
            <a:r>
              <a:rPr sz="3000" b="1">
                <a:solidFill>
                  <a:srgbClr val="ECEFF2"/>
                </a:solidFill>
                <a:latin typeface="Bahnschrift"/>
              </a:rPr>
              <a:t>5,3</a:t>
            </a:r>
            <a:r>
              <a:rPr sz="1300">
                <a:solidFill>
                  <a:srgbClr val="A9B4BE"/>
                </a:solidFill>
                <a:latin typeface="Segoe UI"/>
              </a:rPr>
              <a:t> jt</a:t>
            </a:r>
          </a:p>
        </p:txBody>
      </p:sp>
      <p:sp>
        <p:nvSpPr>
          <p:cNvPr id="19" name="TextBox 18"/>
          <p:cNvSpPr txBox="1"/>
          <p:nvPr/>
        </p:nvSpPr>
        <p:spPr>
          <a:xfrm>
            <a:off x="6327648" y="32278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Komponen yang menempel di drone. Estimasi — belum diverifikasi.</a:t>
            </a:r>
          </a:p>
        </p:txBody>
      </p:sp>
      <p:sp>
        <p:nvSpPr>
          <p:cNvPr id="20" name="Rectangle 19"/>
          <p:cNvSpPr/>
          <p:nvPr/>
        </p:nvSpPr>
        <p:spPr>
          <a:xfrm>
            <a:off x="8933687" y="23317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33687" y="2331720"/>
            <a:ext cx="2606040"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16567" y="24780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TOTAL + PERLENGKAPAN</a:t>
            </a:r>
          </a:p>
        </p:txBody>
      </p:sp>
      <p:sp>
        <p:nvSpPr>
          <p:cNvPr id="23" name="TextBox 22"/>
          <p:cNvSpPr txBox="1"/>
          <p:nvPr/>
        </p:nvSpPr>
        <p:spPr>
          <a:xfrm>
            <a:off x="9116567" y="2697480"/>
            <a:ext cx="2331720" cy="457200"/>
          </a:xfrm>
          <a:prstGeom prst="rect">
            <a:avLst/>
          </a:prstGeom>
          <a:noFill/>
        </p:spPr>
        <p:txBody>
          <a:bodyPr wrap="none" lIns="0" tIns="0">
            <a:spAutoFit/>
          </a:bodyPr>
          <a:lstStyle/>
          <a:p>
            <a:r>
              <a:rPr sz="3000" b="1">
                <a:solidFill>
                  <a:srgbClr val="ECEFF2"/>
                </a:solidFill>
                <a:latin typeface="Bahnschrift"/>
              </a:rPr>
              <a:t>12,3</a:t>
            </a:r>
            <a:r>
              <a:rPr sz="1300">
                <a:solidFill>
                  <a:srgbClr val="A9B4BE"/>
                </a:solidFill>
                <a:latin typeface="Segoe UI"/>
              </a:rPr>
              <a:t> jt</a:t>
            </a:r>
          </a:p>
        </p:txBody>
      </p:sp>
      <p:sp>
        <p:nvSpPr>
          <p:cNvPr id="24" name="TextBox 23"/>
          <p:cNvSpPr txBox="1"/>
          <p:nvPr/>
        </p:nvSpPr>
        <p:spPr>
          <a:xfrm>
            <a:off x="9116567" y="32278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Termasuk radio, goggles, charger, alat solder.</a:t>
            </a:r>
          </a:p>
        </p:txBody>
      </p:sp>
      <p:sp>
        <p:nvSpPr>
          <p:cNvPr id="25" name="Rectangle 24"/>
          <p:cNvSpPr/>
          <p:nvPr/>
        </p:nvSpPr>
        <p:spPr>
          <a:xfrm>
            <a:off x="566928" y="4023360"/>
            <a:ext cx="3538728" cy="19202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8795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6S, BUKAN 4S</a:t>
            </a:r>
          </a:p>
        </p:txBody>
      </p:sp>
      <p:sp>
        <p:nvSpPr>
          <p:cNvPr id="27" name="TextBox 26"/>
          <p:cNvSpPr txBox="1"/>
          <p:nvPr/>
        </p:nvSpPr>
        <p:spPr>
          <a:xfrm>
            <a:off x="768096" y="4407408"/>
            <a:ext cx="3154680" cy="139903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Daya = Volt × Ampere. Pada daya sama, 6S hanya menarik DUA PERTIGA arus dari 4S — kabel lebih tipis, ESC lebih adem, sag voltase lebih kecil, throttle lebih tajam.</a:t>
            </a:r>
          </a:p>
        </p:txBody>
      </p:sp>
      <p:sp>
        <p:nvSpPr>
          <p:cNvPr id="28" name="Rectangle 27"/>
          <p:cNvSpPr/>
          <p:nvPr/>
        </p:nvSpPr>
        <p:spPr>
          <a:xfrm>
            <a:off x="4288536" y="4023360"/>
            <a:ext cx="3538728" cy="19202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9704" y="418795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5 INCI</a:t>
            </a:r>
          </a:p>
        </p:txBody>
      </p:sp>
      <p:sp>
        <p:nvSpPr>
          <p:cNvPr id="30" name="TextBox 29"/>
          <p:cNvSpPr txBox="1"/>
          <p:nvPr/>
        </p:nvSpPr>
        <p:spPr>
          <a:xfrm>
            <a:off x="4489704" y="4407408"/>
            <a:ext cx="3154680" cy="139903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Kelas paling matang: komponen melimpah, harga wajar, komunitas terbesar sehingga setiap masalah sudah pernah dipecahkan orang lain.</a:t>
            </a:r>
          </a:p>
        </p:txBody>
      </p:sp>
      <p:sp>
        <p:nvSpPr>
          <p:cNvPr id="31" name="Rectangle 30"/>
          <p:cNvSpPr/>
          <p:nvPr/>
        </p:nvSpPr>
        <p:spPr>
          <a:xfrm>
            <a:off x="8010144" y="4023360"/>
            <a:ext cx="3538728" cy="19202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11312" y="418795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DIRAKIT SENDIRI</a:t>
            </a:r>
          </a:p>
        </p:txBody>
      </p:sp>
      <p:sp>
        <p:nvSpPr>
          <p:cNvPr id="33" name="TextBox 32"/>
          <p:cNvSpPr txBox="1"/>
          <p:nvPr/>
        </p:nvSpPr>
        <p:spPr>
          <a:xfrm>
            <a:off x="8211312" y="4407408"/>
            <a:ext cx="3154680" cy="139903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Drone jadi (RTF) lebih cepat terbang, tapi saat rusak kita tidak tahu apa-apa. Merakit sendiri berarti setiap kegagalan bisa kita perbaiki sendiri.</a:t>
            </a:r>
          </a:p>
        </p:txBody>
      </p:sp>
      <p:sp>
        <p:nvSpPr>
          <p:cNvPr id="34" name="TextBox 33"/>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Ringkasan eksekutif</a:t>
            </a:r>
          </a:p>
        </p:txBody>
      </p:sp>
      <p:sp>
        <p:nvSpPr>
          <p:cNvPr id="35" name="TextBox 34"/>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10 / 43</a:t>
            </a:r>
          </a:p>
        </p:txBody>
      </p:sp>
      <p:sp>
        <p:nvSpPr>
          <p:cNvPr id="36" name="Rectangle 35"/>
          <p:cNvSpPr/>
          <p:nvPr/>
        </p:nvSpPr>
        <p:spPr>
          <a:xfrm>
            <a:off x="0" y="6803136"/>
            <a:ext cx="2835277"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1 · PETA INDUSTRI</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Di mana rancangan ini berdiri</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Kelas drone ditentukan oleh DIAMETER PROPELLER — dan itu menentukan segalanya: bobot, durasi terbang, harga, dan tingkat kesulitan menerbangkannya.</a:t>
            </a:r>
          </a:p>
        </p:txBody>
      </p:sp>
      <p:graphicFrame>
        <p:nvGraphicFramePr>
          <p:cNvPr id="5" name="Table 4"/>
          <p:cNvGraphicFramePr>
            <a:graphicFrameLocks noGrp="1"/>
          </p:cNvGraphicFramePr>
          <p:nvPr/>
        </p:nvGraphicFramePr>
        <p:xfrm>
          <a:off x="566928" y="2240280"/>
          <a:ext cx="11064238" cy="2688336"/>
        </p:xfrm>
        <a:graphic>
          <a:graphicData uri="http://schemas.openxmlformats.org/drawingml/2006/table">
            <a:tbl>
              <a:tblPr firstRow="0" bandRow="0">
                <a:tableStyleId>{5C22544A-7EE6-4342-B048-85BDC9FD1C3A}</a:tableStyleId>
              </a:tblPr>
              <a:tblGrid>
                <a:gridCol w="2212848"/>
                <a:gridCol w="774496"/>
                <a:gridCol w="1106424"/>
                <a:gridCol w="1106424"/>
                <a:gridCol w="995781"/>
                <a:gridCol w="3319272"/>
                <a:gridCol w="1548993"/>
              </a:tblGrid>
              <a:tr h="384048">
                <a:tc>
                  <a:txBody>
                    <a:bodyPr/>
                    <a:lstStyle/>
                    <a:p>
                      <a:r>
                        <a:rPr sz="850" b="1">
                          <a:solidFill>
                            <a:srgbClr val="6F7C88"/>
                          </a:solidFill>
                          <a:latin typeface="Consolas"/>
                        </a:rPr>
                        <a:t>KELAS</a:t>
                      </a:r>
                    </a:p>
                  </a:txBody>
                  <a:tcPr marL="73152" marR="73152" anchor="ctr">
                    <a:solidFill>
                      <a:srgbClr val="182029"/>
                    </a:solidFill>
                  </a:tcPr>
                </a:tc>
                <a:tc>
                  <a:txBody>
                    <a:bodyPr/>
                    <a:lstStyle/>
                    <a:p>
                      <a:pPr algn="r"/>
                      <a:r>
                        <a:rPr sz="850" b="1">
                          <a:solidFill>
                            <a:srgbClr val="6F7C88"/>
                          </a:solidFill>
                          <a:latin typeface="Consolas"/>
                        </a:rPr>
                        <a:t>PROP</a:t>
                      </a:r>
                    </a:p>
                  </a:txBody>
                  <a:tcPr marL="73152" marR="73152" anchor="ctr">
                    <a:solidFill>
                      <a:srgbClr val="182029"/>
                    </a:solidFill>
                  </a:tcPr>
                </a:tc>
                <a:tc>
                  <a:txBody>
                    <a:bodyPr/>
                    <a:lstStyle/>
                    <a:p>
                      <a:pPr algn="r"/>
                      <a:r>
                        <a:rPr sz="850" b="1">
                          <a:solidFill>
                            <a:srgbClr val="6F7C88"/>
                          </a:solidFill>
                          <a:latin typeface="Consolas"/>
                        </a:rPr>
                        <a:t>AUW</a:t>
                      </a:r>
                    </a:p>
                  </a:txBody>
                  <a:tcPr marL="73152" marR="73152" anchor="ctr">
                    <a:solidFill>
                      <a:srgbClr val="182029"/>
                    </a:solidFill>
                  </a:tcPr>
                </a:tc>
                <a:tc>
                  <a:txBody>
                    <a:bodyPr/>
                    <a:lstStyle/>
                    <a:p>
                      <a:pPr algn="r"/>
                      <a:r>
                        <a:rPr sz="850" b="1">
                          <a:solidFill>
                            <a:srgbClr val="6F7C88"/>
                          </a:solidFill>
                          <a:latin typeface="Consolas"/>
                        </a:rPr>
                        <a:t>DURASI</a:t>
                      </a:r>
                    </a:p>
                  </a:txBody>
                  <a:tcPr marL="73152" marR="73152" anchor="ctr">
                    <a:solidFill>
                      <a:srgbClr val="182029"/>
                    </a:solidFill>
                  </a:tcPr>
                </a:tc>
                <a:tc>
                  <a:txBody>
                    <a:bodyPr/>
                    <a:lstStyle/>
                    <a:p>
                      <a:pPr algn="r"/>
                      <a:r>
                        <a:rPr sz="850" b="1">
                          <a:solidFill>
                            <a:srgbClr val="6F7C88"/>
                          </a:solidFill>
                          <a:latin typeface="Consolas"/>
                        </a:rPr>
                        <a:t>BIAYA</a:t>
                      </a:r>
                    </a:p>
                  </a:txBody>
                  <a:tcPr marL="73152" marR="73152" anchor="ctr">
                    <a:solidFill>
                      <a:srgbClr val="182029"/>
                    </a:solidFill>
                  </a:tcPr>
                </a:tc>
                <a:tc>
                  <a:txBody>
                    <a:bodyPr/>
                    <a:lstStyle/>
                    <a:p>
                      <a:r>
                        <a:rPr sz="850" b="1">
                          <a:solidFill>
                            <a:srgbClr val="6F7C88"/>
                          </a:solidFill>
                          <a:latin typeface="Consolas"/>
                        </a:rPr>
                        <a:t>PERUNTUKAN</a:t>
                      </a:r>
                    </a:p>
                  </a:txBody>
                  <a:tcPr marL="73152" marR="73152" anchor="ctr">
                    <a:solidFill>
                      <a:srgbClr val="182029"/>
                    </a:solidFill>
                  </a:tcPr>
                </a:tc>
                <a:tc>
                  <a:txBody>
                    <a:bodyPr/>
                    <a:lstStyle/>
                    <a:p>
                      <a:r>
                        <a:rPr sz="850" b="1">
                          <a:solidFill>
                            <a:srgbClr val="6F7C88"/>
                          </a:solidFill>
                          <a:latin typeface="Consolas"/>
                        </a:rPr>
                        <a:t>KESULITAN</a:t>
                      </a:r>
                    </a:p>
                  </a:txBody>
                  <a:tcPr marL="73152" marR="73152" anchor="ctr">
                    <a:solidFill>
                      <a:srgbClr val="182029"/>
                    </a:solidFill>
                  </a:tcPr>
                </a:tc>
              </a:tr>
              <a:tr h="384048">
                <a:tc>
                  <a:txBody>
                    <a:bodyPr wrap="square"/>
                    <a:lstStyle/>
                    <a:p>
                      <a:r>
                        <a:rPr sz="1050" b="1">
                          <a:solidFill>
                            <a:srgbClr val="ECEFF2"/>
                          </a:solidFill>
                          <a:latin typeface="Segoe UI"/>
                        </a:rPr>
                        <a:t>Tinywhoop</a:t>
                      </a:r>
                    </a:p>
                  </a:txBody>
                  <a:tcPr marL="73152" marR="73152" marT="36576" marB="36576" anchor="t">
                    <a:solidFill>
                      <a:srgbClr val="12171D"/>
                    </a:solidFill>
                  </a:tcPr>
                </a:tc>
                <a:tc>
                  <a:txBody>
                    <a:bodyPr wrap="square"/>
                    <a:lstStyle/>
                    <a:p>
                      <a:pPr algn="r"/>
                      <a:r>
                        <a:rPr sz="1050">
                          <a:solidFill>
                            <a:srgbClr val="A9B4BE"/>
                          </a:solidFill>
                          <a:latin typeface="Consolas"/>
                        </a:rPr>
                        <a:t>1–2"</a:t>
                      </a:r>
                    </a:p>
                  </a:txBody>
                  <a:tcPr marL="73152" marR="73152" marT="36576" marB="36576" anchor="t">
                    <a:solidFill>
                      <a:srgbClr val="12171D"/>
                    </a:solidFill>
                  </a:tcPr>
                </a:tc>
                <a:tc>
                  <a:txBody>
                    <a:bodyPr wrap="square"/>
                    <a:lstStyle/>
                    <a:p>
                      <a:pPr algn="r"/>
                      <a:r>
                        <a:rPr sz="1050">
                          <a:solidFill>
                            <a:srgbClr val="A9B4BE"/>
                          </a:solidFill>
                          <a:latin typeface="Consolas"/>
                        </a:rPr>
                        <a:t>30–60 g</a:t>
                      </a:r>
                    </a:p>
                  </a:txBody>
                  <a:tcPr marL="73152" marR="73152" marT="36576" marB="36576" anchor="t">
                    <a:solidFill>
                      <a:srgbClr val="12171D"/>
                    </a:solidFill>
                  </a:tcPr>
                </a:tc>
                <a:tc>
                  <a:txBody>
                    <a:bodyPr wrap="square"/>
                    <a:lstStyle/>
                    <a:p>
                      <a:pPr algn="r"/>
                      <a:r>
                        <a:rPr sz="1050">
                          <a:solidFill>
                            <a:srgbClr val="A9B4BE"/>
                          </a:solidFill>
                          <a:latin typeface="Consolas"/>
                        </a:rPr>
                        <a:t>3–4 mnt</a:t>
                      </a:r>
                    </a:p>
                  </a:txBody>
                  <a:tcPr marL="73152" marR="73152" marT="36576" marB="36576" anchor="t">
                    <a:solidFill>
                      <a:srgbClr val="12171D"/>
                    </a:solidFill>
                  </a:tcPr>
                </a:tc>
                <a:tc>
                  <a:txBody>
                    <a:bodyPr wrap="square"/>
                    <a:lstStyle/>
                    <a:p>
                      <a:pPr algn="r"/>
                      <a:r>
                        <a:rPr sz="1050">
                          <a:solidFill>
                            <a:srgbClr val="A9B4BE"/>
                          </a:solidFill>
                          <a:latin typeface="Consolas"/>
                        </a:rPr>
                        <a:t>1,5 jt</a:t>
                      </a:r>
                    </a:p>
                  </a:txBody>
                  <a:tcPr marL="73152" marR="73152" marT="36576" marB="36576" anchor="t">
                    <a:solidFill>
                      <a:srgbClr val="12171D"/>
                    </a:solidFill>
                  </a:tcPr>
                </a:tc>
                <a:tc>
                  <a:txBody>
                    <a:bodyPr wrap="square"/>
                    <a:lstStyle/>
                    <a:p>
                      <a:r>
                        <a:rPr sz="1050">
                          <a:solidFill>
                            <a:srgbClr val="A9B4BE"/>
                          </a:solidFill>
                          <a:latin typeface="Segoe UI"/>
                        </a:rPr>
                        <a:t>Latihan dalam ruangan, aman dekat orang</a:t>
                      </a:r>
                    </a:p>
                  </a:txBody>
                  <a:tcPr marL="73152" marR="73152" marT="36576" marB="36576" anchor="t">
                    <a:solidFill>
                      <a:srgbClr val="12171D"/>
                    </a:solidFill>
                  </a:tcPr>
                </a:tc>
                <a:tc>
                  <a:txBody>
                    <a:bodyPr wrap="square"/>
                    <a:lstStyle/>
                    <a:p>
                      <a:r>
                        <a:rPr sz="1050">
                          <a:solidFill>
                            <a:srgbClr val="A9B4BE"/>
                          </a:solidFill>
                          <a:latin typeface="Segoe UI"/>
                        </a:rPr>
                        <a:t>Pemula</a:t>
                      </a:r>
                    </a:p>
                  </a:txBody>
                  <a:tcPr marL="73152" marR="73152" marT="36576" marB="36576" anchor="t">
                    <a:solidFill>
                      <a:srgbClr val="12171D"/>
                    </a:solidFill>
                  </a:tcPr>
                </a:tc>
              </a:tr>
              <a:tr h="384048">
                <a:tc>
                  <a:txBody>
                    <a:bodyPr wrap="square"/>
                    <a:lstStyle/>
                    <a:p>
                      <a:r>
                        <a:rPr sz="1050" b="1">
                          <a:solidFill>
                            <a:srgbClr val="ECEFF2"/>
                          </a:solidFill>
                          <a:latin typeface="Segoe UI"/>
                        </a:rPr>
                        <a:t>Micro / Toothpick</a:t>
                      </a:r>
                    </a:p>
                  </a:txBody>
                  <a:tcPr marL="73152" marR="73152" marT="36576" marB="36576" anchor="t">
                    <a:solidFill>
                      <a:srgbClr val="12171D"/>
                    </a:solidFill>
                  </a:tcPr>
                </a:tc>
                <a:tc>
                  <a:txBody>
                    <a:bodyPr wrap="square"/>
                    <a:lstStyle/>
                    <a:p>
                      <a:pPr algn="r"/>
                      <a:r>
                        <a:rPr sz="1050">
                          <a:solidFill>
                            <a:srgbClr val="A9B4BE"/>
                          </a:solidFill>
                          <a:latin typeface="Consolas"/>
                        </a:rPr>
                        <a:t>2,5–3"</a:t>
                      </a:r>
                    </a:p>
                  </a:txBody>
                  <a:tcPr marL="73152" marR="73152" marT="36576" marB="36576" anchor="t">
                    <a:solidFill>
                      <a:srgbClr val="12171D"/>
                    </a:solidFill>
                  </a:tcPr>
                </a:tc>
                <a:tc>
                  <a:txBody>
                    <a:bodyPr wrap="square"/>
                    <a:lstStyle/>
                    <a:p>
                      <a:pPr algn="r"/>
                      <a:r>
                        <a:rPr sz="1050">
                          <a:solidFill>
                            <a:srgbClr val="A9B4BE"/>
                          </a:solidFill>
                          <a:latin typeface="Consolas"/>
                        </a:rPr>
                        <a:t>80–150 g</a:t>
                      </a:r>
                    </a:p>
                  </a:txBody>
                  <a:tcPr marL="73152" marR="73152" marT="36576" marB="36576" anchor="t">
                    <a:solidFill>
                      <a:srgbClr val="12171D"/>
                    </a:solidFill>
                  </a:tcPr>
                </a:tc>
                <a:tc>
                  <a:txBody>
                    <a:bodyPr wrap="square"/>
                    <a:lstStyle/>
                    <a:p>
                      <a:pPr algn="r"/>
                      <a:r>
                        <a:rPr sz="1050">
                          <a:solidFill>
                            <a:srgbClr val="A9B4BE"/>
                          </a:solidFill>
                          <a:latin typeface="Consolas"/>
                        </a:rPr>
                        <a:t>4–5 mnt</a:t>
                      </a:r>
                    </a:p>
                  </a:txBody>
                  <a:tcPr marL="73152" marR="73152" marT="36576" marB="36576" anchor="t">
                    <a:solidFill>
                      <a:srgbClr val="12171D"/>
                    </a:solidFill>
                  </a:tcPr>
                </a:tc>
                <a:tc>
                  <a:txBody>
                    <a:bodyPr wrap="square"/>
                    <a:lstStyle/>
                    <a:p>
                      <a:pPr algn="r"/>
                      <a:r>
                        <a:rPr sz="1050">
                          <a:solidFill>
                            <a:srgbClr val="A9B4BE"/>
                          </a:solidFill>
                          <a:latin typeface="Consolas"/>
                        </a:rPr>
                        <a:t>2,5 jt</a:t>
                      </a:r>
                    </a:p>
                  </a:txBody>
                  <a:tcPr marL="73152" marR="73152" marT="36576" marB="36576" anchor="t">
                    <a:solidFill>
                      <a:srgbClr val="12171D"/>
                    </a:solidFill>
                  </a:tcPr>
                </a:tc>
                <a:tc>
                  <a:txBody>
                    <a:bodyPr wrap="square"/>
                    <a:lstStyle/>
                    <a:p>
                      <a:r>
                        <a:rPr sz="1050">
                          <a:solidFill>
                            <a:srgbClr val="A9B4BE"/>
                          </a:solidFill>
                          <a:latin typeface="Segoe UI"/>
                        </a:rPr>
                        <a:t>Taman kecil, celah sempit, di bawah 250 g</a:t>
                      </a:r>
                    </a:p>
                  </a:txBody>
                  <a:tcPr marL="73152" marR="73152" marT="36576" marB="36576" anchor="t">
                    <a:solidFill>
                      <a:srgbClr val="12171D"/>
                    </a:solidFill>
                  </a:tcPr>
                </a:tc>
                <a:tc>
                  <a:txBody>
                    <a:bodyPr wrap="square"/>
                    <a:lstStyle/>
                    <a:p>
                      <a:r>
                        <a:rPr sz="1050">
                          <a:solidFill>
                            <a:srgbClr val="A9B4BE"/>
                          </a:solidFill>
                          <a:latin typeface="Segoe UI"/>
                        </a:rPr>
                        <a:t>Pemula</a:t>
                      </a:r>
                    </a:p>
                  </a:txBody>
                  <a:tcPr marL="73152" marR="73152" marT="36576" marB="36576" anchor="t">
                    <a:solidFill>
                      <a:srgbClr val="12171D"/>
                    </a:solidFill>
                  </a:tcPr>
                </a:tc>
              </a:tr>
              <a:tr h="384048">
                <a:tc>
                  <a:txBody>
                    <a:bodyPr wrap="square"/>
                    <a:lstStyle/>
                    <a:p>
                      <a:r>
                        <a:rPr sz="1050" b="1">
                          <a:solidFill>
                            <a:srgbClr val="F2662C"/>
                          </a:solidFill>
                          <a:latin typeface="Segoe UI"/>
                        </a:rPr>
                        <a:t>Freestyle 5" — pilihan kami</a:t>
                      </a:r>
                    </a:p>
                  </a:txBody>
                  <a:tcPr marL="73152" marR="73152" marT="36576" marB="36576" anchor="t">
                    <a:solidFill>
                      <a:srgbClr val="201A18"/>
                    </a:solidFill>
                  </a:tcPr>
                </a:tc>
                <a:tc>
                  <a:txBody>
                    <a:bodyPr wrap="square"/>
                    <a:lstStyle/>
                    <a:p>
                      <a:pPr algn="r"/>
                      <a:r>
                        <a:rPr sz="1050">
                          <a:solidFill>
                            <a:srgbClr val="A9B4BE"/>
                          </a:solidFill>
                          <a:latin typeface="Consolas"/>
                        </a:rPr>
                        <a:t>5"</a:t>
                      </a:r>
                    </a:p>
                  </a:txBody>
                  <a:tcPr marL="73152" marR="73152" marT="36576" marB="36576" anchor="t">
                    <a:solidFill>
                      <a:srgbClr val="201A18"/>
                    </a:solidFill>
                  </a:tcPr>
                </a:tc>
                <a:tc>
                  <a:txBody>
                    <a:bodyPr wrap="square"/>
                    <a:lstStyle/>
                    <a:p>
                      <a:pPr algn="r"/>
                      <a:r>
                        <a:rPr sz="1050">
                          <a:solidFill>
                            <a:srgbClr val="A9B4BE"/>
                          </a:solidFill>
                          <a:latin typeface="Consolas"/>
                        </a:rPr>
                        <a:t>650–750 g</a:t>
                      </a:r>
                    </a:p>
                  </a:txBody>
                  <a:tcPr marL="73152" marR="73152" marT="36576" marB="36576" anchor="t">
                    <a:solidFill>
                      <a:srgbClr val="201A18"/>
                    </a:solidFill>
                  </a:tcPr>
                </a:tc>
                <a:tc>
                  <a:txBody>
                    <a:bodyPr wrap="square"/>
                    <a:lstStyle/>
                    <a:p>
                      <a:pPr algn="r"/>
                      <a:r>
                        <a:rPr sz="1050">
                          <a:solidFill>
                            <a:srgbClr val="A9B4BE"/>
                          </a:solidFill>
                          <a:latin typeface="Consolas"/>
                        </a:rPr>
                        <a:t>4–6 mnt</a:t>
                      </a:r>
                    </a:p>
                  </a:txBody>
                  <a:tcPr marL="73152" marR="73152" marT="36576" marB="36576" anchor="t">
                    <a:solidFill>
                      <a:srgbClr val="201A18"/>
                    </a:solidFill>
                  </a:tcPr>
                </a:tc>
                <a:tc>
                  <a:txBody>
                    <a:bodyPr wrap="square"/>
                    <a:lstStyle/>
                    <a:p>
                      <a:pPr algn="r"/>
                      <a:r>
                        <a:rPr sz="1050">
                          <a:solidFill>
                            <a:srgbClr val="A9B4BE"/>
                          </a:solidFill>
                          <a:latin typeface="Consolas"/>
                        </a:rPr>
                        <a:t>5,3 jt</a:t>
                      </a:r>
                    </a:p>
                  </a:txBody>
                  <a:tcPr marL="73152" marR="73152" marT="36576" marB="36576" anchor="t">
                    <a:solidFill>
                      <a:srgbClr val="201A18"/>
                    </a:solidFill>
                  </a:tcPr>
                </a:tc>
                <a:tc>
                  <a:txBody>
                    <a:bodyPr wrap="square"/>
                    <a:lstStyle/>
                    <a:p>
                      <a:r>
                        <a:rPr sz="1050">
                          <a:solidFill>
                            <a:srgbClr val="A9B4BE"/>
                          </a:solidFill>
                          <a:latin typeface="Segoe UI"/>
                        </a:rPr>
                        <a:t>Akrobatik, dive, komponen paling melimpah</a:t>
                      </a:r>
                    </a:p>
                  </a:txBody>
                  <a:tcPr marL="73152" marR="73152" marT="36576" marB="36576" anchor="t">
                    <a:solidFill>
                      <a:srgbClr val="201A18"/>
                    </a:solidFill>
                  </a:tcPr>
                </a:tc>
                <a:tc>
                  <a:txBody>
                    <a:bodyPr wrap="square"/>
                    <a:lstStyle/>
                    <a:p>
                      <a:r>
                        <a:rPr sz="1050">
                          <a:solidFill>
                            <a:srgbClr val="A9B4BE"/>
                          </a:solidFill>
                          <a:latin typeface="Segoe UI"/>
                        </a:rPr>
                        <a:t>Menengah</a:t>
                      </a:r>
                    </a:p>
                  </a:txBody>
                  <a:tcPr marL="73152" marR="73152" marT="36576" marB="36576" anchor="t">
                    <a:solidFill>
                      <a:srgbClr val="201A18"/>
                    </a:solidFill>
                  </a:tcPr>
                </a:tc>
              </a:tr>
              <a:tr h="384048">
                <a:tc>
                  <a:txBody>
                    <a:bodyPr wrap="square"/>
                    <a:lstStyle/>
                    <a:p>
                      <a:r>
                        <a:rPr sz="1050" b="1">
                          <a:solidFill>
                            <a:srgbClr val="ECEFF2"/>
                          </a:solidFill>
                          <a:latin typeface="Segoe UI"/>
                        </a:rPr>
                        <a:t>Long-range 7"</a:t>
                      </a:r>
                    </a:p>
                  </a:txBody>
                  <a:tcPr marL="73152" marR="73152" marT="36576" marB="36576" anchor="t">
                    <a:solidFill>
                      <a:srgbClr val="12171D"/>
                    </a:solidFill>
                  </a:tcPr>
                </a:tc>
                <a:tc>
                  <a:txBody>
                    <a:bodyPr wrap="square"/>
                    <a:lstStyle/>
                    <a:p>
                      <a:pPr algn="r"/>
                      <a:r>
                        <a:rPr sz="1050">
                          <a:solidFill>
                            <a:srgbClr val="A9B4BE"/>
                          </a:solidFill>
                          <a:latin typeface="Consolas"/>
                        </a:rPr>
                        <a:t>7"</a:t>
                      </a:r>
                    </a:p>
                  </a:txBody>
                  <a:tcPr marL="73152" marR="73152" marT="36576" marB="36576" anchor="t">
                    <a:solidFill>
                      <a:srgbClr val="12171D"/>
                    </a:solidFill>
                  </a:tcPr>
                </a:tc>
                <a:tc>
                  <a:txBody>
                    <a:bodyPr wrap="square"/>
                    <a:lstStyle/>
                    <a:p>
                      <a:pPr algn="r"/>
                      <a:r>
                        <a:rPr sz="1050">
                          <a:solidFill>
                            <a:srgbClr val="A9B4BE"/>
                          </a:solidFill>
                          <a:latin typeface="Consolas"/>
                        </a:rPr>
                        <a:t>900–1200 g</a:t>
                      </a:r>
                    </a:p>
                  </a:txBody>
                  <a:tcPr marL="73152" marR="73152" marT="36576" marB="36576" anchor="t">
                    <a:solidFill>
                      <a:srgbClr val="12171D"/>
                    </a:solidFill>
                  </a:tcPr>
                </a:tc>
                <a:tc>
                  <a:txBody>
                    <a:bodyPr wrap="square"/>
                    <a:lstStyle/>
                    <a:p>
                      <a:pPr algn="r"/>
                      <a:r>
                        <a:rPr sz="1050">
                          <a:solidFill>
                            <a:srgbClr val="A9B4BE"/>
                          </a:solidFill>
                          <a:latin typeface="Consolas"/>
                        </a:rPr>
                        <a:t>15–25 mnt</a:t>
                      </a:r>
                    </a:p>
                  </a:txBody>
                  <a:tcPr marL="73152" marR="73152" marT="36576" marB="36576" anchor="t">
                    <a:solidFill>
                      <a:srgbClr val="12171D"/>
                    </a:solidFill>
                  </a:tcPr>
                </a:tc>
                <a:tc>
                  <a:txBody>
                    <a:bodyPr wrap="square"/>
                    <a:lstStyle/>
                    <a:p>
                      <a:pPr algn="r"/>
                      <a:r>
                        <a:rPr sz="1050">
                          <a:solidFill>
                            <a:srgbClr val="A9B4BE"/>
                          </a:solidFill>
                          <a:latin typeface="Consolas"/>
                        </a:rPr>
                        <a:t>8 jt</a:t>
                      </a:r>
                    </a:p>
                  </a:txBody>
                  <a:tcPr marL="73152" marR="73152" marT="36576" marB="36576" anchor="t">
                    <a:solidFill>
                      <a:srgbClr val="12171D"/>
                    </a:solidFill>
                  </a:tcPr>
                </a:tc>
                <a:tc>
                  <a:txBody>
                    <a:bodyPr wrap="square"/>
                    <a:lstStyle/>
                    <a:p>
                      <a:r>
                        <a:rPr sz="1050">
                          <a:solidFill>
                            <a:srgbClr val="A9B4BE"/>
                          </a:solidFill>
                          <a:latin typeface="Segoe UI"/>
                        </a:rPr>
                        <a:t>Jelajah jauh, pemandangan, butuh GPS</a:t>
                      </a:r>
                    </a:p>
                  </a:txBody>
                  <a:tcPr marL="73152" marR="73152" marT="36576" marB="36576" anchor="t">
                    <a:solidFill>
                      <a:srgbClr val="12171D"/>
                    </a:solidFill>
                  </a:tcPr>
                </a:tc>
                <a:tc>
                  <a:txBody>
                    <a:bodyPr wrap="square"/>
                    <a:lstStyle/>
                    <a:p>
                      <a:r>
                        <a:rPr sz="1050">
                          <a:solidFill>
                            <a:srgbClr val="A9B4BE"/>
                          </a:solidFill>
                          <a:latin typeface="Segoe UI"/>
                        </a:rPr>
                        <a:t>Menengah</a:t>
                      </a:r>
                    </a:p>
                  </a:txBody>
                  <a:tcPr marL="73152" marR="73152" marT="36576" marB="36576" anchor="t">
                    <a:solidFill>
                      <a:srgbClr val="12171D"/>
                    </a:solidFill>
                  </a:tcPr>
                </a:tc>
              </a:tr>
              <a:tr h="384048">
                <a:tc>
                  <a:txBody>
                    <a:bodyPr wrap="square"/>
                    <a:lstStyle/>
                    <a:p>
                      <a:r>
                        <a:rPr sz="1050" b="1">
                          <a:solidFill>
                            <a:srgbClr val="ECEFF2"/>
                          </a:solidFill>
                          <a:latin typeface="Segoe UI"/>
                        </a:rPr>
                        <a:t>Cinelifter</a:t>
                      </a:r>
                    </a:p>
                  </a:txBody>
                  <a:tcPr marL="73152" marR="73152" marT="36576" marB="36576" anchor="t">
                    <a:solidFill>
                      <a:srgbClr val="12171D"/>
                    </a:solidFill>
                  </a:tcPr>
                </a:tc>
                <a:tc>
                  <a:txBody>
                    <a:bodyPr wrap="square"/>
                    <a:lstStyle/>
                    <a:p>
                      <a:pPr algn="r"/>
                      <a:r>
                        <a:rPr sz="1050">
                          <a:solidFill>
                            <a:srgbClr val="A9B4BE"/>
                          </a:solidFill>
                          <a:latin typeface="Consolas"/>
                        </a:rPr>
                        <a:t>8–10"</a:t>
                      </a:r>
                    </a:p>
                  </a:txBody>
                  <a:tcPr marL="73152" marR="73152" marT="36576" marB="36576" anchor="t">
                    <a:solidFill>
                      <a:srgbClr val="12171D"/>
                    </a:solidFill>
                  </a:tcPr>
                </a:tc>
                <a:tc>
                  <a:txBody>
                    <a:bodyPr wrap="square"/>
                    <a:lstStyle/>
                    <a:p>
                      <a:pPr algn="r"/>
                      <a:r>
                        <a:rPr sz="1050">
                          <a:solidFill>
                            <a:srgbClr val="A9B4BE"/>
                          </a:solidFill>
                          <a:latin typeface="Consolas"/>
                        </a:rPr>
                        <a:t>2–4 kg</a:t>
                      </a:r>
                    </a:p>
                  </a:txBody>
                  <a:tcPr marL="73152" marR="73152" marT="36576" marB="36576" anchor="t">
                    <a:solidFill>
                      <a:srgbClr val="12171D"/>
                    </a:solidFill>
                  </a:tcPr>
                </a:tc>
                <a:tc>
                  <a:txBody>
                    <a:bodyPr wrap="square"/>
                    <a:lstStyle/>
                    <a:p>
                      <a:pPr algn="r"/>
                      <a:r>
                        <a:rPr sz="1050">
                          <a:solidFill>
                            <a:srgbClr val="A9B4BE"/>
                          </a:solidFill>
                          <a:latin typeface="Consolas"/>
                        </a:rPr>
                        <a:t>8–12 mnt</a:t>
                      </a:r>
                    </a:p>
                  </a:txBody>
                  <a:tcPr marL="73152" marR="73152" marT="36576" marB="36576" anchor="t">
                    <a:solidFill>
                      <a:srgbClr val="12171D"/>
                    </a:solidFill>
                  </a:tcPr>
                </a:tc>
                <a:tc>
                  <a:txBody>
                    <a:bodyPr wrap="square"/>
                    <a:lstStyle/>
                    <a:p>
                      <a:pPr algn="r"/>
                      <a:r>
                        <a:rPr sz="1050">
                          <a:solidFill>
                            <a:srgbClr val="A9B4BE"/>
                          </a:solidFill>
                          <a:latin typeface="Consolas"/>
                        </a:rPr>
                        <a:t>20 jt+</a:t>
                      </a:r>
                    </a:p>
                  </a:txBody>
                  <a:tcPr marL="73152" marR="73152" marT="36576" marB="36576" anchor="t">
                    <a:solidFill>
                      <a:srgbClr val="12171D"/>
                    </a:solidFill>
                  </a:tcPr>
                </a:tc>
                <a:tc>
                  <a:txBody>
                    <a:bodyPr wrap="square"/>
                    <a:lstStyle/>
                    <a:p>
                      <a:r>
                        <a:rPr sz="1050">
                          <a:solidFill>
                            <a:srgbClr val="A9B4BE"/>
                          </a:solidFill>
                          <a:latin typeface="Segoe UI"/>
                        </a:rPr>
                        <a:t>Angkut kamera sinema, produksi film</a:t>
                      </a:r>
                    </a:p>
                  </a:txBody>
                  <a:tcPr marL="73152" marR="73152" marT="36576" marB="36576" anchor="t">
                    <a:solidFill>
                      <a:srgbClr val="12171D"/>
                    </a:solidFill>
                  </a:tcPr>
                </a:tc>
                <a:tc>
                  <a:txBody>
                    <a:bodyPr wrap="square"/>
                    <a:lstStyle/>
                    <a:p>
                      <a:r>
                        <a:rPr sz="1050">
                          <a:solidFill>
                            <a:srgbClr val="A9B4BE"/>
                          </a:solidFill>
                          <a:latin typeface="Segoe UI"/>
                        </a:rPr>
                        <a:t>Mahir</a:t>
                      </a:r>
                    </a:p>
                  </a:txBody>
                  <a:tcPr marL="73152" marR="73152" marT="36576" marB="36576" anchor="t">
                    <a:solidFill>
                      <a:srgbClr val="12171D"/>
                    </a:solidFill>
                  </a:tcPr>
                </a:tc>
              </a:tr>
              <a:tr h="384048">
                <a:tc>
                  <a:txBody>
                    <a:bodyPr wrap="square"/>
                    <a:lstStyle/>
                    <a:p>
                      <a:r>
                        <a:rPr sz="1050" b="1">
                          <a:solidFill>
                            <a:srgbClr val="ECEFF2"/>
                          </a:solidFill>
                          <a:latin typeface="Segoe UI"/>
                        </a:rPr>
                        <a:t>Kargo / Survei</a:t>
                      </a:r>
                    </a:p>
                  </a:txBody>
                  <a:tcPr marL="73152" marR="73152" marT="36576" marB="36576" anchor="t">
                    <a:solidFill>
                      <a:srgbClr val="12171D"/>
                    </a:solidFill>
                  </a:tcPr>
                </a:tc>
                <a:tc>
                  <a:txBody>
                    <a:bodyPr wrap="square"/>
                    <a:lstStyle/>
                    <a:p>
                      <a:pPr algn="r"/>
                      <a:r>
                        <a:rPr sz="1050">
                          <a:solidFill>
                            <a:srgbClr val="A9B4BE"/>
                          </a:solidFill>
                          <a:latin typeface="Consolas"/>
                        </a:rPr>
                        <a:t>10–15"</a:t>
                      </a:r>
                    </a:p>
                  </a:txBody>
                  <a:tcPr marL="73152" marR="73152" marT="36576" marB="36576" anchor="t">
                    <a:solidFill>
                      <a:srgbClr val="12171D"/>
                    </a:solidFill>
                  </a:tcPr>
                </a:tc>
                <a:tc>
                  <a:txBody>
                    <a:bodyPr wrap="square"/>
                    <a:lstStyle/>
                    <a:p>
                      <a:pPr algn="r"/>
                      <a:r>
                        <a:rPr sz="1050">
                          <a:solidFill>
                            <a:srgbClr val="A9B4BE"/>
                          </a:solidFill>
                          <a:latin typeface="Consolas"/>
                        </a:rPr>
                        <a:t>5–25 kg</a:t>
                      </a:r>
                    </a:p>
                  </a:txBody>
                  <a:tcPr marL="73152" marR="73152" marT="36576" marB="36576" anchor="t">
                    <a:solidFill>
                      <a:srgbClr val="12171D"/>
                    </a:solidFill>
                  </a:tcPr>
                </a:tc>
                <a:tc>
                  <a:txBody>
                    <a:bodyPr wrap="square"/>
                    <a:lstStyle/>
                    <a:p>
                      <a:pPr algn="r"/>
                      <a:r>
                        <a:rPr sz="1050">
                          <a:solidFill>
                            <a:srgbClr val="A9B4BE"/>
                          </a:solidFill>
                          <a:latin typeface="Consolas"/>
                        </a:rPr>
                        <a:t>20–40 mnt</a:t>
                      </a:r>
                    </a:p>
                  </a:txBody>
                  <a:tcPr marL="73152" marR="73152" marT="36576" marB="36576" anchor="t">
                    <a:solidFill>
                      <a:srgbClr val="12171D"/>
                    </a:solidFill>
                  </a:tcPr>
                </a:tc>
                <a:tc>
                  <a:txBody>
                    <a:bodyPr wrap="square"/>
                    <a:lstStyle/>
                    <a:p>
                      <a:pPr algn="r"/>
                      <a:r>
                        <a:rPr sz="1050">
                          <a:solidFill>
                            <a:srgbClr val="A9B4BE"/>
                          </a:solidFill>
                          <a:latin typeface="Consolas"/>
                        </a:rPr>
                        <a:t>50 jt+</a:t>
                      </a:r>
                    </a:p>
                  </a:txBody>
                  <a:tcPr marL="73152" marR="73152" marT="36576" marB="36576" anchor="t">
                    <a:solidFill>
                      <a:srgbClr val="12171D"/>
                    </a:solidFill>
                  </a:tcPr>
                </a:tc>
                <a:tc>
                  <a:txBody>
                    <a:bodyPr wrap="square"/>
                    <a:lstStyle/>
                    <a:p>
                      <a:r>
                        <a:rPr sz="1050">
                          <a:solidFill>
                            <a:srgbClr val="A9B4BE"/>
                          </a:solidFill>
                          <a:latin typeface="Segoe UI"/>
                        </a:rPr>
                        <a:t>Pertanian, logistik, pemetaan — butuh izin</a:t>
                      </a:r>
                    </a:p>
                  </a:txBody>
                  <a:tcPr marL="73152" marR="73152" marT="36576" marB="36576" anchor="t">
                    <a:solidFill>
                      <a:srgbClr val="12171D"/>
                    </a:solidFill>
                  </a:tcPr>
                </a:tc>
                <a:tc>
                  <a:txBody>
                    <a:bodyPr wrap="square"/>
                    <a:lstStyle/>
                    <a:p>
                      <a:r>
                        <a:rPr sz="1050">
                          <a:solidFill>
                            <a:srgbClr val="A9B4BE"/>
                          </a:solidFill>
                          <a:latin typeface="Segoe UI"/>
                        </a:rPr>
                        <a:t>Profesional</a:t>
                      </a:r>
                    </a:p>
                  </a:txBody>
                  <a:tcPr marL="73152" marR="73152" marT="36576" marB="36576" anchor="t">
                    <a:solidFill>
                      <a:srgbClr val="12171D"/>
                    </a:solidFill>
                  </a:tcPr>
                </a:tc>
              </a:tr>
            </a:tbl>
          </a:graphicData>
        </a:graphic>
      </p:graphicFrame>
      <p:sp>
        <p:nvSpPr>
          <p:cNvPr id="6" name="Rectangle 5"/>
          <p:cNvSpPr/>
          <p:nvPr/>
        </p:nvSpPr>
        <p:spPr>
          <a:xfrm>
            <a:off x="566928" y="5257800"/>
            <a:ext cx="11064240"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257800"/>
            <a:ext cx="31750" cy="86868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542239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KESIMPULAN</a:t>
            </a:r>
          </a:p>
        </p:txBody>
      </p:sp>
      <p:sp>
        <p:nvSpPr>
          <p:cNvPr id="9" name="TextBox 8"/>
          <p:cNvSpPr txBox="1"/>
          <p:nvPr/>
        </p:nvSpPr>
        <p:spPr>
          <a:xfrm>
            <a:off x="768096" y="5641848"/>
            <a:ext cx="10680192"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Kelas 5 inci bukan pilihan yang paling keren, tapi ia paling BISA DIPELAJARI: komponen mudah dicari, harga wajar, dan setiap masalah yang akan kita temui sudah pernah dipecahkan orang lain.</a:t>
            </a:r>
          </a:p>
        </p:txBody>
      </p:sp>
      <p:sp>
        <p:nvSpPr>
          <p:cNvPr id="10" name="TextBox 9"/>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Peta kelas drone</a:t>
            </a:r>
          </a:p>
        </p:txBody>
      </p:sp>
      <p:sp>
        <p:nvSpPr>
          <p:cNvPr id="11" name="TextBox 10"/>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11 / 43</a:t>
            </a:r>
          </a:p>
        </p:txBody>
      </p:sp>
      <p:sp>
        <p:nvSpPr>
          <p:cNvPr id="12" name="Rectangle 11"/>
          <p:cNvSpPr/>
          <p:nvPr/>
        </p:nvSpPr>
        <p:spPr>
          <a:xfrm>
            <a:off x="0" y="6803136"/>
            <a:ext cx="3118805"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1 · TREN TEKNOLOGI</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Pergeseran besar: </a:t>
            </a:r>
            <a:r>
              <a:rPr sz="3400" b="1">
                <a:solidFill>
                  <a:srgbClr val="F2662C"/>
                </a:solidFill>
                <a:latin typeface="Bahnschrift"/>
              </a:rPr>
              <a:t>analog → digital HD</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Dua tahun terakhir mengubah perhitungan. Sistem digital dulu terlalu lambat untuk balapan; sekarang latensinya nyaris menyamai analog. Yang belum berubah: HARGANYA.</a:t>
            </a:r>
          </a:p>
        </p:txBody>
      </p:sp>
      <p:graphicFrame>
        <p:nvGraphicFramePr>
          <p:cNvPr id="5" name="Chart 4"/>
          <p:cNvGraphicFramePr>
            <a:graphicFrameLocks noGrp="1"/>
          </p:cNvGraphicFramePr>
          <p:nvPr/>
        </p:nvGraphicFramePr>
        <p:xfrm>
          <a:off x="566928" y="2377440"/>
          <a:ext cx="5394960" cy="3200400"/>
        </p:xfrm>
        <a:graphic>
          <a:graphicData uri="http://schemas.openxmlformats.org/drawingml/2006/chart">
            <c:chart xmlns:c="http://schemas.openxmlformats.org/drawingml/2006/chart" r:id="rId3"/>
          </a:graphicData>
        </a:graphic>
      </p:graphicFrame>
      <p:sp>
        <p:nvSpPr>
          <p:cNvPr id="6" name="TextBox 5"/>
          <p:cNvSpPr txBox="1"/>
          <p:nvPr/>
        </p:nvSpPr>
        <p:spPr>
          <a:xfrm>
            <a:off x="566928" y="2084831"/>
            <a:ext cx="5394960" cy="274320"/>
          </a:xfrm>
          <a:prstGeom prst="rect">
            <a:avLst/>
          </a:prstGeom>
          <a:noFill/>
        </p:spPr>
        <p:txBody>
          <a:bodyPr wrap="square" lIns="0" rIns="0" tIns="0" bIns="0">
            <a:spAutoFit/>
          </a:bodyPr>
          <a:lstStyle/>
          <a:p>
            <a:pPr algn="l">
              <a:lnSpc>
                <a:spcPct val="125000"/>
              </a:lnSpc>
              <a:spcAft>
                <a:spcPts val="600"/>
              </a:spcAft>
            </a:pPr>
            <a:r>
              <a:rPr sz="1200" b="1">
                <a:solidFill>
                  <a:srgbClr val="ECEFF2"/>
                </a:solidFill>
                <a:latin typeface="Bahnschrift"/>
              </a:rPr>
              <a:t>Latensi ujung-ke-ujung — makin rendah makin baik</a:t>
            </a:r>
          </a:p>
        </p:txBody>
      </p:sp>
      <p:graphicFrame>
        <p:nvGraphicFramePr>
          <p:cNvPr id="7" name="Chart 6"/>
          <p:cNvGraphicFramePr>
            <a:graphicFrameLocks noGrp="1"/>
          </p:cNvGraphicFramePr>
          <p:nvPr/>
        </p:nvGraphicFramePr>
        <p:xfrm>
          <a:off x="6236208" y="2377440"/>
          <a:ext cx="5394960" cy="3200400"/>
        </p:xfrm>
        <a:graphic>
          <a:graphicData uri="http://schemas.openxmlformats.org/drawingml/2006/chart">
            <c:chart xmlns:c="http://schemas.openxmlformats.org/drawingml/2006/chart" r:id="rId4"/>
          </a:graphicData>
        </a:graphic>
      </p:graphicFrame>
      <p:sp>
        <p:nvSpPr>
          <p:cNvPr id="8" name="TextBox 7"/>
          <p:cNvSpPr txBox="1"/>
          <p:nvPr/>
        </p:nvSpPr>
        <p:spPr>
          <a:xfrm>
            <a:off x="6236208" y="2084831"/>
            <a:ext cx="5394960" cy="274320"/>
          </a:xfrm>
          <a:prstGeom prst="rect">
            <a:avLst/>
          </a:prstGeom>
          <a:noFill/>
        </p:spPr>
        <p:txBody>
          <a:bodyPr wrap="square" lIns="0" rIns="0" tIns="0" bIns="0">
            <a:spAutoFit/>
          </a:bodyPr>
          <a:lstStyle/>
          <a:p>
            <a:pPr algn="l">
              <a:lnSpc>
                <a:spcPct val="125000"/>
              </a:lnSpc>
              <a:spcAft>
                <a:spcPts val="600"/>
              </a:spcAft>
            </a:pPr>
            <a:r>
              <a:rPr sz="1200" b="1">
                <a:solidFill>
                  <a:srgbClr val="ECEFF2"/>
                </a:solidFill>
                <a:latin typeface="Bahnschrift"/>
              </a:rPr>
              <a:t>Biaya sistem video (kamera + VTX + goggles)</a:t>
            </a:r>
          </a:p>
        </p:txBody>
      </p:sp>
      <p:sp>
        <p:nvSpPr>
          <p:cNvPr id="9" name="Rectangle 8"/>
          <p:cNvSpPr/>
          <p:nvPr/>
        </p:nvSpPr>
        <p:spPr>
          <a:xfrm>
            <a:off x="566928" y="5623560"/>
            <a:ext cx="11064240" cy="65836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5623560"/>
            <a:ext cx="31750" cy="658368"/>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8815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REKOMENDASI KAMI</a:t>
            </a:r>
          </a:p>
        </p:txBody>
      </p:sp>
      <p:sp>
        <p:nvSpPr>
          <p:cNvPr id="12" name="TextBox 11"/>
          <p:cNvSpPr txBox="1"/>
          <p:nvPr/>
        </p:nvSpPr>
        <p:spPr>
          <a:xfrm>
            <a:off x="768096" y="6007608"/>
            <a:ext cx="10680192" cy="137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ANALOG UNTUK v1. Crash adalah keniscayaan saat belajar — menghancurkan kamera Rp 350 rb terasa berbeda dengan menghancurkan unit digital Rp 3 juta. Digital masuk di v2, saat crash sudah jarang.</a:t>
            </a:r>
          </a:p>
        </p:txBody>
      </p:sp>
      <p:sp>
        <p:nvSpPr>
          <p:cNvPr id="13" name="TextBox 12"/>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Analog vs digital</a:t>
            </a:r>
          </a:p>
        </p:txBody>
      </p:sp>
      <p:sp>
        <p:nvSpPr>
          <p:cNvPr id="14" name="TextBox 13"/>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12 / 43</a:t>
            </a:r>
          </a:p>
        </p:txBody>
      </p:sp>
      <p:sp>
        <p:nvSpPr>
          <p:cNvPr id="15" name="Rectangle 14"/>
          <p:cNvSpPr/>
          <p:nvPr/>
        </p:nvSpPr>
        <p:spPr>
          <a:xfrm>
            <a:off x="0" y="6803136"/>
            <a:ext cx="3402333"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1 · EKOSISTEM</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Empat hal yang sudah jadi standar</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Membangun drone hari ini lebih mudah bukan karena komponennya lebih murah, tapi karena EKOSISTEMNYA SUDAH MENYATU. Semua ini menurunkan risiko proyek kita.</a:t>
            </a:r>
          </a:p>
        </p:txBody>
      </p:sp>
      <p:sp>
        <p:nvSpPr>
          <p:cNvPr id="5" name="Rectangle 4"/>
          <p:cNvSpPr/>
          <p:nvPr/>
        </p:nvSpPr>
        <p:spPr>
          <a:xfrm>
            <a:off x="566928" y="2377440"/>
            <a:ext cx="2606040" cy="28346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31750" cy="283464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KENDALI</a:t>
            </a:r>
          </a:p>
        </p:txBody>
      </p:sp>
      <p:sp>
        <p:nvSpPr>
          <p:cNvPr id="8" name="TextBox 7"/>
          <p:cNvSpPr txBox="1"/>
          <p:nvPr/>
        </p:nvSpPr>
        <p:spPr>
          <a:xfrm>
            <a:off x="76809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ExpressLRS</a:t>
            </a:r>
          </a:p>
        </p:txBody>
      </p:sp>
      <p:sp>
        <p:nvSpPr>
          <p:cNvPr id="9" name="TextBox 8"/>
          <p:cNvSpPr txBox="1"/>
          <p:nvPr/>
        </p:nvSpPr>
        <p:spPr>
          <a:xfrm>
            <a:off x="768096" y="3108960"/>
            <a:ext cx="2221992" cy="19659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Standar terbuka yang mengalahkan protokol berbayar dalam latensi SEKALIGUS harga. Penerima Rp 160 ribu dengan jangkauan kilometeran. Dulu ini barang jutaan.</a:t>
            </a:r>
          </a:p>
        </p:txBody>
      </p:sp>
      <p:sp>
        <p:nvSpPr>
          <p:cNvPr id="10" name="Rectangle 9"/>
          <p:cNvSpPr/>
          <p:nvPr/>
        </p:nvSpPr>
        <p:spPr>
          <a:xfrm>
            <a:off x="3355848" y="2377440"/>
            <a:ext cx="2606040" cy="28346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55848" y="2377440"/>
            <a:ext cx="31750" cy="283464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701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MOTOR</a:t>
            </a:r>
          </a:p>
        </p:txBody>
      </p:sp>
      <p:sp>
        <p:nvSpPr>
          <p:cNvPr id="13" name="TextBox 12"/>
          <p:cNvSpPr txBox="1"/>
          <p:nvPr/>
        </p:nvSpPr>
        <p:spPr>
          <a:xfrm>
            <a:off x="355701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AM32 open-source</a:t>
            </a:r>
          </a:p>
        </p:txBody>
      </p:sp>
      <p:sp>
        <p:nvSpPr>
          <p:cNvPr id="14" name="TextBox 13"/>
          <p:cNvSpPr txBox="1"/>
          <p:nvPr/>
        </p:nvSpPr>
        <p:spPr>
          <a:xfrm>
            <a:off x="3557016" y="3108960"/>
            <a:ext cx="2221992" cy="19659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Firmware ESC terbuka menggantikan BLHeli_32 yang berhenti dikembangkan. ESC yang kita beli hari ini TIDAK akan jadi barang mati.</a:t>
            </a:r>
          </a:p>
        </p:txBody>
      </p:sp>
      <p:sp>
        <p:nvSpPr>
          <p:cNvPr id="15" name="Rectangle 14"/>
          <p:cNvSpPr/>
          <p:nvPr/>
        </p:nvSpPr>
        <p:spPr>
          <a:xfrm>
            <a:off x="6144768" y="2377440"/>
            <a:ext cx="2606040" cy="28346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2377440"/>
            <a:ext cx="31750" cy="283464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STABILITAS</a:t>
            </a:r>
          </a:p>
        </p:txBody>
      </p:sp>
      <p:sp>
        <p:nvSpPr>
          <p:cNvPr id="18" name="TextBox 17"/>
          <p:cNvSpPr txBox="1"/>
          <p:nvPr/>
        </p:nvSpPr>
        <p:spPr>
          <a:xfrm>
            <a:off x="6345936"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RPM filter</a:t>
            </a:r>
          </a:p>
        </p:txBody>
      </p:sp>
      <p:sp>
        <p:nvSpPr>
          <p:cNvPr id="19" name="TextBox 18"/>
          <p:cNvSpPr txBox="1"/>
          <p:nvPr/>
        </p:nvSpPr>
        <p:spPr>
          <a:xfrm>
            <a:off x="6345936" y="3108960"/>
            <a:ext cx="2221992" cy="19659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ESC melaporkan RPM tiap motor kembali ke FC, sehingga filter membidik frekuensi getaran secara presisi. Ini alasan drone 2026 terasa jauh lebih 'terkunci' di udara.</a:t>
            </a:r>
          </a:p>
        </p:txBody>
      </p:sp>
      <p:sp>
        <p:nvSpPr>
          <p:cNvPr id="20" name="Rectangle 19"/>
          <p:cNvSpPr/>
          <p:nvPr/>
        </p:nvSpPr>
        <p:spPr>
          <a:xfrm>
            <a:off x="8933687" y="2377440"/>
            <a:ext cx="2606040" cy="28346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33687" y="2377440"/>
            <a:ext cx="31750" cy="283464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5" y="2542032"/>
            <a:ext cx="22219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DAYA</a:t>
            </a:r>
          </a:p>
        </p:txBody>
      </p:sp>
      <p:sp>
        <p:nvSpPr>
          <p:cNvPr id="23" name="TextBox 22"/>
          <p:cNvSpPr txBox="1"/>
          <p:nvPr/>
        </p:nvSpPr>
        <p:spPr>
          <a:xfrm>
            <a:off x="9134855" y="2761488"/>
            <a:ext cx="222199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6S sebagai standar</a:t>
            </a:r>
          </a:p>
        </p:txBody>
      </p:sp>
      <p:sp>
        <p:nvSpPr>
          <p:cNvPr id="24" name="TextBox 23"/>
          <p:cNvSpPr txBox="1"/>
          <p:nvPr/>
        </p:nvSpPr>
        <p:spPr>
          <a:xfrm>
            <a:off x="9134855" y="3108960"/>
            <a:ext cx="2221992" cy="19659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Kelas 5 inci sudah pindah dari 4S ke 6S. Arus lebih kecil, komponen lebih adem, dan pilihan motor/baterai kini paling banyak di 6S.</a:t>
            </a:r>
          </a:p>
        </p:txBody>
      </p:sp>
      <p:sp>
        <p:nvSpPr>
          <p:cNvPr id="25" name="Rectangle 24"/>
          <p:cNvSpPr/>
          <p:nvPr/>
        </p:nvSpPr>
        <p:spPr>
          <a:xfrm>
            <a:off x="566928" y="5440680"/>
            <a:ext cx="11064240" cy="822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5440680"/>
            <a:ext cx="31750" cy="8229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560527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KONSEKUENSI PRAKTIS</a:t>
            </a:r>
          </a:p>
        </p:txBody>
      </p:sp>
      <p:sp>
        <p:nvSpPr>
          <p:cNvPr id="28" name="TextBox 27"/>
          <p:cNvSpPr txBox="1"/>
          <p:nvPr/>
        </p:nvSpPr>
        <p:spPr>
          <a:xfrm>
            <a:off x="768096" y="5824728"/>
            <a:ext cx="10680192" cy="30175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Hampir semua masalah yang akan kita temui SUDAH PERNAH DIPECAHKAN DAN DIDOKUMENTASIKAN orang lain. Ini menurunkan risiko proyek secara drastis.</a:t>
            </a:r>
          </a:p>
        </p:txBody>
      </p:sp>
      <p:sp>
        <p:nvSpPr>
          <p:cNvPr id="29" name="TextBox 28"/>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Ekosistem 2026</a:t>
            </a:r>
          </a:p>
        </p:txBody>
      </p:sp>
      <p:sp>
        <p:nvSpPr>
          <p:cNvPr id="30" name="TextBox 29"/>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13 / 43</a:t>
            </a:r>
          </a:p>
        </p:txBody>
      </p:sp>
      <p:sp>
        <p:nvSpPr>
          <p:cNvPr id="31" name="Rectangle 30"/>
          <p:cNvSpPr/>
          <p:nvPr/>
        </p:nvSpPr>
        <p:spPr>
          <a:xfrm>
            <a:off x="0" y="6803136"/>
            <a:ext cx="3685861"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1 · KEPATUHAN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Aturan terbang di Indonesia</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Bagian yang paling sering diabaikan penggemar, dan paling mahal akibatnya bila salah.</a:t>
            </a:r>
          </a:p>
        </p:txBody>
      </p:sp>
      <p:sp>
        <p:nvSpPr>
          <p:cNvPr id="5" name="Rectangle 4"/>
          <p:cNvSpPr/>
          <p:nvPr/>
        </p:nvSpPr>
        <p:spPr>
          <a:xfrm>
            <a:off x="566928" y="2286000"/>
            <a:ext cx="5486400" cy="29260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68880"/>
            <a:ext cx="502920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PRINSIP YANG PERLU DIPATUHI</a:t>
            </a:r>
          </a:p>
        </p:txBody>
      </p:sp>
      <p:sp>
        <p:nvSpPr>
          <p:cNvPr id="7" name="TextBox 6"/>
          <p:cNvSpPr txBox="1"/>
          <p:nvPr/>
        </p:nvSpPr>
        <p:spPr>
          <a:xfrm>
            <a:off x="777240" y="2788920"/>
            <a:ext cx="5029200" cy="2286000"/>
          </a:xfrm>
          <a:prstGeom prst="rect">
            <a:avLst/>
          </a:prstGeom>
          <a:noFill/>
        </p:spPr>
        <p:txBody>
          <a:bodyPr wrap="square" lIns="0" rIns="0" tIns="0" bIns="0">
            <a:spAutoFit/>
          </a:bodyPr>
          <a:lstStyle/>
          <a:p>
            <a:pPr algn="l">
              <a:lnSpc>
                <a:spcPct val="130000"/>
              </a:lnSpc>
              <a:spcAft>
                <a:spcPts val="900"/>
              </a:spcAft>
            </a:pPr>
            <a:r>
              <a:rPr sz="1150" b="0">
                <a:solidFill>
                  <a:srgbClr val="A9B4BE"/>
                </a:solidFill>
                <a:latin typeface="Segoe UI"/>
              </a:rPr>
              <a:t>▸  Ada BATAS KETINGGIAN operasi (umumnya dirujuk sekitar 150 m di atas permukaan tanah untuk penerbangan rekreasi).</a:t>
            </a:r>
          </a:p>
          <a:p>
            <a:pPr algn="l">
              <a:lnSpc>
                <a:spcPct val="130000"/>
              </a:lnSpc>
              <a:spcAft>
                <a:spcPts val="900"/>
              </a:spcAft>
            </a:pPr>
            <a:r>
              <a:rPr sz="1150" b="0">
                <a:solidFill>
                  <a:srgbClr val="A9B4BE"/>
                </a:solidFill>
                <a:latin typeface="Segoe UI"/>
              </a:rPr>
              <a:t>▸  Ada KAWASAN TERLARANG di sekitar bandara (KKOP). Ini bukan wilayah abu-abu — melanggarnya berkonsekuensi pidana.</a:t>
            </a:r>
          </a:p>
          <a:p>
            <a:pPr algn="l">
              <a:lnSpc>
                <a:spcPct val="130000"/>
              </a:lnSpc>
              <a:spcAft>
                <a:spcPts val="900"/>
              </a:spcAft>
            </a:pPr>
            <a:r>
              <a:rPr sz="1150" b="0">
                <a:solidFill>
                  <a:srgbClr val="A9B4BE"/>
                </a:solidFill>
                <a:latin typeface="Segoe UI"/>
              </a:rPr>
              <a:t>▸  Drone di atas bobot tertentu memerlukan REGISTRASI pada sistem resmi Kementerian Perhubungan.</a:t>
            </a:r>
          </a:p>
          <a:p>
            <a:pPr algn="l">
              <a:lnSpc>
                <a:spcPct val="130000"/>
              </a:lnSpc>
              <a:spcAft>
                <a:spcPts val="900"/>
              </a:spcAft>
            </a:pPr>
            <a:r>
              <a:rPr sz="1150" b="0">
                <a:solidFill>
                  <a:srgbClr val="A9B4BE"/>
                </a:solidFill>
                <a:latin typeface="Segoe UI"/>
              </a:rPr>
              <a:t>▸  Dilarang terbang DI ATAS KERUMUNAN orang atau properti tanpa izin.</a:t>
            </a:r>
          </a:p>
        </p:txBody>
      </p:sp>
      <p:sp>
        <p:nvSpPr>
          <p:cNvPr id="8" name="Rectangle 7"/>
          <p:cNvSpPr/>
          <p:nvPr/>
        </p:nvSpPr>
        <p:spPr>
          <a:xfrm>
            <a:off x="6327648" y="2286000"/>
            <a:ext cx="5303520" cy="29260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27648" y="2286000"/>
            <a:ext cx="31750" cy="292608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8816" y="2450592"/>
            <a:ext cx="491947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KEBIJAKAN OPERASIONAL KAMI</a:t>
            </a:r>
          </a:p>
        </p:txBody>
      </p:sp>
      <p:sp>
        <p:nvSpPr>
          <p:cNvPr id="11" name="TextBox 10"/>
          <p:cNvSpPr txBox="1"/>
          <p:nvPr/>
        </p:nvSpPr>
        <p:spPr>
          <a:xfrm>
            <a:off x="6528816" y="2670048"/>
            <a:ext cx="4919472" cy="24048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Berlaku terlepas dari detail regulasi, diusulkan sebagai syarat wajib setiap sesi terbang:
▸  Lapangan terbuka, radius aman minimal 50 m dari orang lain
▸  Selalu ada SPOTTER — satu orang mengawasi langit selagi pilot memakai goggles
▸  Propeller dipasang TERAKHIR, dilepas PERTAMA
▸  Cek aturan terbaru di situs resmi DJPU sebelum memakai lokasi baru</a:t>
            </a:r>
          </a:p>
        </p:txBody>
      </p:sp>
      <p:sp>
        <p:nvSpPr>
          <p:cNvPr id="12" name="Rectangle 11"/>
          <p:cNvSpPr/>
          <p:nvPr/>
        </p:nvSpPr>
        <p:spPr>
          <a:xfrm>
            <a:off x="566928" y="5394960"/>
            <a:ext cx="11064240"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5394960"/>
            <a:ext cx="31750" cy="868680"/>
          </a:xfrm>
          <a:prstGeom prst="rect">
            <a:avLst/>
          </a:prstGeom>
          <a:solidFill>
            <a:srgbClr val="C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55955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CATATAN KEJUJURAN</a:t>
            </a:r>
          </a:p>
        </p:txBody>
      </p:sp>
      <p:sp>
        <p:nvSpPr>
          <p:cNvPr id="15" name="TextBox 14"/>
          <p:cNvSpPr txBox="1"/>
          <p:nvPr/>
        </p:nvSpPr>
        <p:spPr>
          <a:xfrm>
            <a:off x="768096" y="5779008"/>
            <a:ext cx="10680192"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Detail regulasi berubah, dan deck ini disusun TANPA memverifikasi teks aturan terbaru. Perlakukan slide ini sebagai DAFTAR HAL YANG HARUS DICEK, bukan kutipan hukum. Satu orang perlu ditugaskan memverifikasi ini sebelum penerbangan pertama.</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Regulasi</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14 / 43</a:t>
            </a:r>
          </a:p>
        </p:txBody>
      </p:sp>
      <p:sp>
        <p:nvSpPr>
          <p:cNvPr id="18" name="Rectangle 17"/>
          <p:cNvSpPr/>
          <p:nvPr/>
        </p:nvSpPr>
        <p:spPr>
          <a:xfrm>
            <a:off x="0" y="6803136"/>
            <a:ext cx="3969389"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RANCANGAN KAMI</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Konsep: True-X 220 mm</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Keempat motor berjarak sama dari titik pusat, membentuk X yang benar-benar simetris.</a:t>
            </a:r>
          </a:p>
        </p:txBody>
      </p:sp>
      <p:sp>
        <p:nvSpPr>
          <p:cNvPr id="5" name="Rectangle 4"/>
          <p:cNvSpPr/>
          <p:nvPr/>
        </p:nvSpPr>
        <p:spPr>
          <a:xfrm>
            <a:off x="566928" y="2377440"/>
            <a:ext cx="3538728" cy="23774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31750" cy="23774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SIMETRIS</a:t>
            </a:r>
          </a:p>
        </p:txBody>
      </p:sp>
      <p:sp>
        <p:nvSpPr>
          <p:cNvPr id="8" name="TextBox 7"/>
          <p:cNvSpPr txBox="1"/>
          <p:nvPr/>
        </p:nvSpPr>
        <p:spPr>
          <a:xfrm>
            <a:off x="768096"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Perilaku identik di 4 arah</a:t>
            </a:r>
          </a:p>
        </p:txBody>
      </p:sp>
      <p:sp>
        <p:nvSpPr>
          <p:cNvPr id="9" name="TextBox 8"/>
          <p:cNvSpPr txBox="1"/>
          <p:nvPr/>
        </p:nvSpPr>
        <p:spPr>
          <a:xfrm>
            <a:off x="768096" y="3108960"/>
            <a:ext cx="3154680" cy="15087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Simetri berarti drone berperilaku sama saat berputar ke arah mana pun — tuning PID untuk roll otomatis berlaku untuk pitch. Konfigurasi lain mengorbankan simetri demi ruang kamera. Untuk freestyle, SIMETRI LEBIH BERHARGA.</a:t>
            </a:r>
          </a:p>
        </p:txBody>
      </p:sp>
      <p:sp>
        <p:nvSpPr>
          <p:cNvPr id="10" name="Rectangle 9"/>
          <p:cNvSpPr/>
          <p:nvPr/>
        </p:nvSpPr>
        <p:spPr>
          <a:xfrm>
            <a:off x="4288536" y="2377440"/>
            <a:ext cx="3538728" cy="23774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88536" y="2377440"/>
            <a:ext cx="31750" cy="23774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LENGAN 5 MM</a:t>
            </a:r>
          </a:p>
        </p:txBody>
      </p:sp>
      <p:sp>
        <p:nvSpPr>
          <p:cNvPr id="13" name="TextBox 12"/>
          <p:cNvSpPr txBox="1"/>
          <p:nvPr/>
        </p:nvSpPr>
        <p:spPr>
          <a:xfrm>
            <a:off x="4489704"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Titik temu kekuatan &amp; bobot</a:t>
            </a:r>
          </a:p>
        </p:txBody>
      </p:sp>
      <p:sp>
        <p:nvSpPr>
          <p:cNvPr id="14" name="TextBox 13"/>
          <p:cNvSpPr txBox="1"/>
          <p:nvPr/>
        </p:nvSpPr>
        <p:spPr>
          <a:xfrm>
            <a:off x="4489704" y="3108960"/>
            <a:ext cx="3154680" cy="15087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Lengan 4 mm patah terlalu mudah — dan crash PASTI terjadi. Lengan 6 mm menambah bobot tanpa manfaat. Syarat mutlak: lengan harus bisa dibeli SATUAN.</a:t>
            </a:r>
          </a:p>
        </p:txBody>
      </p:sp>
      <p:sp>
        <p:nvSpPr>
          <p:cNvPr id="15" name="Rectangle 14"/>
          <p:cNvSpPr/>
          <p:nvPr/>
        </p:nvSpPr>
        <p:spPr>
          <a:xfrm>
            <a:off x="8010144" y="2377440"/>
            <a:ext cx="3538728" cy="23774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2377440"/>
            <a:ext cx="31750" cy="23774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220 MM</a:t>
            </a:r>
          </a:p>
        </p:txBody>
      </p:sp>
      <p:sp>
        <p:nvSpPr>
          <p:cNvPr id="18" name="TextBox 17"/>
          <p:cNvSpPr txBox="1"/>
          <p:nvPr/>
        </p:nvSpPr>
        <p:spPr>
          <a:xfrm>
            <a:off x="8211312"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Ruang untuk propeller 5"</a:t>
            </a:r>
          </a:p>
        </p:txBody>
      </p:sp>
      <p:sp>
        <p:nvSpPr>
          <p:cNvPr id="19" name="TextBox 18"/>
          <p:cNvSpPr txBox="1"/>
          <p:nvPr/>
        </p:nvSpPr>
        <p:spPr>
          <a:xfrm>
            <a:off x="8211312" y="3108960"/>
            <a:ext cx="3154680" cy="15087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Wheelbase = jarak diagonal antar motor. Propeller 5 inci (127 mm) butuh 220 mm agar ujung bilahnya tidak saling menyentuh, dengan sisa toleransi saat frame melentur.</a:t>
            </a:r>
          </a:p>
        </p:txBody>
      </p:sp>
      <p:sp>
        <p:nvSpPr>
          <p:cNvPr id="20" name="Rectangle 19"/>
          <p:cNvSpPr/>
          <p:nvPr/>
        </p:nvSpPr>
        <p:spPr>
          <a:xfrm>
            <a:off x="566928" y="4983480"/>
            <a:ext cx="2084831"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983480"/>
            <a:ext cx="2084831"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129784"/>
            <a:ext cx="1810511"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WHEELBASE</a:t>
            </a:r>
          </a:p>
        </p:txBody>
      </p:sp>
      <p:sp>
        <p:nvSpPr>
          <p:cNvPr id="23" name="TextBox 22"/>
          <p:cNvSpPr txBox="1"/>
          <p:nvPr/>
        </p:nvSpPr>
        <p:spPr>
          <a:xfrm>
            <a:off x="749808" y="5349240"/>
            <a:ext cx="1810511" cy="457200"/>
          </a:xfrm>
          <a:prstGeom prst="rect">
            <a:avLst/>
          </a:prstGeom>
          <a:noFill/>
        </p:spPr>
        <p:txBody>
          <a:bodyPr wrap="none" lIns="0" tIns="0">
            <a:spAutoFit/>
          </a:bodyPr>
          <a:lstStyle/>
          <a:p>
            <a:r>
              <a:rPr sz="3000" b="1">
                <a:solidFill>
                  <a:srgbClr val="ECEFF2"/>
                </a:solidFill>
                <a:latin typeface="Bahnschrift"/>
              </a:rPr>
              <a:t>220</a:t>
            </a:r>
            <a:r>
              <a:rPr sz="1300">
                <a:solidFill>
                  <a:srgbClr val="A9B4BE"/>
                </a:solidFill>
                <a:latin typeface="Segoe UI"/>
              </a:rPr>
              <a:t> mm</a:t>
            </a:r>
          </a:p>
        </p:txBody>
      </p:sp>
      <p:sp>
        <p:nvSpPr>
          <p:cNvPr id="24" name="TextBox 23"/>
          <p:cNvSpPr txBox="1"/>
          <p:nvPr/>
        </p:nvSpPr>
        <p:spPr>
          <a:xfrm>
            <a:off x="749808" y="5879592"/>
            <a:ext cx="1764791"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
            </a:r>
          </a:p>
        </p:txBody>
      </p:sp>
      <p:sp>
        <p:nvSpPr>
          <p:cNvPr id="25" name="Rectangle 24"/>
          <p:cNvSpPr/>
          <p:nvPr/>
        </p:nvSpPr>
        <p:spPr>
          <a:xfrm>
            <a:off x="2798064" y="4983480"/>
            <a:ext cx="2084831"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98064" y="4983480"/>
            <a:ext cx="2084831"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80944" y="5129784"/>
            <a:ext cx="1810511"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MOTOR</a:t>
            </a:r>
          </a:p>
        </p:txBody>
      </p:sp>
      <p:sp>
        <p:nvSpPr>
          <p:cNvPr id="28" name="TextBox 27"/>
          <p:cNvSpPr txBox="1"/>
          <p:nvPr/>
        </p:nvSpPr>
        <p:spPr>
          <a:xfrm>
            <a:off x="2980944" y="5349240"/>
            <a:ext cx="1810511" cy="457200"/>
          </a:xfrm>
          <a:prstGeom prst="rect">
            <a:avLst/>
          </a:prstGeom>
          <a:noFill/>
        </p:spPr>
        <p:txBody>
          <a:bodyPr wrap="none" lIns="0" tIns="0">
            <a:spAutoFit/>
          </a:bodyPr>
          <a:lstStyle/>
          <a:p>
            <a:r>
              <a:rPr sz="3000" b="1">
                <a:solidFill>
                  <a:srgbClr val="ECEFF2"/>
                </a:solidFill>
                <a:latin typeface="Bahnschrift"/>
              </a:rPr>
              <a:t>2207</a:t>
            </a:r>
            <a:r>
              <a:rPr sz="1300">
                <a:solidFill>
                  <a:srgbClr val="A9B4BE"/>
                </a:solidFill>
                <a:latin typeface="Segoe UI"/>
              </a:rPr>
              <a:t> 1900KV</a:t>
            </a:r>
          </a:p>
        </p:txBody>
      </p:sp>
      <p:sp>
        <p:nvSpPr>
          <p:cNvPr id="29" name="TextBox 28"/>
          <p:cNvSpPr txBox="1"/>
          <p:nvPr/>
        </p:nvSpPr>
        <p:spPr>
          <a:xfrm>
            <a:off x="2980944" y="5879592"/>
            <a:ext cx="1764791"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
            </a:r>
          </a:p>
        </p:txBody>
      </p:sp>
      <p:sp>
        <p:nvSpPr>
          <p:cNvPr id="30" name="Rectangle 29"/>
          <p:cNvSpPr/>
          <p:nvPr/>
        </p:nvSpPr>
        <p:spPr>
          <a:xfrm>
            <a:off x="5029200" y="4983480"/>
            <a:ext cx="2084831"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0" y="4983480"/>
            <a:ext cx="2084831"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80" y="5129784"/>
            <a:ext cx="1810511"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PROPELLER</a:t>
            </a:r>
          </a:p>
        </p:txBody>
      </p:sp>
      <p:sp>
        <p:nvSpPr>
          <p:cNvPr id="33" name="TextBox 32"/>
          <p:cNvSpPr txBox="1"/>
          <p:nvPr/>
        </p:nvSpPr>
        <p:spPr>
          <a:xfrm>
            <a:off x="5212080" y="5349240"/>
            <a:ext cx="1810511" cy="457200"/>
          </a:xfrm>
          <a:prstGeom prst="rect">
            <a:avLst/>
          </a:prstGeom>
          <a:noFill/>
        </p:spPr>
        <p:txBody>
          <a:bodyPr wrap="none" lIns="0" tIns="0">
            <a:spAutoFit/>
          </a:bodyPr>
          <a:lstStyle/>
          <a:p>
            <a:r>
              <a:rPr sz="3000" b="1">
                <a:solidFill>
                  <a:srgbClr val="ECEFF2"/>
                </a:solidFill>
                <a:latin typeface="Bahnschrift"/>
              </a:rPr>
              <a:t>5×4,3</a:t>
            </a:r>
            <a:r>
              <a:rPr sz="1300">
                <a:solidFill>
                  <a:srgbClr val="A9B4BE"/>
                </a:solidFill>
                <a:latin typeface="Segoe UI"/>
              </a:rPr>
              <a:t> ×3</a:t>
            </a:r>
          </a:p>
        </p:txBody>
      </p:sp>
      <p:sp>
        <p:nvSpPr>
          <p:cNvPr id="34" name="TextBox 33"/>
          <p:cNvSpPr txBox="1"/>
          <p:nvPr/>
        </p:nvSpPr>
        <p:spPr>
          <a:xfrm>
            <a:off x="5212080" y="5879592"/>
            <a:ext cx="1764791"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
            </a:r>
          </a:p>
        </p:txBody>
      </p:sp>
      <p:sp>
        <p:nvSpPr>
          <p:cNvPr id="35" name="Rectangle 34"/>
          <p:cNvSpPr/>
          <p:nvPr/>
        </p:nvSpPr>
        <p:spPr>
          <a:xfrm>
            <a:off x="7260336" y="4983480"/>
            <a:ext cx="2084831"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60336" y="4983480"/>
            <a:ext cx="2084831"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43216" y="5129784"/>
            <a:ext cx="1810511"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BATERAI</a:t>
            </a:r>
          </a:p>
        </p:txBody>
      </p:sp>
      <p:sp>
        <p:nvSpPr>
          <p:cNvPr id="38" name="TextBox 37"/>
          <p:cNvSpPr txBox="1"/>
          <p:nvPr/>
        </p:nvSpPr>
        <p:spPr>
          <a:xfrm>
            <a:off x="7443216" y="5349240"/>
            <a:ext cx="1810511" cy="457200"/>
          </a:xfrm>
          <a:prstGeom prst="rect">
            <a:avLst/>
          </a:prstGeom>
          <a:noFill/>
        </p:spPr>
        <p:txBody>
          <a:bodyPr wrap="none" lIns="0" tIns="0">
            <a:spAutoFit/>
          </a:bodyPr>
          <a:lstStyle/>
          <a:p>
            <a:r>
              <a:rPr sz="3000" b="1">
                <a:solidFill>
                  <a:srgbClr val="ECEFF2"/>
                </a:solidFill>
                <a:latin typeface="Bahnschrift"/>
              </a:rPr>
              <a:t>6S</a:t>
            </a:r>
            <a:r>
              <a:rPr sz="1300">
                <a:solidFill>
                  <a:srgbClr val="A9B4BE"/>
                </a:solidFill>
                <a:latin typeface="Segoe UI"/>
              </a:rPr>
              <a:t> 1300mAh</a:t>
            </a:r>
          </a:p>
        </p:txBody>
      </p:sp>
      <p:sp>
        <p:nvSpPr>
          <p:cNvPr id="39" name="TextBox 38"/>
          <p:cNvSpPr txBox="1"/>
          <p:nvPr/>
        </p:nvSpPr>
        <p:spPr>
          <a:xfrm>
            <a:off x="7443216" y="5879592"/>
            <a:ext cx="1764791"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
            </a:r>
          </a:p>
        </p:txBody>
      </p:sp>
      <p:sp>
        <p:nvSpPr>
          <p:cNvPr id="40" name="Rectangle 39"/>
          <p:cNvSpPr/>
          <p:nvPr/>
        </p:nvSpPr>
        <p:spPr>
          <a:xfrm>
            <a:off x="9491472" y="4983480"/>
            <a:ext cx="2084831"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91472" y="4983480"/>
            <a:ext cx="2084831"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74352" y="5129784"/>
            <a:ext cx="1810511"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RPM PUNCAK</a:t>
            </a:r>
          </a:p>
        </p:txBody>
      </p:sp>
      <p:sp>
        <p:nvSpPr>
          <p:cNvPr id="43" name="TextBox 42"/>
          <p:cNvSpPr txBox="1"/>
          <p:nvPr/>
        </p:nvSpPr>
        <p:spPr>
          <a:xfrm>
            <a:off x="9674352" y="5349240"/>
            <a:ext cx="1810511" cy="457200"/>
          </a:xfrm>
          <a:prstGeom prst="rect">
            <a:avLst/>
          </a:prstGeom>
          <a:noFill/>
        </p:spPr>
        <p:txBody>
          <a:bodyPr wrap="none" lIns="0" tIns="0">
            <a:spAutoFit/>
          </a:bodyPr>
          <a:lstStyle/>
          <a:p>
            <a:r>
              <a:rPr sz="3000" b="1">
                <a:solidFill>
                  <a:srgbClr val="F2662C"/>
                </a:solidFill>
                <a:latin typeface="Bahnschrift"/>
              </a:rPr>
              <a:t>28k</a:t>
            </a:r>
            <a:r>
              <a:rPr sz="1300">
                <a:solidFill>
                  <a:srgbClr val="A9B4BE"/>
                </a:solidFill>
                <a:latin typeface="Segoe UI"/>
              </a:rPr>
              <a:t> berbeban</a:t>
            </a:r>
          </a:p>
        </p:txBody>
      </p:sp>
      <p:sp>
        <p:nvSpPr>
          <p:cNvPr id="44" name="TextBox 43"/>
          <p:cNvSpPr txBox="1"/>
          <p:nvPr/>
        </p:nvSpPr>
        <p:spPr>
          <a:xfrm>
            <a:off x="9674352" y="5879592"/>
            <a:ext cx="1764791"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
            </a:r>
          </a:p>
        </p:txBody>
      </p:sp>
      <p:sp>
        <p:nvSpPr>
          <p:cNvPr id="45" name="TextBox 44"/>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Konsep rancangan</a:t>
            </a:r>
          </a:p>
        </p:txBody>
      </p:sp>
      <p:sp>
        <p:nvSpPr>
          <p:cNvPr id="46" name="TextBox 45"/>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15 / 43</a:t>
            </a:r>
          </a:p>
        </p:txBody>
      </p:sp>
      <p:sp>
        <p:nvSpPr>
          <p:cNvPr id="47" name="Rectangle 46"/>
          <p:cNvSpPr/>
          <p:nvPr/>
        </p:nvSpPr>
        <p:spPr>
          <a:xfrm>
            <a:off x="0" y="6803136"/>
            <a:ext cx="4252916"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WUJUD RANCANGAN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Drone yang sudah jadi</a:t>
            </a:r>
          </a:p>
        </p:txBody>
      </p:sp>
      <p:pic>
        <p:nvPicPr>
          <p:cNvPr id="4" name="Picture 3" descr="hero-utama.png"/>
          <p:cNvPicPr>
            <a:picLocks noChangeAspect="1"/>
          </p:cNvPicPr>
          <p:nvPr/>
        </p:nvPicPr>
        <p:blipFill>
          <a:blip r:embed="rId3"/>
          <a:srcRect t="14" b="14"/>
          <a:stretch>
            <a:fillRect/>
          </a:stretch>
        </p:blipFill>
        <p:spPr>
          <a:xfrm>
            <a:off x="566928" y="1481328"/>
            <a:ext cx="7040880" cy="3959352"/>
          </a:xfrm>
          <a:prstGeom prst="rect">
            <a:avLst/>
          </a:prstGeom>
        </p:spPr>
      </p:pic>
      <p:sp>
        <p:nvSpPr>
          <p:cNvPr id="5" name="TextBox 4"/>
          <p:cNvSpPr txBox="1"/>
          <p:nvPr/>
        </p:nvSpPr>
        <p:spPr>
          <a:xfrm>
            <a:off x="566928" y="5532120"/>
            <a:ext cx="704088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Render dari geometri rancangan — bukan foto. Semua dimensi ukuran asli (mm).</a:t>
            </a:r>
          </a:p>
        </p:txBody>
      </p:sp>
      <p:sp>
        <p:nvSpPr>
          <p:cNvPr id="6" name="Rectangle 5"/>
          <p:cNvSpPr/>
          <p:nvPr/>
        </p:nvSpPr>
        <p:spPr>
          <a:xfrm>
            <a:off x="7863840" y="1481328"/>
            <a:ext cx="3767328" cy="3959352"/>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0" y="1481328"/>
            <a:ext cx="31750" cy="3959352"/>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65008" y="1664208"/>
            <a:ext cx="33832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PRINSIP TATA LETAK</a:t>
            </a:r>
          </a:p>
        </p:txBody>
      </p:sp>
      <p:sp>
        <p:nvSpPr>
          <p:cNvPr id="9" name="TextBox 8"/>
          <p:cNvSpPr txBox="1"/>
          <p:nvPr/>
        </p:nvSpPr>
        <p:spPr>
          <a:xfrm>
            <a:off x="8065008" y="1956816"/>
            <a:ext cx="3383280" cy="3291840"/>
          </a:xfrm>
          <a:prstGeom prst="rect">
            <a:avLst/>
          </a:prstGeom>
          <a:noFill/>
        </p:spPr>
        <p:txBody>
          <a:bodyPr wrap="square" lIns="0" rIns="0" tIns="0" bIns="0">
            <a:spAutoFit/>
          </a:bodyPr>
          <a:lstStyle/>
          <a:p>
            <a:pPr algn="l">
              <a:lnSpc>
                <a:spcPct val="128000"/>
              </a:lnSpc>
              <a:spcAft>
                <a:spcPts val="900"/>
              </a:spcAft>
            </a:pPr>
            <a:r>
              <a:rPr sz="1050" b="0">
                <a:solidFill>
                  <a:srgbClr val="A9B4BE"/>
                </a:solidFill>
                <a:latin typeface="Segoe UI"/>
              </a:rPr>
              <a:t>▸  BATERAI DI ATAS — mudah diganti, dan jadi pelindung elektronik saat drone jatuh terbalik.</a:t>
            </a:r>
          </a:p>
          <a:p>
            <a:pPr algn="l">
              <a:lnSpc>
                <a:spcPct val="128000"/>
              </a:lnSpc>
              <a:spcAft>
                <a:spcPts val="900"/>
              </a:spcAft>
            </a:pPr>
            <a:r>
              <a:rPr sz="1050" b="0">
                <a:solidFill>
                  <a:srgbClr val="A9B4BE"/>
                </a:solidFill>
                <a:latin typeface="Segoe UI"/>
              </a:rPr>
              <a:t>▸  STACK DI TENGAH — FC dan ESC ditumpuk di titik paling terlindung dari segala arah.</a:t>
            </a:r>
          </a:p>
          <a:p>
            <a:pPr algn="l">
              <a:lnSpc>
                <a:spcPct val="128000"/>
              </a:lnSpc>
              <a:spcAft>
                <a:spcPts val="900"/>
              </a:spcAft>
            </a:pPr>
            <a:r>
              <a:rPr sz="1050" b="0">
                <a:solidFill>
                  <a:srgbClr val="A9B4BE"/>
                </a:solidFill>
                <a:latin typeface="Segoe UI"/>
              </a:rPr>
              <a:t>▸  KAMERA DIJEPIT DUA PELAT — bagian paling rapuh, sekaligus paling depan saat menabrak.</a:t>
            </a:r>
          </a:p>
          <a:p>
            <a:pPr algn="l">
              <a:lnSpc>
                <a:spcPct val="128000"/>
              </a:lnSpc>
              <a:spcAft>
                <a:spcPts val="900"/>
              </a:spcAft>
            </a:pPr>
            <a:r>
              <a:rPr sz="1050" b="0">
                <a:solidFill>
                  <a:srgbClr val="A9B4BE"/>
                </a:solidFill>
                <a:latin typeface="Segoe UI"/>
              </a:rPr>
              <a:t>▸  ANTENA DI BELAKANG — sejauh mungkin dari motor dan ESC yang menghasilkan gangguan listrik.</a:t>
            </a:r>
          </a:p>
        </p:txBody>
      </p:sp>
      <p:sp>
        <p:nvSpPr>
          <p:cNvPr id="10" name="Rectangle 9"/>
          <p:cNvSpPr/>
          <p:nvPr/>
        </p:nvSpPr>
        <p:spPr>
          <a:xfrm>
            <a:off x="566928" y="5870448"/>
            <a:ext cx="1115568" cy="4572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925312"/>
            <a:ext cx="1005840" cy="146304"/>
          </a:xfrm>
          <a:prstGeom prst="rect">
            <a:avLst/>
          </a:prstGeom>
          <a:noFill/>
        </p:spPr>
        <p:txBody>
          <a:bodyPr wrap="square" lIns="0" rIns="0" tIns="0" bIns="0">
            <a:spAutoFit/>
          </a:bodyPr>
          <a:lstStyle/>
          <a:p>
            <a:pPr algn="l">
              <a:lnSpc>
                <a:spcPct val="125000"/>
              </a:lnSpc>
              <a:spcAft>
                <a:spcPts val="600"/>
              </a:spcAft>
            </a:pPr>
            <a:r>
              <a:rPr sz="700" b="0">
                <a:solidFill>
                  <a:srgbClr val="6F7C88"/>
                </a:solidFill>
                <a:latin typeface="Consolas"/>
              </a:rPr>
              <a:t>AUW</a:t>
            </a:r>
          </a:p>
        </p:txBody>
      </p:sp>
      <p:sp>
        <p:nvSpPr>
          <p:cNvPr id="12" name="TextBox 11"/>
          <p:cNvSpPr txBox="1"/>
          <p:nvPr/>
        </p:nvSpPr>
        <p:spPr>
          <a:xfrm>
            <a:off x="658368" y="6062472"/>
            <a:ext cx="1005840" cy="219456"/>
          </a:xfrm>
          <a:prstGeom prst="rect">
            <a:avLst/>
          </a:prstGeom>
          <a:noFill/>
        </p:spPr>
        <p:txBody>
          <a:bodyPr wrap="square" lIns="0" rIns="0" tIns="0" bIns="0">
            <a:spAutoFit/>
          </a:bodyPr>
          <a:lstStyle/>
          <a:p>
            <a:pPr algn="l">
              <a:lnSpc>
                <a:spcPct val="125000"/>
              </a:lnSpc>
              <a:spcAft>
                <a:spcPts val="600"/>
              </a:spcAft>
            </a:pPr>
            <a:r>
              <a:rPr sz="1050" b="1">
                <a:solidFill>
                  <a:srgbClr val="ECEFF2"/>
                </a:solidFill>
                <a:latin typeface="Bahnschrift"/>
              </a:rPr>
              <a:t>685 g</a:t>
            </a:r>
          </a:p>
        </p:txBody>
      </p:sp>
      <p:sp>
        <p:nvSpPr>
          <p:cNvPr id="13" name="Rectangle 12"/>
          <p:cNvSpPr/>
          <p:nvPr/>
        </p:nvSpPr>
        <p:spPr>
          <a:xfrm>
            <a:off x="1773936" y="5870448"/>
            <a:ext cx="1115568" cy="4572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65376" y="5925312"/>
            <a:ext cx="1005840" cy="146304"/>
          </a:xfrm>
          <a:prstGeom prst="rect">
            <a:avLst/>
          </a:prstGeom>
          <a:noFill/>
        </p:spPr>
        <p:txBody>
          <a:bodyPr wrap="square" lIns="0" rIns="0" tIns="0" bIns="0">
            <a:spAutoFit/>
          </a:bodyPr>
          <a:lstStyle/>
          <a:p>
            <a:pPr algn="l">
              <a:lnSpc>
                <a:spcPct val="125000"/>
              </a:lnSpc>
              <a:spcAft>
                <a:spcPts val="600"/>
              </a:spcAft>
            </a:pPr>
            <a:r>
              <a:rPr sz="700" b="0">
                <a:solidFill>
                  <a:srgbClr val="6F7C88"/>
                </a:solidFill>
                <a:latin typeface="Consolas"/>
              </a:rPr>
              <a:t>WHEELBASE</a:t>
            </a:r>
          </a:p>
        </p:txBody>
      </p:sp>
      <p:sp>
        <p:nvSpPr>
          <p:cNvPr id="15" name="TextBox 14"/>
          <p:cNvSpPr txBox="1"/>
          <p:nvPr/>
        </p:nvSpPr>
        <p:spPr>
          <a:xfrm>
            <a:off x="1865376" y="6062472"/>
            <a:ext cx="1005840" cy="219456"/>
          </a:xfrm>
          <a:prstGeom prst="rect">
            <a:avLst/>
          </a:prstGeom>
          <a:noFill/>
        </p:spPr>
        <p:txBody>
          <a:bodyPr wrap="square" lIns="0" rIns="0" tIns="0" bIns="0">
            <a:spAutoFit/>
          </a:bodyPr>
          <a:lstStyle/>
          <a:p>
            <a:pPr algn="l">
              <a:lnSpc>
                <a:spcPct val="125000"/>
              </a:lnSpc>
              <a:spcAft>
                <a:spcPts val="600"/>
              </a:spcAft>
            </a:pPr>
            <a:r>
              <a:rPr sz="1050" b="1">
                <a:solidFill>
                  <a:srgbClr val="ECEFF2"/>
                </a:solidFill>
                <a:latin typeface="Bahnschrift"/>
              </a:rPr>
              <a:t>220 mm</a:t>
            </a:r>
          </a:p>
        </p:txBody>
      </p:sp>
      <p:sp>
        <p:nvSpPr>
          <p:cNvPr id="16" name="Rectangle 15"/>
          <p:cNvSpPr/>
          <p:nvPr/>
        </p:nvSpPr>
        <p:spPr>
          <a:xfrm>
            <a:off x="2980944" y="5870448"/>
            <a:ext cx="1115568" cy="4572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72384" y="5925312"/>
            <a:ext cx="1005840" cy="146304"/>
          </a:xfrm>
          <a:prstGeom prst="rect">
            <a:avLst/>
          </a:prstGeom>
          <a:noFill/>
        </p:spPr>
        <p:txBody>
          <a:bodyPr wrap="square" lIns="0" rIns="0" tIns="0" bIns="0">
            <a:spAutoFit/>
          </a:bodyPr>
          <a:lstStyle/>
          <a:p>
            <a:pPr algn="l">
              <a:lnSpc>
                <a:spcPct val="125000"/>
              </a:lnSpc>
              <a:spcAft>
                <a:spcPts val="600"/>
              </a:spcAft>
            </a:pPr>
            <a:r>
              <a:rPr sz="700" b="0">
                <a:solidFill>
                  <a:srgbClr val="6F7C88"/>
                </a:solidFill>
                <a:latin typeface="Consolas"/>
              </a:rPr>
              <a:t>MOTOR</a:t>
            </a:r>
          </a:p>
        </p:txBody>
      </p:sp>
      <p:sp>
        <p:nvSpPr>
          <p:cNvPr id="18" name="TextBox 17"/>
          <p:cNvSpPr txBox="1"/>
          <p:nvPr/>
        </p:nvSpPr>
        <p:spPr>
          <a:xfrm>
            <a:off x="3072384" y="6062472"/>
            <a:ext cx="1005840" cy="219456"/>
          </a:xfrm>
          <a:prstGeom prst="rect">
            <a:avLst/>
          </a:prstGeom>
          <a:noFill/>
        </p:spPr>
        <p:txBody>
          <a:bodyPr wrap="square" lIns="0" rIns="0" tIns="0" bIns="0">
            <a:spAutoFit/>
          </a:bodyPr>
          <a:lstStyle/>
          <a:p>
            <a:pPr algn="l">
              <a:lnSpc>
                <a:spcPct val="125000"/>
              </a:lnSpc>
              <a:spcAft>
                <a:spcPts val="600"/>
              </a:spcAft>
            </a:pPr>
            <a:r>
              <a:rPr sz="1050" b="1">
                <a:solidFill>
                  <a:srgbClr val="ECEFF2"/>
                </a:solidFill>
                <a:latin typeface="Bahnschrift"/>
              </a:rPr>
              <a:t>2207 · 1900KV</a:t>
            </a:r>
          </a:p>
        </p:txBody>
      </p:sp>
      <p:sp>
        <p:nvSpPr>
          <p:cNvPr id="19" name="Rectangle 18"/>
          <p:cNvSpPr/>
          <p:nvPr/>
        </p:nvSpPr>
        <p:spPr>
          <a:xfrm>
            <a:off x="4187952" y="5870448"/>
            <a:ext cx="1115568" cy="4572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79392" y="5925312"/>
            <a:ext cx="1005840" cy="146304"/>
          </a:xfrm>
          <a:prstGeom prst="rect">
            <a:avLst/>
          </a:prstGeom>
          <a:noFill/>
        </p:spPr>
        <p:txBody>
          <a:bodyPr wrap="square" lIns="0" rIns="0" tIns="0" bIns="0">
            <a:spAutoFit/>
          </a:bodyPr>
          <a:lstStyle/>
          <a:p>
            <a:pPr algn="l">
              <a:lnSpc>
                <a:spcPct val="125000"/>
              </a:lnSpc>
              <a:spcAft>
                <a:spcPts val="600"/>
              </a:spcAft>
            </a:pPr>
            <a:r>
              <a:rPr sz="700" b="0">
                <a:solidFill>
                  <a:srgbClr val="6F7C88"/>
                </a:solidFill>
                <a:latin typeface="Consolas"/>
              </a:rPr>
              <a:t>PROPELLER</a:t>
            </a:r>
          </a:p>
        </p:txBody>
      </p:sp>
      <p:sp>
        <p:nvSpPr>
          <p:cNvPr id="21" name="TextBox 20"/>
          <p:cNvSpPr txBox="1"/>
          <p:nvPr/>
        </p:nvSpPr>
        <p:spPr>
          <a:xfrm>
            <a:off x="4279392" y="6062472"/>
            <a:ext cx="1005840" cy="219456"/>
          </a:xfrm>
          <a:prstGeom prst="rect">
            <a:avLst/>
          </a:prstGeom>
          <a:noFill/>
        </p:spPr>
        <p:txBody>
          <a:bodyPr wrap="square" lIns="0" rIns="0" tIns="0" bIns="0">
            <a:spAutoFit/>
          </a:bodyPr>
          <a:lstStyle/>
          <a:p>
            <a:pPr algn="l">
              <a:lnSpc>
                <a:spcPct val="125000"/>
              </a:lnSpc>
              <a:spcAft>
                <a:spcPts val="600"/>
              </a:spcAft>
            </a:pPr>
            <a:r>
              <a:rPr sz="1050" b="1">
                <a:solidFill>
                  <a:srgbClr val="ECEFF2"/>
                </a:solidFill>
                <a:latin typeface="Bahnschrift"/>
              </a:rPr>
              <a:t>5×4,3 tri-blade</a:t>
            </a:r>
          </a:p>
        </p:txBody>
      </p:sp>
      <p:sp>
        <p:nvSpPr>
          <p:cNvPr id="22" name="Rectangle 21"/>
          <p:cNvSpPr/>
          <p:nvPr/>
        </p:nvSpPr>
        <p:spPr>
          <a:xfrm>
            <a:off x="5394960" y="5870448"/>
            <a:ext cx="1115568" cy="4572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0" y="5925312"/>
            <a:ext cx="1005840" cy="146304"/>
          </a:xfrm>
          <a:prstGeom prst="rect">
            <a:avLst/>
          </a:prstGeom>
          <a:noFill/>
        </p:spPr>
        <p:txBody>
          <a:bodyPr wrap="square" lIns="0" rIns="0" tIns="0" bIns="0">
            <a:spAutoFit/>
          </a:bodyPr>
          <a:lstStyle/>
          <a:p>
            <a:pPr algn="l">
              <a:lnSpc>
                <a:spcPct val="125000"/>
              </a:lnSpc>
              <a:spcAft>
                <a:spcPts val="600"/>
              </a:spcAft>
            </a:pPr>
            <a:r>
              <a:rPr sz="700" b="0">
                <a:solidFill>
                  <a:srgbClr val="6F7C88"/>
                </a:solidFill>
                <a:latin typeface="Consolas"/>
              </a:rPr>
              <a:t>BATERAI</a:t>
            </a:r>
          </a:p>
        </p:txBody>
      </p:sp>
      <p:sp>
        <p:nvSpPr>
          <p:cNvPr id="24" name="TextBox 23"/>
          <p:cNvSpPr txBox="1"/>
          <p:nvPr/>
        </p:nvSpPr>
        <p:spPr>
          <a:xfrm>
            <a:off x="5486400" y="6062472"/>
            <a:ext cx="1005840" cy="219456"/>
          </a:xfrm>
          <a:prstGeom prst="rect">
            <a:avLst/>
          </a:prstGeom>
          <a:noFill/>
        </p:spPr>
        <p:txBody>
          <a:bodyPr wrap="square" lIns="0" rIns="0" tIns="0" bIns="0">
            <a:spAutoFit/>
          </a:bodyPr>
          <a:lstStyle/>
          <a:p>
            <a:pPr algn="l">
              <a:lnSpc>
                <a:spcPct val="125000"/>
              </a:lnSpc>
              <a:spcAft>
                <a:spcPts val="600"/>
              </a:spcAft>
            </a:pPr>
            <a:r>
              <a:rPr sz="1050" b="1">
                <a:solidFill>
                  <a:srgbClr val="ECEFF2"/>
                </a:solidFill>
                <a:latin typeface="Bahnschrift"/>
              </a:rPr>
              <a:t>6S 1300 mAh</a:t>
            </a:r>
          </a:p>
        </p:txBody>
      </p:sp>
      <p:sp>
        <p:nvSpPr>
          <p:cNvPr id="25" name="Rectangle 24"/>
          <p:cNvSpPr/>
          <p:nvPr/>
        </p:nvSpPr>
        <p:spPr>
          <a:xfrm>
            <a:off x="6601968" y="5870448"/>
            <a:ext cx="1115568" cy="4572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3408" y="5925312"/>
            <a:ext cx="1005840" cy="146304"/>
          </a:xfrm>
          <a:prstGeom prst="rect">
            <a:avLst/>
          </a:prstGeom>
          <a:noFill/>
        </p:spPr>
        <p:txBody>
          <a:bodyPr wrap="square" lIns="0" rIns="0" tIns="0" bIns="0">
            <a:spAutoFit/>
          </a:bodyPr>
          <a:lstStyle/>
          <a:p>
            <a:pPr algn="l">
              <a:lnSpc>
                <a:spcPct val="125000"/>
              </a:lnSpc>
              <a:spcAft>
                <a:spcPts val="600"/>
              </a:spcAft>
            </a:pPr>
            <a:r>
              <a:rPr sz="700" b="0">
                <a:solidFill>
                  <a:srgbClr val="6F7C88"/>
                </a:solidFill>
                <a:latin typeface="Consolas"/>
              </a:rPr>
              <a:t>TWR</a:t>
            </a:r>
          </a:p>
        </p:txBody>
      </p:sp>
      <p:sp>
        <p:nvSpPr>
          <p:cNvPr id="27" name="TextBox 26"/>
          <p:cNvSpPr txBox="1"/>
          <p:nvPr/>
        </p:nvSpPr>
        <p:spPr>
          <a:xfrm>
            <a:off x="6693408" y="6062472"/>
            <a:ext cx="1005840" cy="219456"/>
          </a:xfrm>
          <a:prstGeom prst="rect">
            <a:avLst/>
          </a:prstGeom>
          <a:noFill/>
        </p:spPr>
        <p:txBody>
          <a:bodyPr wrap="square" lIns="0" rIns="0" tIns="0" bIns="0">
            <a:spAutoFit/>
          </a:bodyPr>
          <a:lstStyle/>
          <a:p>
            <a:pPr algn="l">
              <a:lnSpc>
                <a:spcPct val="125000"/>
              </a:lnSpc>
              <a:spcAft>
                <a:spcPts val="600"/>
              </a:spcAft>
            </a:pPr>
            <a:r>
              <a:rPr sz="1050" b="1">
                <a:solidFill>
                  <a:srgbClr val="ECEFF2"/>
                </a:solidFill>
                <a:latin typeface="Bahnschrift"/>
              </a:rPr>
              <a:t>7,0 : 1</a:t>
            </a:r>
          </a:p>
        </p:txBody>
      </p:sp>
      <p:sp>
        <p:nvSpPr>
          <p:cNvPr id="28" name="TextBox 27"/>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Wujud rancangan</a:t>
            </a:r>
          </a:p>
        </p:txBody>
      </p:sp>
      <p:sp>
        <p:nvSpPr>
          <p:cNvPr id="29" name="TextBox 28"/>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16 / 43</a:t>
            </a:r>
          </a:p>
        </p:txBody>
      </p:sp>
      <p:sp>
        <p:nvSpPr>
          <p:cNvPr id="30" name="Rectangle 29"/>
          <p:cNvSpPr/>
          <p:nvPr/>
        </p:nvSpPr>
        <p:spPr>
          <a:xfrm>
            <a:off x="0" y="6803136"/>
            <a:ext cx="4536444"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WUJUD RANCANGAN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Empat sudut lain</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Sudut dari BAWAH adalah yang paling berguna saat merakit — di situlah semua kabel dan solder berada, dan itu sisi yang paling jarang dilihat sebelum orang terlanjur menyolder.</a:t>
            </a:r>
          </a:p>
        </p:txBody>
      </p:sp>
      <p:pic>
        <p:nvPicPr>
          <p:cNvPr id="5" name="Picture 4" descr="hero-atas.png"/>
          <p:cNvPicPr>
            <a:picLocks noChangeAspect="1"/>
          </p:cNvPicPr>
          <p:nvPr/>
        </p:nvPicPr>
        <p:blipFill>
          <a:blip r:embed="rId3"/>
          <a:srcRect l="5357" r="5357"/>
          <a:stretch>
            <a:fillRect/>
          </a:stretch>
        </p:blipFill>
        <p:spPr>
          <a:xfrm>
            <a:off x="566928" y="2286000"/>
            <a:ext cx="2743200" cy="1920240"/>
          </a:xfrm>
          <a:prstGeom prst="rect">
            <a:avLst/>
          </a:prstGeom>
        </p:spPr>
      </p:pic>
      <p:sp>
        <p:nvSpPr>
          <p:cNvPr id="6" name="TextBox 5"/>
          <p:cNvSpPr txBox="1"/>
          <p:nvPr/>
        </p:nvSpPr>
        <p:spPr>
          <a:xfrm>
            <a:off x="3447288" y="2395728"/>
            <a:ext cx="2560320" cy="274320"/>
          </a:xfrm>
          <a:prstGeom prst="rect">
            <a:avLst/>
          </a:prstGeom>
          <a:noFill/>
        </p:spPr>
        <p:txBody>
          <a:bodyPr wrap="square" lIns="0" rIns="0" tIns="0" bIns="0">
            <a:spAutoFit/>
          </a:bodyPr>
          <a:lstStyle/>
          <a:p>
            <a:pPr algn="l">
              <a:lnSpc>
                <a:spcPct val="125000"/>
              </a:lnSpc>
              <a:spcAft>
                <a:spcPts val="600"/>
              </a:spcAft>
            </a:pPr>
            <a:r>
              <a:rPr sz="1500" b="1">
                <a:solidFill>
                  <a:srgbClr val="ECEFF2"/>
                </a:solidFill>
                <a:latin typeface="Bahnschrift"/>
              </a:rPr>
              <a:t>Dari atas</a:t>
            </a:r>
          </a:p>
        </p:txBody>
      </p:sp>
      <p:sp>
        <p:nvSpPr>
          <p:cNvPr id="7" name="TextBox 6"/>
          <p:cNvSpPr txBox="1"/>
          <p:nvPr/>
        </p:nvSpPr>
        <p:spPr>
          <a:xfrm>
            <a:off x="3447288" y="2788920"/>
            <a:ext cx="2560320" cy="1097280"/>
          </a:xfrm>
          <a:prstGeom prst="rect">
            <a:avLst/>
          </a:prstGeom>
          <a:noFill/>
        </p:spPr>
        <p:txBody>
          <a:bodyPr wrap="square" lIns="0" rIns="0" tIns="0" bIns="0">
            <a:spAutoFit/>
          </a:bodyPr>
          <a:lstStyle/>
          <a:p>
            <a:pPr algn="l">
              <a:lnSpc>
                <a:spcPct val="130000"/>
              </a:lnSpc>
              <a:spcAft>
                <a:spcPts val="600"/>
              </a:spcAft>
            </a:pPr>
            <a:r>
              <a:rPr sz="1100" b="0">
                <a:solidFill>
                  <a:srgbClr val="A9B4BE"/>
                </a:solidFill>
                <a:latin typeface="Segoe UI"/>
              </a:rPr>
              <a:t>Simetri True-X: keempat motor berjarak sama dari pusat.</a:t>
            </a:r>
          </a:p>
        </p:txBody>
      </p:sp>
      <p:pic>
        <p:nvPicPr>
          <p:cNvPr id="8" name="Picture 7" descr="hero-samping.png"/>
          <p:cNvPicPr>
            <a:picLocks noChangeAspect="1"/>
          </p:cNvPicPr>
          <p:nvPr/>
        </p:nvPicPr>
        <p:blipFill>
          <a:blip r:embed="rId4"/>
          <a:srcRect l="5357" r="5357"/>
          <a:stretch>
            <a:fillRect/>
          </a:stretch>
        </p:blipFill>
        <p:spPr>
          <a:xfrm>
            <a:off x="6144768" y="2286000"/>
            <a:ext cx="2743200" cy="1920240"/>
          </a:xfrm>
          <a:prstGeom prst="rect">
            <a:avLst/>
          </a:prstGeom>
        </p:spPr>
      </p:pic>
      <p:sp>
        <p:nvSpPr>
          <p:cNvPr id="9" name="TextBox 8"/>
          <p:cNvSpPr txBox="1"/>
          <p:nvPr/>
        </p:nvSpPr>
        <p:spPr>
          <a:xfrm>
            <a:off x="9025128" y="2395728"/>
            <a:ext cx="2560320" cy="274320"/>
          </a:xfrm>
          <a:prstGeom prst="rect">
            <a:avLst/>
          </a:prstGeom>
          <a:noFill/>
        </p:spPr>
        <p:txBody>
          <a:bodyPr wrap="square" lIns="0" rIns="0" tIns="0" bIns="0">
            <a:spAutoFit/>
          </a:bodyPr>
          <a:lstStyle/>
          <a:p>
            <a:pPr algn="l">
              <a:lnSpc>
                <a:spcPct val="125000"/>
              </a:lnSpc>
              <a:spcAft>
                <a:spcPts val="600"/>
              </a:spcAft>
            </a:pPr>
            <a:r>
              <a:rPr sz="1500" b="1">
                <a:solidFill>
                  <a:srgbClr val="ECEFF2"/>
                </a:solidFill>
                <a:latin typeface="Bahnschrift"/>
              </a:rPr>
              <a:t>Dari samping</a:t>
            </a:r>
          </a:p>
        </p:txBody>
      </p:sp>
      <p:sp>
        <p:nvSpPr>
          <p:cNvPr id="10" name="TextBox 9"/>
          <p:cNvSpPr txBox="1"/>
          <p:nvPr/>
        </p:nvSpPr>
        <p:spPr>
          <a:xfrm>
            <a:off x="9025128" y="2788920"/>
            <a:ext cx="2560320" cy="1097280"/>
          </a:xfrm>
          <a:prstGeom prst="rect">
            <a:avLst/>
          </a:prstGeom>
          <a:noFill/>
        </p:spPr>
        <p:txBody>
          <a:bodyPr wrap="square" lIns="0" rIns="0" tIns="0" bIns="0">
            <a:spAutoFit/>
          </a:bodyPr>
          <a:lstStyle/>
          <a:p>
            <a:pPr algn="l">
              <a:lnSpc>
                <a:spcPct val="130000"/>
              </a:lnSpc>
              <a:spcAft>
                <a:spcPts val="600"/>
              </a:spcAft>
            </a:pPr>
            <a:r>
              <a:rPr sz="1100" b="0">
                <a:solidFill>
                  <a:srgbClr val="A9B4BE"/>
                </a:solidFill>
                <a:latin typeface="Segoe UI"/>
              </a:rPr>
              <a:t>Tinggi total 95 mm. Baterai menumpuk di atas stack.</a:t>
            </a:r>
          </a:p>
        </p:txBody>
      </p:sp>
      <p:pic>
        <p:nvPicPr>
          <p:cNvPr id="11" name="Picture 10" descr="hero-belakang.png"/>
          <p:cNvPicPr>
            <a:picLocks noChangeAspect="1"/>
          </p:cNvPicPr>
          <p:nvPr/>
        </p:nvPicPr>
        <p:blipFill>
          <a:blip r:embed="rId5"/>
          <a:srcRect l="5357" r="5357"/>
          <a:stretch>
            <a:fillRect/>
          </a:stretch>
        </p:blipFill>
        <p:spPr>
          <a:xfrm>
            <a:off x="566928" y="4434840"/>
            <a:ext cx="2743200" cy="1920240"/>
          </a:xfrm>
          <a:prstGeom prst="rect">
            <a:avLst/>
          </a:prstGeom>
        </p:spPr>
      </p:pic>
      <p:sp>
        <p:nvSpPr>
          <p:cNvPr id="12" name="TextBox 11"/>
          <p:cNvSpPr txBox="1"/>
          <p:nvPr/>
        </p:nvSpPr>
        <p:spPr>
          <a:xfrm>
            <a:off x="3447288" y="4544568"/>
            <a:ext cx="2560320" cy="274320"/>
          </a:xfrm>
          <a:prstGeom prst="rect">
            <a:avLst/>
          </a:prstGeom>
          <a:noFill/>
        </p:spPr>
        <p:txBody>
          <a:bodyPr wrap="square" lIns="0" rIns="0" tIns="0" bIns="0">
            <a:spAutoFit/>
          </a:bodyPr>
          <a:lstStyle/>
          <a:p>
            <a:pPr algn="l">
              <a:lnSpc>
                <a:spcPct val="125000"/>
              </a:lnSpc>
              <a:spcAft>
                <a:spcPts val="600"/>
              </a:spcAft>
            </a:pPr>
            <a:r>
              <a:rPr sz="1500" b="1">
                <a:solidFill>
                  <a:srgbClr val="ECEFF2"/>
                </a:solidFill>
                <a:latin typeface="Bahnschrift"/>
              </a:rPr>
              <a:t>Dari belakang</a:t>
            </a:r>
          </a:p>
        </p:txBody>
      </p:sp>
      <p:sp>
        <p:nvSpPr>
          <p:cNvPr id="13" name="TextBox 12"/>
          <p:cNvSpPr txBox="1"/>
          <p:nvPr/>
        </p:nvSpPr>
        <p:spPr>
          <a:xfrm>
            <a:off x="3447288" y="4937760"/>
            <a:ext cx="2560320" cy="1097280"/>
          </a:xfrm>
          <a:prstGeom prst="rect">
            <a:avLst/>
          </a:prstGeom>
          <a:noFill/>
        </p:spPr>
        <p:txBody>
          <a:bodyPr wrap="square" lIns="0" rIns="0" tIns="0" bIns="0">
            <a:spAutoFit/>
          </a:bodyPr>
          <a:lstStyle/>
          <a:p>
            <a:pPr algn="l">
              <a:lnSpc>
                <a:spcPct val="130000"/>
              </a:lnSpc>
              <a:spcAft>
                <a:spcPts val="600"/>
              </a:spcAft>
            </a:pPr>
            <a:r>
              <a:rPr sz="1100" b="0">
                <a:solidFill>
                  <a:srgbClr val="A9B4BE"/>
                </a:solidFill>
                <a:latin typeface="Segoe UI"/>
              </a:rPr>
              <a:t>Antena VTX menjauh dari propeller, mengarah ke atas.</a:t>
            </a:r>
          </a:p>
        </p:txBody>
      </p:sp>
      <p:pic>
        <p:nvPicPr>
          <p:cNvPr id="14" name="Picture 13" descr="hero-bawah.png"/>
          <p:cNvPicPr>
            <a:picLocks noChangeAspect="1"/>
          </p:cNvPicPr>
          <p:nvPr/>
        </p:nvPicPr>
        <p:blipFill>
          <a:blip r:embed="rId6"/>
          <a:srcRect l="5357" r="5357"/>
          <a:stretch>
            <a:fillRect/>
          </a:stretch>
        </p:blipFill>
        <p:spPr>
          <a:xfrm>
            <a:off x="6144768" y="4434840"/>
            <a:ext cx="2743200" cy="1920240"/>
          </a:xfrm>
          <a:prstGeom prst="rect">
            <a:avLst/>
          </a:prstGeom>
        </p:spPr>
      </p:pic>
      <p:sp>
        <p:nvSpPr>
          <p:cNvPr id="15" name="TextBox 14"/>
          <p:cNvSpPr txBox="1"/>
          <p:nvPr/>
        </p:nvSpPr>
        <p:spPr>
          <a:xfrm>
            <a:off x="9025128" y="4544568"/>
            <a:ext cx="2560320" cy="274320"/>
          </a:xfrm>
          <a:prstGeom prst="rect">
            <a:avLst/>
          </a:prstGeom>
          <a:noFill/>
        </p:spPr>
        <p:txBody>
          <a:bodyPr wrap="square" lIns="0" rIns="0" tIns="0" bIns="0">
            <a:spAutoFit/>
          </a:bodyPr>
          <a:lstStyle/>
          <a:p>
            <a:pPr algn="l">
              <a:lnSpc>
                <a:spcPct val="125000"/>
              </a:lnSpc>
              <a:spcAft>
                <a:spcPts val="600"/>
              </a:spcAft>
            </a:pPr>
            <a:r>
              <a:rPr sz="1500" b="1">
                <a:solidFill>
                  <a:srgbClr val="ECEFF2"/>
                </a:solidFill>
                <a:latin typeface="Bahnschrift"/>
              </a:rPr>
              <a:t>Dari bawah</a:t>
            </a:r>
          </a:p>
        </p:txBody>
      </p:sp>
      <p:sp>
        <p:nvSpPr>
          <p:cNvPr id="16" name="TextBox 15"/>
          <p:cNvSpPr txBox="1"/>
          <p:nvPr/>
        </p:nvSpPr>
        <p:spPr>
          <a:xfrm>
            <a:off x="9025128" y="4937760"/>
            <a:ext cx="2560320" cy="1097280"/>
          </a:xfrm>
          <a:prstGeom prst="rect">
            <a:avLst/>
          </a:prstGeom>
          <a:noFill/>
        </p:spPr>
        <p:txBody>
          <a:bodyPr wrap="square" lIns="0" rIns="0" tIns="0" bIns="0">
            <a:spAutoFit/>
          </a:bodyPr>
          <a:lstStyle/>
          <a:p>
            <a:pPr algn="l">
              <a:lnSpc>
                <a:spcPct val="130000"/>
              </a:lnSpc>
              <a:spcAft>
                <a:spcPts val="600"/>
              </a:spcAft>
            </a:pPr>
            <a:r>
              <a:rPr sz="1100" b="0">
                <a:solidFill>
                  <a:srgbClr val="A9B4BE"/>
                </a:solidFill>
                <a:latin typeface="Segoe UI"/>
              </a:rPr>
              <a:t>Sisi solder — semua kabel dan pad ESC ada di sini.</a:t>
            </a:r>
          </a:p>
        </p:txBody>
      </p:sp>
      <p:sp>
        <p:nvSpPr>
          <p:cNvPr id="17" name="TextBox 16"/>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Sudut pandang</a:t>
            </a:r>
          </a:p>
        </p:txBody>
      </p:sp>
      <p:sp>
        <p:nvSpPr>
          <p:cNvPr id="18" name="TextBox 17"/>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17 / 43</a:t>
            </a:r>
          </a:p>
        </p:txBody>
      </p:sp>
      <p:sp>
        <p:nvSpPr>
          <p:cNvPr id="19" name="Rectangle 18"/>
          <p:cNvSpPr/>
          <p:nvPr/>
        </p:nvSpPr>
        <p:spPr>
          <a:xfrm>
            <a:off x="0" y="6803136"/>
            <a:ext cx="4819972"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WUJUD RANCANGAN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Terurai — semua isinya, berlabel</a:t>
            </a:r>
          </a:p>
        </p:txBody>
      </p:sp>
      <p:pic>
        <p:nvPicPr>
          <p:cNvPr id="4" name="Picture 3" descr="urai-label.png"/>
          <p:cNvPicPr>
            <a:picLocks noChangeAspect="1"/>
          </p:cNvPicPr>
          <p:nvPr/>
        </p:nvPicPr>
        <p:blipFill>
          <a:blip r:embed="rId3"/>
          <a:stretch>
            <a:fillRect/>
          </a:stretch>
        </p:blipFill>
        <p:spPr>
          <a:xfrm>
            <a:off x="609600" y="1463040"/>
            <a:ext cx="7376160" cy="5029200"/>
          </a:xfrm>
          <a:prstGeom prst="rect">
            <a:avLst/>
          </a:prstGeom>
        </p:spPr>
      </p:pic>
      <p:sp>
        <p:nvSpPr>
          <p:cNvPr id="5" name="Rectangle 4"/>
          <p:cNvSpPr/>
          <p:nvPr/>
        </p:nvSpPr>
        <p:spPr>
          <a:xfrm>
            <a:off x="8275320" y="1508760"/>
            <a:ext cx="3383280" cy="21488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75320" y="1508760"/>
            <a:ext cx="31750" cy="21488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76488" y="1673352"/>
            <a:ext cx="299923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DIAGRAM ORISINAL</a:t>
            </a:r>
          </a:p>
        </p:txBody>
      </p:sp>
      <p:sp>
        <p:nvSpPr>
          <p:cNvPr id="8" name="TextBox 7"/>
          <p:cNvSpPr txBox="1"/>
          <p:nvPr/>
        </p:nvSpPr>
        <p:spPr>
          <a:xfrm>
            <a:off x="8476488" y="1892808"/>
            <a:ext cx="299923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Dari desain kami sendiri</a:t>
            </a:r>
          </a:p>
        </p:txBody>
      </p:sp>
      <p:sp>
        <p:nvSpPr>
          <p:cNvPr id="9" name="TextBox 8"/>
          <p:cNvSpPr txBox="1"/>
          <p:nvPr/>
        </p:nvSpPr>
        <p:spPr>
          <a:xfrm>
            <a:off x="8476488" y="2240280"/>
            <a:ext cx="2999232" cy="1280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Setiap komponen dirender langsung dari geometri rancangan ini dalam ukuran milimeter asli — bukan foto, bukan tiruan. Garis penunjuk menamai tiap bagian.</a:t>
            </a:r>
          </a:p>
        </p:txBody>
      </p:sp>
      <p:sp>
        <p:nvSpPr>
          <p:cNvPr id="10" name="Rectangle 9"/>
          <p:cNvSpPr/>
          <p:nvPr/>
        </p:nvSpPr>
        <p:spPr>
          <a:xfrm>
            <a:off x="8275320" y="3794760"/>
            <a:ext cx="3383280" cy="21945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75320" y="3794760"/>
            <a:ext cx="31750" cy="219456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76488" y="3959352"/>
            <a:ext cx="299923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KENAPA INI PENTING</a:t>
            </a:r>
          </a:p>
        </p:txBody>
      </p:sp>
      <p:sp>
        <p:nvSpPr>
          <p:cNvPr id="13" name="TextBox 12"/>
          <p:cNvSpPr txBox="1"/>
          <p:nvPr/>
        </p:nvSpPr>
        <p:spPr>
          <a:xfrm>
            <a:off x="8476488" y="4178808"/>
            <a:ext cx="2999232" cy="167335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Urutan tumpukan ini SAMA dengan urutan perakitan — dan itu bukan kebetulan. Flight controller tak bisa dipasang sebelum ESC, baterai tak bisa sebelum pelat atas. Inilah alasan delapan tahap berikutnya tidak boleh ditukar urutannya.</a:t>
            </a:r>
          </a:p>
        </p:txBody>
      </p:sp>
      <p:sp>
        <p:nvSpPr>
          <p:cNvPr id="14" name="TextBox 13"/>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Pandangan terurai berlabel</a:t>
            </a:r>
          </a:p>
        </p:txBody>
      </p:sp>
      <p:sp>
        <p:nvSpPr>
          <p:cNvPr id="15" name="TextBox 14"/>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18 / 43</a:t>
            </a:r>
          </a:p>
        </p:txBody>
      </p:sp>
      <p:sp>
        <p:nvSpPr>
          <p:cNvPr id="16" name="Rectangle 15"/>
          <p:cNvSpPr/>
          <p:nvPr/>
        </p:nvSpPr>
        <p:spPr>
          <a:xfrm>
            <a:off x="0" y="6803136"/>
            <a:ext cx="5103500"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KOMPONEN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Sembilan komponen — </a:t>
            </a:r>
            <a:r>
              <a:rPr sz="3400" b="1">
                <a:solidFill>
                  <a:srgbClr val="F2662C"/>
                </a:solidFill>
                <a:latin typeface="Bahnschrift"/>
              </a:rPr>
              <a:t>render dari rancangan sendiri</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Bukan foto, bukan tiruan. Tiap komponen digambar dari geometri desain kita. Termasuk Raspberry Pi Zero 2 W (companion) yang membuat drone ini serbaguna — bisa merekam &amp;amp; mendeteksi objek.</a:t>
            </a:r>
          </a:p>
        </p:txBody>
      </p:sp>
      <p:sp>
        <p:nvSpPr>
          <p:cNvPr id="5" name="Rectangle 4"/>
          <p:cNvSpPr/>
          <p:nvPr/>
        </p:nvSpPr>
        <p:spPr>
          <a:xfrm>
            <a:off x="566928" y="2286000"/>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mp-frame.png"/>
          <p:cNvPicPr>
            <a:picLocks noChangeAspect="1"/>
          </p:cNvPicPr>
          <p:nvPr/>
        </p:nvPicPr>
        <p:blipFill>
          <a:blip r:embed="rId3"/>
          <a:stretch>
            <a:fillRect/>
          </a:stretch>
        </p:blipFill>
        <p:spPr>
          <a:xfrm>
            <a:off x="860498" y="2359152"/>
            <a:ext cx="1515978" cy="1280160"/>
          </a:xfrm>
          <a:prstGeom prst="rect">
            <a:avLst/>
          </a:prstGeom>
        </p:spPr>
      </p:pic>
      <p:sp>
        <p:nvSpPr>
          <p:cNvPr id="7" name="TextBox 6"/>
          <p:cNvSpPr txBox="1"/>
          <p:nvPr/>
        </p:nvSpPr>
        <p:spPr>
          <a:xfrm>
            <a:off x="676656" y="3657600"/>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Frame karbon 5 mm</a:t>
            </a:r>
          </a:p>
        </p:txBody>
      </p:sp>
      <p:sp>
        <p:nvSpPr>
          <p:cNvPr id="8" name="TextBox 7"/>
          <p:cNvSpPr txBox="1"/>
          <p:nvPr/>
        </p:nvSpPr>
        <p:spPr>
          <a:xfrm>
            <a:off x="676656" y="3895344"/>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Rp 450 rb</a:t>
            </a:r>
          </a:p>
        </p:txBody>
      </p:sp>
      <p:sp>
        <p:nvSpPr>
          <p:cNvPr id="9" name="Rectangle 8"/>
          <p:cNvSpPr/>
          <p:nvPr/>
        </p:nvSpPr>
        <p:spPr>
          <a:xfrm>
            <a:off x="2775204" y="2286000"/>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mp-motor.png"/>
          <p:cNvPicPr>
            <a:picLocks noChangeAspect="1"/>
          </p:cNvPicPr>
          <p:nvPr/>
        </p:nvPicPr>
        <p:blipFill>
          <a:blip r:embed="rId4"/>
          <a:stretch>
            <a:fillRect/>
          </a:stretch>
        </p:blipFill>
        <p:spPr>
          <a:xfrm>
            <a:off x="3068774" y="2359152"/>
            <a:ext cx="1515978" cy="1280160"/>
          </a:xfrm>
          <a:prstGeom prst="rect">
            <a:avLst/>
          </a:prstGeom>
        </p:spPr>
      </p:pic>
      <p:sp>
        <p:nvSpPr>
          <p:cNvPr id="11" name="TextBox 10"/>
          <p:cNvSpPr txBox="1"/>
          <p:nvPr/>
        </p:nvSpPr>
        <p:spPr>
          <a:xfrm>
            <a:off x="2884932" y="3657600"/>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Motor 2207 · 1900 KV</a:t>
            </a:r>
          </a:p>
        </p:txBody>
      </p:sp>
      <p:sp>
        <p:nvSpPr>
          <p:cNvPr id="12" name="TextBox 11"/>
          <p:cNvSpPr txBox="1"/>
          <p:nvPr/>
        </p:nvSpPr>
        <p:spPr>
          <a:xfrm>
            <a:off x="2884932" y="3895344"/>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Rp 1,28 jt · ×4</a:t>
            </a:r>
          </a:p>
        </p:txBody>
      </p:sp>
      <p:sp>
        <p:nvSpPr>
          <p:cNvPr id="13" name="Rectangle 12"/>
          <p:cNvSpPr/>
          <p:nvPr/>
        </p:nvSpPr>
        <p:spPr>
          <a:xfrm>
            <a:off x="4983480" y="2286000"/>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mp-esc.png"/>
          <p:cNvPicPr>
            <a:picLocks noChangeAspect="1"/>
          </p:cNvPicPr>
          <p:nvPr/>
        </p:nvPicPr>
        <p:blipFill>
          <a:blip r:embed="rId5"/>
          <a:stretch>
            <a:fillRect/>
          </a:stretch>
        </p:blipFill>
        <p:spPr>
          <a:xfrm>
            <a:off x="5277050" y="2359152"/>
            <a:ext cx="1515978" cy="1280160"/>
          </a:xfrm>
          <a:prstGeom prst="rect">
            <a:avLst/>
          </a:prstGeom>
        </p:spPr>
      </p:pic>
      <p:sp>
        <p:nvSpPr>
          <p:cNvPr id="15" name="TextBox 14"/>
          <p:cNvSpPr txBox="1"/>
          <p:nvPr/>
        </p:nvSpPr>
        <p:spPr>
          <a:xfrm>
            <a:off x="5093208" y="3657600"/>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ESC 4-in-1 55 A</a:t>
            </a:r>
          </a:p>
        </p:txBody>
      </p:sp>
      <p:sp>
        <p:nvSpPr>
          <p:cNvPr id="16" name="TextBox 15"/>
          <p:cNvSpPr txBox="1"/>
          <p:nvPr/>
        </p:nvSpPr>
        <p:spPr>
          <a:xfrm>
            <a:off x="5093208" y="3895344"/>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bagian dari stack</a:t>
            </a:r>
          </a:p>
        </p:txBody>
      </p:sp>
      <p:sp>
        <p:nvSpPr>
          <p:cNvPr id="17" name="Rectangle 16"/>
          <p:cNvSpPr/>
          <p:nvPr/>
        </p:nvSpPr>
        <p:spPr>
          <a:xfrm>
            <a:off x="7191756" y="2286000"/>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omp-fc.png"/>
          <p:cNvPicPr>
            <a:picLocks noChangeAspect="1"/>
          </p:cNvPicPr>
          <p:nvPr/>
        </p:nvPicPr>
        <p:blipFill>
          <a:blip r:embed="rId6"/>
          <a:stretch>
            <a:fillRect/>
          </a:stretch>
        </p:blipFill>
        <p:spPr>
          <a:xfrm>
            <a:off x="7485326" y="2359152"/>
            <a:ext cx="1515978" cy="1280160"/>
          </a:xfrm>
          <a:prstGeom prst="rect">
            <a:avLst/>
          </a:prstGeom>
        </p:spPr>
      </p:pic>
      <p:sp>
        <p:nvSpPr>
          <p:cNvPr id="19" name="TextBox 18"/>
          <p:cNvSpPr txBox="1"/>
          <p:nvPr/>
        </p:nvSpPr>
        <p:spPr>
          <a:xfrm>
            <a:off x="7301484" y="3657600"/>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Flight Controller F7</a:t>
            </a:r>
          </a:p>
        </p:txBody>
      </p:sp>
      <p:sp>
        <p:nvSpPr>
          <p:cNvPr id="20" name="TextBox 19"/>
          <p:cNvSpPr txBox="1"/>
          <p:nvPr/>
        </p:nvSpPr>
        <p:spPr>
          <a:xfrm>
            <a:off x="7301484" y="3895344"/>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bagian dari stack</a:t>
            </a:r>
          </a:p>
        </p:txBody>
      </p:sp>
      <p:sp>
        <p:nvSpPr>
          <p:cNvPr id="21" name="Rectangle 20"/>
          <p:cNvSpPr/>
          <p:nvPr/>
        </p:nvSpPr>
        <p:spPr>
          <a:xfrm>
            <a:off x="9400032" y="2286000"/>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p-kamera.png"/>
          <p:cNvPicPr>
            <a:picLocks noChangeAspect="1"/>
          </p:cNvPicPr>
          <p:nvPr/>
        </p:nvPicPr>
        <p:blipFill>
          <a:blip r:embed="rId7"/>
          <a:stretch>
            <a:fillRect/>
          </a:stretch>
        </p:blipFill>
        <p:spPr>
          <a:xfrm>
            <a:off x="9693602" y="2359152"/>
            <a:ext cx="1515978" cy="1280160"/>
          </a:xfrm>
          <a:prstGeom prst="rect">
            <a:avLst/>
          </a:prstGeom>
        </p:spPr>
      </p:pic>
      <p:sp>
        <p:nvSpPr>
          <p:cNvPr id="23" name="TextBox 22"/>
          <p:cNvSpPr txBox="1"/>
          <p:nvPr/>
        </p:nvSpPr>
        <p:spPr>
          <a:xfrm>
            <a:off x="9509760" y="3657600"/>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Kamera FPV 1200 TVL</a:t>
            </a:r>
          </a:p>
        </p:txBody>
      </p:sp>
      <p:sp>
        <p:nvSpPr>
          <p:cNvPr id="24" name="TextBox 23"/>
          <p:cNvSpPr txBox="1"/>
          <p:nvPr/>
        </p:nvSpPr>
        <p:spPr>
          <a:xfrm>
            <a:off x="9509760" y="3895344"/>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Rp 350 rb</a:t>
            </a:r>
          </a:p>
        </p:txBody>
      </p:sp>
      <p:sp>
        <p:nvSpPr>
          <p:cNvPr id="25" name="Rectangle 24"/>
          <p:cNvSpPr/>
          <p:nvPr/>
        </p:nvSpPr>
        <p:spPr>
          <a:xfrm>
            <a:off x="566928" y="4279392"/>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mp-vtx.png"/>
          <p:cNvPicPr>
            <a:picLocks noChangeAspect="1"/>
          </p:cNvPicPr>
          <p:nvPr/>
        </p:nvPicPr>
        <p:blipFill>
          <a:blip r:embed="rId8"/>
          <a:stretch>
            <a:fillRect/>
          </a:stretch>
        </p:blipFill>
        <p:spPr>
          <a:xfrm>
            <a:off x="860498" y="4352544"/>
            <a:ext cx="1515978" cy="1280160"/>
          </a:xfrm>
          <a:prstGeom prst="rect">
            <a:avLst/>
          </a:prstGeom>
        </p:spPr>
      </p:pic>
      <p:sp>
        <p:nvSpPr>
          <p:cNvPr id="27" name="TextBox 26"/>
          <p:cNvSpPr txBox="1"/>
          <p:nvPr/>
        </p:nvSpPr>
        <p:spPr>
          <a:xfrm>
            <a:off x="676656" y="5650992"/>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VTX 5.8 GHz + antena</a:t>
            </a:r>
          </a:p>
        </p:txBody>
      </p:sp>
      <p:sp>
        <p:nvSpPr>
          <p:cNvPr id="28" name="TextBox 27"/>
          <p:cNvSpPr txBox="1"/>
          <p:nvPr/>
        </p:nvSpPr>
        <p:spPr>
          <a:xfrm>
            <a:off x="676656" y="5888736"/>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Rp 420 rb</a:t>
            </a:r>
          </a:p>
        </p:txBody>
      </p:sp>
      <p:sp>
        <p:nvSpPr>
          <p:cNvPr id="29" name="Rectangle 28"/>
          <p:cNvSpPr/>
          <p:nvPr/>
        </p:nvSpPr>
        <p:spPr>
          <a:xfrm>
            <a:off x="2775204" y="4279392"/>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omp-baterai.png"/>
          <p:cNvPicPr>
            <a:picLocks noChangeAspect="1"/>
          </p:cNvPicPr>
          <p:nvPr/>
        </p:nvPicPr>
        <p:blipFill>
          <a:blip r:embed="rId9"/>
          <a:stretch>
            <a:fillRect/>
          </a:stretch>
        </p:blipFill>
        <p:spPr>
          <a:xfrm>
            <a:off x="3068774" y="4352544"/>
            <a:ext cx="1515978" cy="1280160"/>
          </a:xfrm>
          <a:prstGeom prst="rect">
            <a:avLst/>
          </a:prstGeom>
        </p:spPr>
      </p:pic>
      <p:sp>
        <p:nvSpPr>
          <p:cNvPr id="31" name="TextBox 30"/>
          <p:cNvSpPr txBox="1"/>
          <p:nvPr/>
        </p:nvSpPr>
        <p:spPr>
          <a:xfrm>
            <a:off x="2884932" y="5650992"/>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Baterai LiPo 6S</a:t>
            </a:r>
          </a:p>
        </p:txBody>
      </p:sp>
      <p:sp>
        <p:nvSpPr>
          <p:cNvPr id="32" name="TextBox 31"/>
          <p:cNvSpPr txBox="1"/>
          <p:nvPr/>
        </p:nvSpPr>
        <p:spPr>
          <a:xfrm>
            <a:off x="2884932" y="5888736"/>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Rp 480 rb · ×2</a:t>
            </a:r>
          </a:p>
        </p:txBody>
      </p:sp>
      <p:sp>
        <p:nvSpPr>
          <p:cNvPr id="33" name="Rectangle 32"/>
          <p:cNvSpPr/>
          <p:nvPr/>
        </p:nvSpPr>
        <p:spPr>
          <a:xfrm>
            <a:off x="4983480" y="4279392"/>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comp-propeller.png"/>
          <p:cNvPicPr>
            <a:picLocks noChangeAspect="1"/>
          </p:cNvPicPr>
          <p:nvPr/>
        </p:nvPicPr>
        <p:blipFill>
          <a:blip r:embed="rId10"/>
          <a:stretch>
            <a:fillRect/>
          </a:stretch>
        </p:blipFill>
        <p:spPr>
          <a:xfrm>
            <a:off x="5277050" y="4352544"/>
            <a:ext cx="1515978" cy="1280160"/>
          </a:xfrm>
          <a:prstGeom prst="rect">
            <a:avLst/>
          </a:prstGeom>
        </p:spPr>
      </p:pic>
      <p:sp>
        <p:nvSpPr>
          <p:cNvPr id="35" name="TextBox 34"/>
          <p:cNvSpPr txBox="1"/>
          <p:nvPr/>
        </p:nvSpPr>
        <p:spPr>
          <a:xfrm>
            <a:off x="5093208" y="5650992"/>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Propeller 5×4,3×3</a:t>
            </a:r>
          </a:p>
        </p:txBody>
      </p:sp>
      <p:sp>
        <p:nvSpPr>
          <p:cNvPr id="36" name="TextBox 35"/>
          <p:cNvSpPr txBox="1"/>
          <p:nvPr/>
        </p:nvSpPr>
        <p:spPr>
          <a:xfrm>
            <a:off x="5093208" y="5888736"/>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Rp 35 rb / set</a:t>
            </a:r>
          </a:p>
        </p:txBody>
      </p:sp>
      <p:sp>
        <p:nvSpPr>
          <p:cNvPr id="37" name="Rectangle 36"/>
          <p:cNvSpPr/>
          <p:nvPr/>
        </p:nvSpPr>
        <p:spPr>
          <a:xfrm>
            <a:off x="7191756" y="4279392"/>
            <a:ext cx="2103120" cy="184708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comp-pi.png"/>
          <p:cNvPicPr>
            <a:picLocks noChangeAspect="1"/>
          </p:cNvPicPr>
          <p:nvPr/>
        </p:nvPicPr>
        <p:blipFill>
          <a:blip r:embed="rId11"/>
          <a:stretch>
            <a:fillRect/>
          </a:stretch>
        </p:blipFill>
        <p:spPr>
          <a:xfrm>
            <a:off x="7485326" y="4352544"/>
            <a:ext cx="1515978" cy="1280160"/>
          </a:xfrm>
          <a:prstGeom prst="rect">
            <a:avLst/>
          </a:prstGeom>
        </p:spPr>
      </p:pic>
      <p:sp>
        <p:nvSpPr>
          <p:cNvPr id="39" name="TextBox 38"/>
          <p:cNvSpPr txBox="1"/>
          <p:nvPr/>
        </p:nvSpPr>
        <p:spPr>
          <a:xfrm>
            <a:off x="7301484" y="5650992"/>
            <a:ext cx="1883663" cy="274320"/>
          </a:xfrm>
          <a:prstGeom prst="rect">
            <a:avLst/>
          </a:prstGeom>
          <a:noFill/>
        </p:spPr>
        <p:txBody>
          <a:bodyPr wrap="square" lIns="0" rIns="0" tIns="0" bIns="0">
            <a:spAutoFit/>
          </a:bodyPr>
          <a:lstStyle/>
          <a:p>
            <a:pPr algn="l">
              <a:lnSpc>
                <a:spcPct val="125000"/>
              </a:lnSpc>
              <a:spcAft>
                <a:spcPts val="600"/>
              </a:spcAft>
            </a:pPr>
            <a:r>
              <a:rPr sz="1100" b="1">
                <a:solidFill>
                  <a:srgbClr val="ECEFF2"/>
                </a:solidFill>
                <a:latin typeface="Bahnschrift"/>
              </a:rPr>
              <a:t>Raspberry Pi Zero 2 W</a:t>
            </a:r>
          </a:p>
        </p:txBody>
      </p:sp>
      <p:sp>
        <p:nvSpPr>
          <p:cNvPr id="40" name="TextBox 39"/>
          <p:cNvSpPr txBox="1"/>
          <p:nvPr/>
        </p:nvSpPr>
        <p:spPr>
          <a:xfrm>
            <a:off x="7301484" y="5888736"/>
            <a:ext cx="1883663" cy="201168"/>
          </a:xfrm>
          <a:prstGeom prst="rect">
            <a:avLst/>
          </a:prstGeom>
          <a:noFill/>
        </p:spPr>
        <p:txBody>
          <a:bodyPr wrap="square" lIns="0" rIns="0" tIns="0" bIns="0">
            <a:spAutoFit/>
          </a:bodyPr>
          <a:lstStyle/>
          <a:p>
            <a:pPr algn="l">
              <a:lnSpc>
                <a:spcPct val="125000"/>
              </a:lnSpc>
              <a:spcAft>
                <a:spcPts val="600"/>
              </a:spcAft>
            </a:pPr>
            <a:r>
              <a:rPr sz="950" b="0">
                <a:solidFill>
                  <a:srgbClr val="F2662C"/>
                </a:solidFill>
                <a:latin typeface="Consolas"/>
              </a:rPr>
              <a:t>companion + CV</a:t>
            </a:r>
          </a:p>
        </p:txBody>
      </p:sp>
      <p:sp>
        <p:nvSpPr>
          <p:cNvPr id="41" name="TextBox 40"/>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Galeri komponen · render orisinal</a:t>
            </a:r>
          </a:p>
        </p:txBody>
      </p:sp>
      <p:sp>
        <p:nvSpPr>
          <p:cNvPr id="42" name="TextBox 41"/>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19 / 43</a:t>
            </a:r>
          </a:p>
        </p:txBody>
      </p:sp>
      <p:sp>
        <p:nvSpPr>
          <p:cNvPr id="43" name="Rectangle 42"/>
          <p:cNvSpPr/>
          <p:nvPr/>
        </p:nvSpPr>
        <p:spPr>
          <a:xfrm>
            <a:off x="0" y="6803136"/>
            <a:ext cx="5387028"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1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Frame kering</a:t>
            </a:r>
          </a:p>
        </p:txBody>
      </p:sp>
      <p:pic>
        <p:nvPicPr>
          <p:cNvPr id="4" name="Picture 3" descr="tahap-1.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45 menit        🔧 Obeng hex 2.0 · Loctite biru</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Rakit seluruh frame TANPA satu pun komponen elektronik, lalu bongkar lagi.</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Tujuannya bukan merakit, tapi MEMERIKSA. Frame karbon punya toleransi manufaktur, dan lubang baut yang meleset setengah milimeter baru terasa saat empat lengan dipasang bersamaan. Kalau baut seret sekarang, itu masalah lima menit. Kalau baru ketahuan setelah ESC tersolder, itu masalah lima jam.</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Loctite MERAH bersifat permanen — hanya lepas di 250°C, dan kalian akan merusak frame saat mencoba membongkarnya. Pakai yang BIRU (243).</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Pelat atas duduk rata tanpa dipaksa, tidak ada lengan yang bergoyang.</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1/8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20 / 43</a:t>
            </a:r>
          </a:p>
        </p:txBody>
      </p:sp>
      <p:sp>
        <p:nvSpPr>
          <p:cNvPr id="18" name="Rectangle 17"/>
          <p:cNvSpPr/>
          <p:nvPr/>
        </p:nvSpPr>
        <p:spPr>
          <a:xfrm>
            <a:off x="0" y="6803136"/>
            <a:ext cx="5670555"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2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Pasang motor</a:t>
            </a:r>
          </a:p>
        </p:txBody>
      </p:sp>
      <p:pic>
        <p:nvPicPr>
          <p:cNvPr id="4" name="Picture 3" descr="tahap-2.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30 menit        🔧 Obeng hex 2.0 · Loctite biru</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Empat motor, empat baut masing-masing. Yang menentukan bukan cara memasangnya — tapi PANJANG BAUTNYA.</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Baut yang terlalu panjang menembus dan menyentuh lilitan tembaga di dalam motor. Motornya tetap berputar saat diuji di meja, lalu MATI TOTAL DI UDARA — dan kalian tidak akan pernah tahu penyebabnya. Ini kegagalan klasik yang menghabiskan berhari-hari waktu pencarian.</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Baut motor yang lepas saat terbang = drone hilang. Bukan kiasan: motor terlepas, drone berputar liar, menghilang di semak. Loctite biru harganya Rp 40 ribu.</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Putar tiap bell motor dengan jari — harus mulus, tanpa suara gesekan.</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2/8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21 / 43</a:t>
            </a:r>
          </a:p>
        </p:txBody>
      </p:sp>
      <p:sp>
        <p:nvSpPr>
          <p:cNvPr id="18" name="Rectangle 17"/>
          <p:cNvSpPr/>
          <p:nvPr/>
        </p:nvSpPr>
        <p:spPr>
          <a:xfrm>
            <a:off x="0" y="6803136"/>
            <a:ext cx="5954083"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3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Solder ESC, XT60, kapasitor</a:t>
            </a:r>
          </a:p>
        </p:txBody>
      </p:sp>
      <p:pic>
        <p:nvPicPr>
          <p:cNvPr id="4" name="Picture 3" descr="tahap-3.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2 jam        🔧 Solder 60 W chisel · timah 60/40 · multimeter</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Tahap paling berisiko dalam seluruh proyek. DI SINILAH DRONE TERBAKAR, kalau ia akan terbakar.</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Tiga kabel per motor, dua belas sambungan, lalu XT60 dan kapasitor. Urutan kabel motor bebas — arah putaran diperbaiki lewat software, bukan dengan menukar kabel. Yang tidak boleh salah adalah POLARITAS: merah ke plus, hitam ke minus, kaki panjang kapasitor ke pad merah.</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Kapasitor terbalik akan MELEDAK. Dan penyalaan pertama WAJIB lewat smoke stopper — kalau ada korslet, yang mati alat Rp 150 ribu itu, bukan ESC + FC kalian yang Rp 1,25 juta.</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Multimeter tidak berbunyi antara + dan −. Semua sambungan mengilap, bukan menggumpal.</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3/8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22 / 43</a:t>
            </a:r>
          </a:p>
        </p:txBody>
      </p:sp>
      <p:sp>
        <p:nvSpPr>
          <p:cNvPr id="18" name="Rectangle 17"/>
          <p:cNvSpPr/>
          <p:nvPr/>
        </p:nvSpPr>
        <p:spPr>
          <a:xfrm>
            <a:off x="0" y="6803136"/>
            <a:ext cx="6237611"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4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Tumpuk flight controller</a:t>
            </a:r>
          </a:p>
        </p:txBody>
      </p:sp>
      <p:pic>
        <p:nvPicPr>
          <p:cNvPr id="4" name="Picture 3" descr="tahap-4.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30 menit        🔧 Obeng hex 2.0 · grommet karet</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FC ditumpuk di atas ESC. Yang menentukan kualitas terbang di sini bukan cara memasangnya, tapi KARET PEREDAMNYA.</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Gyro adalah sensor paling sensitif di drone — ia membaca 8 000 kali per detik. Kalau getaran motor merambat lewat baut logam, gyro membaca getaran itu sebagai 'gerakan drone', dan PID berusaha mengoreksinya. Hasilnya: motor bergetar mengejar hantu, lalu panas.</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FC yang dibaut kencang langsung ke karbon = tune tidak akan pernah bagus, sekeras apa pun dicoba. Banyak orang menghabiskan berminggu-minggu menyalahkan PID, padahal masalahnya ada di empat karet seharga Rp 5 ribu.</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Buka Betaflight — model 3D di layar bergerak mengikuti drone, dan arahnya benar.</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4/8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23 / 43</a:t>
            </a:r>
          </a:p>
        </p:txBody>
      </p:sp>
      <p:sp>
        <p:nvSpPr>
          <p:cNvPr id="18" name="Rectangle 17"/>
          <p:cNvSpPr/>
          <p:nvPr/>
        </p:nvSpPr>
        <p:spPr>
          <a:xfrm>
            <a:off x="0" y="6803136"/>
            <a:ext cx="6521139"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5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Kamera &amp; pelat depan</a:t>
            </a:r>
          </a:p>
        </p:txBody>
      </p:sp>
      <p:pic>
        <p:nvPicPr>
          <p:cNvPr id="4" name="Picture 3" descr="tahap-5.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40 menit        🔧 Obeng hex 1.5 · solder</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Kamera dijepit dua pelat karbon di hidung drone, dimiringkan 25–30° KE ATAS.</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Kenapa dimiringkan? Karena drone terbang dalam kondisi NUNDUK — untuk maju, ia memiringkan badannya ke depan. Kalau kamera dipasang lurus, yang terlihat saat melaju kencang hanyalah tanah. Makin miring ke atas, makin cepat gaya terbang yang didukungnya.</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Kabel kamera yang menjuntai akan TERSAYAT PROPELLER pada penerbangan pertama. Semua kabel harus terikat atau terselip — tidak ada yang boleh melewati bidang putaran propeller.</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Gambar muncul di goggles, tidak miring, tanpa garis noise berjalan.</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5/8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24 / 43</a:t>
            </a:r>
          </a:p>
        </p:txBody>
      </p:sp>
      <p:sp>
        <p:nvSpPr>
          <p:cNvPr id="18" name="Rectangle 17"/>
          <p:cNvSpPr/>
          <p:nvPr/>
        </p:nvSpPr>
        <p:spPr>
          <a:xfrm>
            <a:off x="0" y="6803136"/>
            <a:ext cx="6804666"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6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VTX, antena, penerima</a:t>
            </a:r>
          </a:p>
        </p:txBody>
      </p:sp>
      <p:pic>
        <p:nvPicPr>
          <p:cNvPr id="4" name="Picture 3" descr="tahap-6.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45 menit        🔧 Solder · zip tie · heat shrink</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Tiga komponen radio. Kuncinya adalah MENJAUHKAN MEREKA SATU SAMA LAIN.</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VTX 800 mW memancarkan sinyal yang cukup kuat untuk MENULIKAN penerima ELRS yang letaknya berdempetan. Ini penyebab umum 'jangkauan radio pendek' yang membuat orang menyalahkan penerimanya. Solusinya gratis: jauhkan kedua antena, dan buat keduanya saling tegak lurus.</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JANGAN PERNAH menyalakan VTX tanpa antena terpasang. Daya pancarnya memantul kembali dan membakar penguat di dalamnya dalam hitungan detik. Tidak bisa diperbaiki.</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Berjalan 100 m menjauh: gambar tetap jernih, drone tetap merespons stik.</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6/8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25 / 43</a:t>
            </a:r>
          </a:p>
        </p:txBody>
      </p:sp>
      <p:sp>
        <p:nvSpPr>
          <p:cNvPr id="18" name="Rectangle 17"/>
          <p:cNvSpPr/>
          <p:nvPr/>
        </p:nvSpPr>
        <p:spPr>
          <a:xfrm>
            <a:off x="0" y="6803136"/>
            <a:ext cx="7088194"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7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Pelat atas &amp; baterai</a:t>
            </a:r>
          </a:p>
        </p:txBody>
      </p:sp>
      <p:pic>
        <p:nvPicPr>
          <p:cNvPr id="4" name="Picture 3" descr="tahap-7.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20 menit        🔧 Obeng hex 2.0 · battery strap</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Drone sekarang LENGKAP — kecuali propeller.</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Kenapa baterai di atas, bukan di bawah? Tiga alasan: mudah diganti tanpa membalik drone; ia menjadi PELINDUNG ELEKTRONIK saat drone jatuh terbalik (dan drone AKAN jatuh terbalik); serta menaikkan titik berat sedikit, yang membuat drone lebih mudah diayun saat flip.</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Baterai yang terlepas saat terbang bukan cuma kehilangan baterai — kabelnya tersentak putus dan drone MATI SEKETIKA di udara. Pad anti-slip bukan aksesori opsional.</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Guncang drone terbalik: tidak ada yang bergeser, baterai tidak bergerak sedikit pun.</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7/8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26 / 43</a:t>
            </a:r>
          </a:p>
        </p:txBody>
      </p:sp>
      <p:sp>
        <p:nvSpPr>
          <p:cNvPr id="18" name="Rectangle 17"/>
          <p:cNvSpPr/>
          <p:nvPr/>
        </p:nvSpPr>
        <p:spPr>
          <a:xfrm>
            <a:off x="0" y="6803136"/>
            <a:ext cx="7371722"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PERAKITAN · TAHAP 8 DARI 8</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Propeller — dan terbang</a:t>
            </a:r>
          </a:p>
        </p:txBody>
      </p:sp>
      <p:pic>
        <p:nvPicPr>
          <p:cNvPr id="4" name="Picture 3" descr="tahap-8.png"/>
          <p:cNvPicPr>
            <a:picLocks noChangeAspect="1"/>
          </p:cNvPicPr>
          <p:nvPr/>
        </p:nvPicPr>
        <p:blipFill>
          <a:blip r:embed="rId3"/>
          <a:srcRect l="272" r="272"/>
          <a:stretch>
            <a:fillRect/>
          </a:stretch>
        </p:blipFill>
        <p:spPr>
          <a:xfrm>
            <a:off x="566928" y="1572768"/>
            <a:ext cx="5577840" cy="4206240"/>
          </a:xfrm>
          <a:prstGeom prst="rect">
            <a:avLst/>
          </a:prstGeom>
        </p:spPr>
      </p:pic>
      <p:sp>
        <p:nvSpPr>
          <p:cNvPr id="5" name="TextBox 4"/>
          <p:cNvSpPr txBox="1"/>
          <p:nvPr/>
        </p:nvSpPr>
        <p:spPr>
          <a:xfrm>
            <a:off x="566928" y="5870448"/>
            <a:ext cx="5577840" cy="274320"/>
          </a:xfrm>
          <a:prstGeom prst="rect">
            <a:avLst/>
          </a:prstGeom>
          <a:noFill/>
        </p:spPr>
        <p:txBody>
          <a:bodyPr wrap="square" lIns="0" rIns="0" tIns="0" bIns="0">
            <a:spAutoFit/>
          </a:bodyPr>
          <a:lstStyle/>
          <a:p>
            <a:pPr algn="l">
              <a:lnSpc>
                <a:spcPct val="125000"/>
              </a:lnSpc>
              <a:spcAft>
                <a:spcPts val="600"/>
              </a:spcAft>
            </a:pPr>
            <a:r>
              <a:rPr sz="950" b="0">
                <a:solidFill>
                  <a:srgbClr val="6F7C88"/>
                </a:solidFill>
                <a:latin typeface="Consolas"/>
              </a:rPr>
              <a:t>⏱ 10 menit        🔧 Prop tool · lapangan terbuka</a:t>
            </a:r>
          </a:p>
        </p:txBody>
      </p:sp>
      <p:sp>
        <p:nvSpPr>
          <p:cNvPr id="6" name="TextBox 5"/>
          <p:cNvSpPr txBox="1"/>
          <p:nvPr/>
        </p:nvSpPr>
        <p:spPr>
          <a:xfrm>
            <a:off x="6400800" y="1600200"/>
            <a:ext cx="5230368" cy="640080"/>
          </a:xfrm>
          <a:prstGeom prst="rect">
            <a:avLst/>
          </a:prstGeom>
          <a:noFill/>
        </p:spPr>
        <p:txBody>
          <a:bodyPr wrap="square" lIns="0" rIns="0" tIns="0" bIns="0">
            <a:spAutoFit/>
          </a:bodyPr>
          <a:lstStyle/>
          <a:p>
            <a:pPr algn="l">
              <a:lnSpc>
                <a:spcPct val="135000"/>
              </a:lnSpc>
              <a:spcAft>
                <a:spcPts val="600"/>
              </a:spcAft>
            </a:pPr>
            <a:r>
              <a:rPr sz="1350" b="0">
                <a:solidFill>
                  <a:srgbClr val="ECEFF2"/>
                </a:solidFill>
                <a:latin typeface="Segoe UI"/>
              </a:rPr>
              <a:t>Propeller adalah hal TERAKHIR yang dipasang, dan PERTAMA yang dilepas. Pasang di lapangan, bukan di rumah.</a:t>
            </a:r>
          </a:p>
        </p:txBody>
      </p:sp>
      <p:sp>
        <p:nvSpPr>
          <p:cNvPr id="7" name="TextBox 6"/>
          <p:cNvSpPr txBox="1"/>
          <p:nvPr/>
        </p:nvSpPr>
        <p:spPr>
          <a:xfrm>
            <a:off x="6400800" y="2423160"/>
            <a:ext cx="5230368" cy="137160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Sebelum sampai di sini, seluruh konfigurasi Betaflight harus SUDAH SELESAI: arah putaran motor benar, failsafe di-set ke Drop, radio ter-bind, mode Arm terpasang di switch. Semua itu dilakukan TANPA PROPELLER. Kalau ada satu saja yang belum, jangan pasang propeller.</a:t>
            </a:r>
          </a:p>
        </p:txBody>
      </p:sp>
      <p:sp>
        <p:nvSpPr>
          <p:cNvPr id="8" name="Rectangle 7"/>
          <p:cNvSpPr/>
          <p:nvPr/>
        </p:nvSpPr>
        <p:spPr>
          <a:xfrm>
            <a:off x="6400800" y="3977639"/>
            <a:ext cx="5230368" cy="1143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3977639"/>
            <a:ext cx="31750" cy="11430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4142231"/>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KESALAHAN YANG SERING TERJADI</a:t>
            </a:r>
          </a:p>
        </p:txBody>
      </p:sp>
      <p:sp>
        <p:nvSpPr>
          <p:cNvPr id="11" name="TextBox 10"/>
          <p:cNvSpPr txBox="1"/>
          <p:nvPr/>
        </p:nvSpPr>
        <p:spPr>
          <a:xfrm>
            <a:off x="6601968" y="4361687"/>
            <a:ext cx="4846320" cy="6217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Bilah 5 inci pada 25 000 RPM bisa membuka jari sampai tulang. Tidak ada 'cuma sebentar'. Tidak ada 'saya hati-hati kok'.</a:t>
            </a:r>
          </a:p>
        </p:txBody>
      </p:sp>
      <p:sp>
        <p:nvSpPr>
          <p:cNvPr id="12" name="Rectangle 11"/>
          <p:cNvSpPr/>
          <p:nvPr/>
        </p:nvSpPr>
        <p:spPr>
          <a:xfrm>
            <a:off x="6400800" y="5257800"/>
            <a:ext cx="5230368" cy="86868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5257800"/>
            <a:ext cx="31750" cy="86868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5422392"/>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CEK SEBELUM LANJUT</a:t>
            </a:r>
          </a:p>
        </p:txBody>
      </p:sp>
      <p:sp>
        <p:nvSpPr>
          <p:cNvPr id="15" name="TextBox 14"/>
          <p:cNvSpPr txBox="1"/>
          <p:nvPr/>
        </p:nvSpPr>
        <p:spPr>
          <a:xfrm>
            <a:off x="6601968" y="5641848"/>
            <a:ext cx="4846320" cy="34747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Hover stabil 30 detik, motor hangat tapi masih bisa dipegang, tidak ada suara mendengung.</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Perakitan · tahap 8/8</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27 / 43</a:t>
            </a:r>
          </a:p>
        </p:txBody>
      </p:sp>
      <p:sp>
        <p:nvSpPr>
          <p:cNvPr id="18" name="Rectangle 17"/>
          <p:cNvSpPr/>
          <p:nvPr/>
        </p:nvSpPr>
        <p:spPr>
          <a:xfrm>
            <a:off x="0" y="6803136"/>
            <a:ext cx="7655250"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KOMPONEN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Apa yang dibeli, dan kenapa</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Setiap baris berisi produk konkret. SEMUA HARGA ADALAH ESTIMASI yang belum diverifikasi ke marketplace — di sinilah koreksi kalian paling berharga.</a:t>
            </a:r>
          </a:p>
        </p:txBody>
      </p:sp>
      <p:graphicFrame>
        <p:nvGraphicFramePr>
          <p:cNvPr id="5" name="Table 4"/>
          <p:cNvGraphicFramePr>
            <a:graphicFrameLocks noGrp="1"/>
          </p:cNvGraphicFramePr>
          <p:nvPr/>
        </p:nvGraphicFramePr>
        <p:xfrm>
          <a:off x="566928" y="2240280"/>
          <a:ext cx="10621668" cy="3771900"/>
        </p:xfrm>
        <a:graphic>
          <a:graphicData uri="http://schemas.openxmlformats.org/drawingml/2006/table">
            <a:tbl>
              <a:tblPr firstRow="0" bandRow="0">
                <a:tableStyleId>{5C22544A-7EE6-4342-B048-85BDC9FD1C3A}</a:tableStyleId>
              </a:tblPr>
              <a:tblGrid>
                <a:gridCol w="1548993"/>
                <a:gridCol w="2987344"/>
                <a:gridCol w="3983126"/>
                <a:gridCol w="885139"/>
                <a:gridCol w="1217066"/>
              </a:tblGrid>
              <a:tr h="342900">
                <a:tc>
                  <a:txBody>
                    <a:bodyPr/>
                    <a:lstStyle/>
                    <a:p>
                      <a:r>
                        <a:rPr sz="850" b="1">
                          <a:solidFill>
                            <a:srgbClr val="6F7C88"/>
                          </a:solidFill>
                          <a:latin typeface="Consolas"/>
                        </a:rPr>
                        <a:t>KOMPONEN</a:t>
                      </a:r>
                    </a:p>
                  </a:txBody>
                  <a:tcPr marL="73152" marR="73152" anchor="ctr">
                    <a:solidFill>
                      <a:srgbClr val="182029"/>
                    </a:solidFill>
                  </a:tcPr>
                </a:tc>
                <a:tc>
                  <a:txBody>
                    <a:bodyPr/>
                    <a:lstStyle/>
                    <a:p>
                      <a:r>
                        <a:rPr sz="850" b="1">
                          <a:solidFill>
                            <a:srgbClr val="6F7C88"/>
                          </a:solidFill>
                          <a:latin typeface="Consolas"/>
                        </a:rPr>
                        <a:t>PRODUK USULAN</a:t>
                      </a:r>
                    </a:p>
                  </a:txBody>
                  <a:tcPr marL="73152" marR="73152" anchor="ctr">
                    <a:solidFill>
                      <a:srgbClr val="182029"/>
                    </a:solidFill>
                  </a:tcPr>
                </a:tc>
                <a:tc>
                  <a:txBody>
                    <a:bodyPr/>
                    <a:lstStyle/>
                    <a:p>
                      <a:r>
                        <a:rPr sz="850" b="1">
                          <a:solidFill>
                            <a:srgbClr val="6F7C88"/>
                          </a:solidFill>
                          <a:latin typeface="Consolas"/>
                        </a:rPr>
                        <a:t>ALASAN PEMILIHAN</a:t>
                      </a:r>
                    </a:p>
                  </a:txBody>
                  <a:tcPr marL="73152" marR="73152" anchor="ctr">
                    <a:solidFill>
                      <a:srgbClr val="182029"/>
                    </a:solidFill>
                  </a:tcPr>
                </a:tc>
                <a:tc>
                  <a:txBody>
                    <a:bodyPr/>
                    <a:lstStyle/>
                    <a:p>
                      <a:pPr algn="r"/>
                      <a:r>
                        <a:rPr sz="850" b="1">
                          <a:solidFill>
                            <a:srgbClr val="6F7C88"/>
                          </a:solidFill>
                          <a:latin typeface="Consolas"/>
                        </a:rPr>
                        <a:t>QTY</a:t>
                      </a:r>
                    </a:p>
                  </a:txBody>
                  <a:tcPr marL="73152" marR="73152" anchor="ctr">
                    <a:solidFill>
                      <a:srgbClr val="182029"/>
                    </a:solidFill>
                  </a:tcPr>
                </a:tc>
                <a:tc>
                  <a:txBody>
                    <a:bodyPr/>
                    <a:lstStyle/>
                    <a:p>
                      <a:pPr algn="r"/>
                      <a:r>
                        <a:rPr sz="850" b="1">
                          <a:solidFill>
                            <a:srgbClr val="6F7C88"/>
                          </a:solidFill>
                          <a:latin typeface="Consolas"/>
                        </a:rPr>
                        <a:t>RP</a:t>
                      </a:r>
                    </a:p>
                  </a:txBody>
                  <a:tcPr marL="73152" marR="73152" anchor="ctr">
                    <a:solidFill>
                      <a:srgbClr val="182029"/>
                    </a:solidFill>
                  </a:tcPr>
                </a:tc>
              </a:tr>
              <a:tr h="342900">
                <a:tc>
                  <a:txBody>
                    <a:bodyPr wrap="square"/>
                    <a:lstStyle/>
                    <a:p>
                      <a:r>
                        <a:rPr sz="1000" b="1">
                          <a:solidFill>
                            <a:srgbClr val="ECEFF2"/>
                          </a:solidFill>
                          <a:latin typeface="Segoe UI"/>
                        </a:rPr>
                        <a:t>Frame</a:t>
                      </a:r>
                    </a:p>
                  </a:txBody>
                  <a:tcPr marL="73152" marR="73152" marT="36576" marB="36576" anchor="t">
                    <a:solidFill>
                      <a:srgbClr val="12171D"/>
                    </a:solidFill>
                  </a:tcPr>
                </a:tc>
                <a:tc>
                  <a:txBody>
                    <a:bodyPr wrap="square"/>
                    <a:lstStyle/>
                    <a:p>
                      <a:r>
                        <a:rPr sz="1000">
                          <a:solidFill>
                            <a:srgbClr val="A9B4BE"/>
                          </a:solidFill>
                          <a:latin typeface="Segoe UI"/>
                        </a:rPr>
                        <a:t>iFlight Nazgul5 V3 / TBS Source One V5</a:t>
                      </a:r>
                    </a:p>
                  </a:txBody>
                  <a:tcPr marL="73152" marR="73152" marT="36576" marB="36576" anchor="t">
                    <a:solidFill>
                      <a:srgbClr val="12171D"/>
                    </a:solidFill>
                  </a:tcPr>
                </a:tc>
                <a:tc>
                  <a:txBody>
                    <a:bodyPr wrap="square"/>
                    <a:lstStyle/>
                    <a:p>
                      <a:r>
                        <a:rPr sz="1000">
                          <a:solidFill>
                            <a:srgbClr val="A9B4BE"/>
                          </a:solidFill>
                          <a:latin typeface="Segoe UI"/>
                        </a:rPr>
                        <a:t>Lengan karbon 5 mm, bisa dibeli satuan saat patah</a:t>
                      </a:r>
                    </a:p>
                  </a:txBody>
                  <a:tcPr marL="73152" marR="73152" marT="36576" marB="36576" anchor="t">
                    <a:solidFill>
                      <a:srgbClr val="12171D"/>
                    </a:solidFill>
                  </a:tcPr>
                </a:tc>
                <a:tc>
                  <a:txBody>
                    <a:bodyPr wrap="square"/>
                    <a:lstStyle/>
                    <a:p>
                      <a:pPr algn="r"/>
                      <a:r>
                        <a:rPr sz="1000">
                          <a:solidFill>
                            <a:srgbClr val="A9B4BE"/>
                          </a:solidFill>
                          <a:latin typeface="Consolas"/>
                        </a:rPr>
                        <a:t>1</a:t>
                      </a:r>
                    </a:p>
                  </a:txBody>
                  <a:tcPr marL="73152" marR="73152" marT="36576" marB="36576" anchor="t">
                    <a:solidFill>
                      <a:srgbClr val="12171D"/>
                    </a:solidFill>
                  </a:tcPr>
                </a:tc>
                <a:tc>
                  <a:txBody>
                    <a:bodyPr wrap="square"/>
                    <a:lstStyle/>
                    <a:p>
                      <a:pPr algn="r"/>
                      <a:r>
                        <a:rPr sz="1000">
                          <a:solidFill>
                            <a:srgbClr val="A9B4BE"/>
                          </a:solidFill>
                          <a:latin typeface="Consolas"/>
                        </a:rPr>
                        <a:t>450 rb</a:t>
                      </a:r>
                    </a:p>
                  </a:txBody>
                  <a:tcPr marL="73152" marR="73152" marT="36576" marB="36576" anchor="t">
                    <a:solidFill>
                      <a:srgbClr val="12171D"/>
                    </a:solidFill>
                  </a:tcPr>
                </a:tc>
              </a:tr>
              <a:tr h="342900">
                <a:tc>
                  <a:txBody>
                    <a:bodyPr wrap="square"/>
                    <a:lstStyle/>
                    <a:p>
                      <a:r>
                        <a:rPr sz="1000" b="1">
                          <a:solidFill>
                            <a:srgbClr val="ECEFF2"/>
                          </a:solidFill>
                          <a:latin typeface="Segoe UI"/>
                        </a:rPr>
                        <a:t>Motor</a:t>
                      </a:r>
                    </a:p>
                  </a:txBody>
                  <a:tcPr marL="73152" marR="73152" marT="36576" marB="36576" anchor="t">
                    <a:solidFill>
                      <a:srgbClr val="12171D"/>
                    </a:solidFill>
                  </a:tcPr>
                </a:tc>
                <a:tc>
                  <a:txBody>
                    <a:bodyPr wrap="square"/>
                    <a:lstStyle/>
                    <a:p>
                      <a:r>
                        <a:rPr sz="1000">
                          <a:solidFill>
                            <a:srgbClr val="A9B4BE"/>
                          </a:solidFill>
                          <a:latin typeface="Segoe UI"/>
                        </a:rPr>
                        <a:t>Emax ECO II 2207 · 1900 KV</a:t>
                      </a:r>
                    </a:p>
                  </a:txBody>
                  <a:tcPr marL="73152" marR="73152" marT="36576" marB="36576" anchor="t">
                    <a:solidFill>
                      <a:srgbClr val="12171D"/>
                    </a:solidFill>
                  </a:tcPr>
                </a:tc>
                <a:tc>
                  <a:txBody>
                    <a:bodyPr wrap="square"/>
                    <a:lstStyle/>
                    <a:p>
                      <a:r>
                        <a:rPr sz="1000">
                          <a:solidFill>
                            <a:srgbClr val="A9B4BE"/>
                          </a:solidFill>
                          <a:latin typeface="Segoe UI"/>
                        </a:rPr>
                        <a:t>Stator 22×7 mm — torsi cukup untuk propeller 5" di 6S</a:t>
                      </a:r>
                    </a:p>
                  </a:txBody>
                  <a:tcPr marL="73152" marR="73152" marT="36576" marB="36576" anchor="t">
                    <a:solidFill>
                      <a:srgbClr val="12171D"/>
                    </a:solidFill>
                  </a:tcPr>
                </a:tc>
                <a:tc>
                  <a:txBody>
                    <a:bodyPr wrap="square"/>
                    <a:lstStyle/>
                    <a:p>
                      <a:pPr algn="r"/>
                      <a:r>
                        <a:rPr sz="1000">
                          <a:solidFill>
                            <a:srgbClr val="A9B4BE"/>
                          </a:solidFill>
                          <a:latin typeface="Consolas"/>
                        </a:rPr>
                        <a:t>4</a:t>
                      </a:r>
                    </a:p>
                  </a:txBody>
                  <a:tcPr marL="73152" marR="73152" marT="36576" marB="36576" anchor="t">
                    <a:solidFill>
                      <a:srgbClr val="12171D"/>
                    </a:solidFill>
                  </a:tcPr>
                </a:tc>
                <a:tc>
                  <a:txBody>
                    <a:bodyPr wrap="square"/>
                    <a:lstStyle/>
                    <a:p>
                      <a:pPr algn="r"/>
                      <a:r>
                        <a:rPr sz="1000">
                          <a:solidFill>
                            <a:srgbClr val="A9B4BE"/>
                          </a:solidFill>
                          <a:latin typeface="Consolas"/>
                        </a:rPr>
                        <a:t>1 280 rb</a:t>
                      </a:r>
                    </a:p>
                  </a:txBody>
                  <a:tcPr marL="73152" marR="73152" marT="36576" marB="36576" anchor="t">
                    <a:solidFill>
                      <a:srgbClr val="12171D"/>
                    </a:solidFill>
                  </a:tcPr>
                </a:tc>
              </a:tr>
              <a:tr h="342900">
                <a:tc>
                  <a:txBody>
                    <a:bodyPr wrap="square"/>
                    <a:lstStyle/>
                    <a:p>
                      <a:r>
                        <a:rPr sz="1000" b="1">
                          <a:solidFill>
                            <a:srgbClr val="F2662C"/>
                          </a:solidFill>
                          <a:latin typeface="Segoe UI"/>
                        </a:rPr>
                        <a:t>Stack (FC + ESC)</a:t>
                      </a:r>
                    </a:p>
                  </a:txBody>
                  <a:tcPr marL="73152" marR="73152" marT="36576" marB="36576" anchor="t">
                    <a:solidFill>
                      <a:srgbClr val="201A18"/>
                    </a:solidFill>
                  </a:tcPr>
                </a:tc>
                <a:tc>
                  <a:txBody>
                    <a:bodyPr wrap="square"/>
                    <a:lstStyle/>
                    <a:p>
                      <a:r>
                        <a:rPr sz="1000">
                          <a:solidFill>
                            <a:srgbClr val="A9B4BE"/>
                          </a:solidFill>
                          <a:latin typeface="Segoe UI"/>
                        </a:rPr>
                        <a:t>SpeedyBee F405 V4 — FC + ESC 55 A sepaket</a:t>
                      </a:r>
                    </a:p>
                  </a:txBody>
                  <a:tcPr marL="73152" marR="73152" marT="36576" marB="36576" anchor="t">
                    <a:solidFill>
                      <a:srgbClr val="201A18"/>
                    </a:solidFill>
                  </a:tcPr>
                </a:tc>
                <a:tc>
                  <a:txBody>
                    <a:bodyPr wrap="square"/>
                    <a:lstStyle/>
                    <a:p>
                      <a:r>
                        <a:rPr sz="1000">
                          <a:solidFill>
                            <a:srgbClr val="A9B4BE"/>
                          </a:solidFill>
                          <a:latin typeface="Segoe UI"/>
                        </a:rPr>
                        <a:t>Beli sepaket: lebih murah, dijamin cocok kabel &amp; bautnya</a:t>
                      </a:r>
                    </a:p>
                  </a:txBody>
                  <a:tcPr marL="73152" marR="73152" marT="36576" marB="36576" anchor="t">
                    <a:solidFill>
                      <a:srgbClr val="201A18"/>
                    </a:solidFill>
                  </a:tcPr>
                </a:tc>
                <a:tc>
                  <a:txBody>
                    <a:bodyPr wrap="square"/>
                    <a:lstStyle/>
                    <a:p>
                      <a:pPr algn="r"/>
                      <a:r>
                        <a:rPr sz="1000">
                          <a:solidFill>
                            <a:srgbClr val="A9B4BE"/>
                          </a:solidFill>
                          <a:latin typeface="Consolas"/>
                        </a:rPr>
                        <a:t>1</a:t>
                      </a:r>
                    </a:p>
                  </a:txBody>
                  <a:tcPr marL="73152" marR="73152" marT="36576" marB="36576" anchor="t">
                    <a:solidFill>
                      <a:srgbClr val="201A18"/>
                    </a:solidFill>
                  </a:tcPr>
                </a:tc>
                <a:tc>
                  <a:txBody>
                    <a:bodyPr wrap="square"/>
                    <a:lstStyle/>
                    <a:p>
                      <a:pPr algn="r"/>
                      <a:r>
                        <a:rPr sz="1000">
                          <a:solidFill>
                            <a:srgbClr val="A9B4BE"/>
                          </a:solidFill>
                          <a:latin typeface="Consolas"/>
                        </a:rPr>
                        <a:t>1 250 rb</a:t>
                      </a:r>
                    </a:p>
                  </a:txBody>
                  <a:tcPr marL="73152" marR="73152" marT="36576" marB="36576" anchor="t">
                    <a:solidFill>
                      <a:srgbClr val="201A18"/>
                    </a:solidFill>
                  </a:tcPr>
                </a:tc>
              </a:tr>
              <a:tr h="342900">
                <a:tc>
                  <a:txBody>
                    <a:bodyPr wrap="square"/>
                    <a:lstStyle/>
                    <a:p>
                      <a:r>
                        <a:rPr sz="1000" b="1">
                          <a:solidFill>
                            <a:srgbClr val="ECEFF2"/>
                          </a:solidFill>
                          <a:latin typeface="Segoe UI"/>
                        </a:rPr>
                        <a:t>Kamera</a:t>
                      </a:r>
                    </a:p>
                  </a:txBody>
                  <a:tcPr marL="73152" marR="73152" marT="36576" marB="36576" anchor="t">
                    <a:solidFill>
                      <a:srgbClr val="12171D"/>
                    </a:solidFill>
                  </a:tcPr>
                </a:tc>
                <a:tc>
                  <a:txBody>
                    <a:bodyPr wrap="square"/>
                    <a:lstStyle/>
                    <a:p>
                      <a:r>
                        <a:rPr sz="1000">
                          <a:solidFill>
                            <a:srgbClr val="A9B4BE"/>
                          </a:solidFill>
                          <a:latin typeface="Segoe UI"/>
                        </a:rPr>
                        <a:t>Caddx Ratel 2 (analog 1200 TVL)</a:t>
                      </a:r>
                    </a:p>
                  </a:txBody>
                  <a:tcPr marL="73152" marR="73152" marT="36576" marB="36576" anchor="t">
                    <a:solidFill>
                      <a:srgbClr val="12171D"/>
                    </a:solidFill>
                  </a:tcPr>
                </a:tc>
                <a:tc>
                  <a:txBody>
                    <a:bodyPr wrap="square"/>
                    <a:lstStyle/>
                    <a:p>
                      <a:r>
                        <a:rPr sz="1000">
                          <a:solidFill>
                            <a:srgbClr val="A9B4BE"/>
                          </a:solidFill>
                          <a:latin typeface="Segoe UI"/>
                        </a:rPr>
                        <a:t>Low-light terbaik di kelasnya — tetap terlihat saat sore</a:t>
                      </a:r>
                    </a:p>
                  </a:txBody>
                  <a:tcPr marL="73152" marR="73152" marT="36576" marB="36576" anchor="t">
                    <a:solidFill>
                      <a:srgbClr val="12171D"/>
                    </a:solidFill>
                  </a:tcPr>
                </a:tc>
                <a:tc>
                  <a:txBody>
                    <a:bodyPr wrap="square"/>
                    <a:lstStyle/>
                    <a:p>
                      <a:pPr algn="r"/>
                      <a:r>
                        <a:rPr sz="1000">
                          <a:solidFill>
                            <a:srgbClr val="A9B4BE"/>
                          </a:solidFill>
                          <a:latin typeface="Consolas"/>
                        </a:rPr>
                        <a:t>1</a:t>
                      </a:r>
                    </a:p>
                  </a:txBody>
                  <a:tcPr marL="73152" marR="73152" marT="36576" marB="36576" anchor="t">
                    <a:solidFill>
                      <a:srgbClr val="12171D"/>
                    </a:solidFill>
                  </a:tcPr>
                </a:tc>
                <a:tc>
                  <a:txBody>
                    <a:bodyPr wrap="square"/>
                    <a:lstStyle/>
                    <a:p>
                      <a:pPr algn="r"/>
                      <a:r>
                        <a:rPr sz="1000">
                          <a:solidFill>
                            <a:srgbClr val="A9B4BE"/>
                          </a:solidFill>
                          <a:latin typeface="Consolas"/>
                        </a:rPr>
                        <a:t>350 rb</a:t>
                      </a:r>
                    </a:p>
                  </a:txBody>
                  <a:tcPr marL="73152" marR="73152" marT="36576" marB="36576" anchor="t">
                    <a:solidFill>
                      <a:srgbClr val="12171D"/>
                    </a:solidFill>
                  </a:tcPr>
                </a:tc>
              </a:tr>
              <a:tr h="342900">
                <a:tc>
                  <a:txBody>
                    <a:bodyPr wrap="square"/>
                    <a:lstStyle/>
                    <a:p>
                      <a:r>
                        <a:rPr sz="1000" b="1">
                          <a:solidFill>
                            <a:srgbClr val="ECEFF2"/>
                          </a:solidFill>
                          <a:latin typeface="Segoe UI"/>
                        </a:rPr>
                        <a:t>VTX</a:t>
                      </a:r>
                    </a:p>
                  </a:txBody>
                  <a:tcPr marL="73152" marR="73152" marT="36576" marB="36576" anchor="t">
                    <a:solidFill>
                      <a:srgbClr val="12171D"/>
                    </a:solidFill>
                  </a:tcPr>
                </a:tc>
                <a:tc>
                  <a:txBody>
                    <a:bodyPr wrap="square"/>
                    <a:lstStyle/>
                    <a:p>
                      <a:r>
                        <a:rPr sz="1000">
                          <a:solidFill>
                            <a:srgbClr val="A9B4BE"/>
                          </a:solidFill>
                          <a:latin typeface="Segoe UI"/>
                        </a:rPr>
                        <a:t>Rush Tank Solo 800 mW</a:t>
                      </a:r>
                    </a:p>
                  </a:txBody>
                  <a:tcPr marL="73152" marR="73152" marT="36576" marB="36576" anchor="t">
                    <a:solidFill>
                      <a:srgbClr val="12171D"/>
                    </a:solidFill>
                  </a:tcPr>
                </a:tc>
                <a:tc>
                  <a:txBody>
                    <a:bodyPr wrap="square"/>
                    <a:lstStyle/>
                    <a:p>
                      <a:r>
                        <a:rPr sz="1000">
                          <a:solidFill>
                            <a:srgbClr val="A9B4BE"/>
                          </a:solidFill>
                          <a:latin typeface="Segoe UI"/>
                        </a:rPr>
                        <a:t>Heatsink besar — VTX murah sering mati karena panas</a:t>
                      </a:r>
                    </a:p>
                  </a:txBody>
                  <a:tcPr marL="73152" marR="73152" marT="36576" marB="36576" anchor="t">
                    <a:solidFill>
                      <a:srgbClr val="12171D"/>
                    </a:solidFill>
                  </a:tcPr>
                </a:tc>
                <a:tc>
                  <a:txBody>
                    <a:bodyPr wrap="square"/>
                    <a:lstStyle/>
                    <a:p>
                      <a:pPr algn="r"/>
                      <a:r>
                        <a:rPr sz="1000">
                          <a:solidFill>
                            <a:srgbClr val="A9B4BE"/>
                          </a:solidFill>
                          <a:latin typeface="Consolas"/>
                        </a:rPr>
                        <a:t>1</a:t>
                      </a:r>
                    </a:p>
                  </a:txBody>
                  <a:tcPr marL="73152" marR="73152" marT="36576" marB="36576" anchor="t">
                    <a:solidFill>
                      <a:srgbClr val="12171D"/>
                    </a:solidFill>
                  </a:tcPr>
                </a:tc>
                <a:tc>
                  <a:txBody>
                    <a:bodyPr wrap="square"/>
                    <a:lstStyle/>
                    <a:p>
                      <a:pPr algn="r"/>
                      <a:r>
                        <a:rPr sz="1000">
                          <a:solidFill>
                            <a:srgbClr val="A9B4BE"/>
                          </a:solidFill>
                          <a:latin typeface="Consolas"/>
                        </a:rPr>
                        <a:t>420 rb</a:t>
                      </a:r>
                    </a:p>
                  </a:txBody>
                  <a:tcPr marL="73152" marR="73152" marT="36576" marB="36576" anchor="t">
                    <a:solidFill>
                      <a:srgbClr val="12171D"/>
                    </a:solidFill>
                  </a:tcPr>
                </a:tc>
              </a:tr>
              <a:tr h="342900">
                <a:tc>
                  <a:txBody>
                    <a:bodyPr wrap="square"/>
                    <a:lstStyle/>
                    <a:p>
                      <a:r>
                        <a:rPr sz="1000" b="1">
                          <a:solidFill>
                            <a:srgbClr val="ECEFF2"/>
                          </a:solidFill>
                          <a:latin typeface="Segoe UI"/>
                        </a:rPr>
                        <a:t>Penerima</a:t>
                      </a:r>
                    </a:p>
                  </a:txBody>
                  <a:tcPr marL="73152" marR="73152" marT="36576" marB="36576" anchor="t">
                    <a:solidFill>
                      <a:srgbClr val="12171D"/>
                    </a:solidFill>
                  </a:tcPr>
                </a:tc>
                <a:tc>
                  <a:txBody>
                    <a:bodyPr wrap="square"/>
                    <a:lstStyle/>
                    <a:p>
                      <a:r>
                        <a:rPr sz="1000">
                          <a:solidFill>
                            <a:srgbClr val="A9B4BE"/>
                          </a:solidFill>
                          <a:latin typeface="Segoe UI"/>
                        </a:rPr>
                        <a:t>RadioMaster RP1 ExpressLRS</a:t>
                      </a:r>
                    </a:p>
                  </a:txBody>
                  <a:tcPr marL="73152" marR="73152" marT="36576" marB="36576" anchor="t">
                    <a:solidFill>
                      <a:srgbClr val="12171D"/>
                    </a:solidFill>
                  </a:tcPr>
                </a:tc>
                <a:tc>
                  <a:txBody>
                    <a:bodyPr wrap="square"/>
                    <a:lstStyle/>
                    <a:p>
                      <a:r>
                        <a:rPr sz="1000">
                          <a:solidFill>
                            <a:srgbClr val="A9B4BE"/>
                          </a:solidFill>
                          <a:latin typeface="Segoe UI"/>
                        </a:rPr>
                        <a:t>Jalur kontrol — kalau putus, drone jatuh. Jangan berhemat</a:t>
                      </a:r>
                    </a:p>
                  </a:txBody>
                  <a:tcPr marL="73152" marR="73152" marT="36576" marB="36576" anchor="t">
                    <a:solidFill>
                      <a:srgbClr val="12171D"/>
                    </a:solidFill>
                  </a:tcPr>
                </a:tc>
                <a:tc>
                  <a:txBody>
                    <a:bodyPr wrap="square"/>
                    <a:lstStyle/>
                    <a:p>
                      <a:pPr algn="r"/>
                      <a:r>
                        <a:rPr sz="1000">
                          <a:solidFill>
                            <a:srgbClr val="A9B4BE"/>
                          </a:solidFill>
                          <a:latin typeface="Consolas"/>
                        </a:rPr>
                        <a:t>1</a:t>
                      </a:r>
                    </a:p>
                  </a:txBody>
                  <a:tcPr marL="73152" marR="73152" marT="36576" marB="36576" anchor="t">
                    <a:solidFill>
                      <a:srgbClr val="12171D"/>
                    </a:solidFill>
                  </a:tcPr>
                </a:tc>
                <a:tc>
                  <a:txBody>
                    <a:bodyPr wrap="square"/>
                    <a:lstStyle/>
                    <a:p>
                      <a:pPr algn="r"/>
                      <a:r>
                        <a:rPr sz="1000">
                          <a:solidFill>
                            <a:srgbClr val="A9B4BE"/>
                          </a:solidFill>
                          <a:latin typeface="Consolas"/>
                        </a:rPr>
                        <a:t>160 rb</a:t>
                      </a:r>
                    </a:p>
                  </a:txBody>
                  <a:tcPr marL="73152" marR="73152" marT="36576" marB="36576" anchor="t">
                    <a:solidFill>
                      <a:srgbClr val="12171D"/>
                    </a:solidFill>
                  </a:tcPr>
                </a:tc>
              </a:tr>
              <a:tr h="342900">
                <a:tc>
                  <a:txBody>
                    <a:bodyPr wrap="square"/>
                    <a:lstStyle/>
                    <a:p>
                      <a:r>
                        <a:rPr sz="1000" b="1">
                          <a:solidFill>
                            <a:srgbClr val="ECEFF2"/>
                          </a:solidFill>
                          <a:latin typeface="Segoe UI"/>
                        </a:rPr>
                        <a:t>Propeller</a:t>
                      </a:r>
                    </a:p>
                  </a:txBody>
                  <a:tcPr marL="73152" marR="73152" marT="36576" marB="36576" anchor="t">
                    <a:solidFill>
                      <a:srgbClr val="12171D"/>
                    </a:solidFill>
                  </a:tcPr>
                </a:tc>
                <a:tc>
                  <a:txBody>
                    <a:bodyPr wrap="square"/>
                    <a:lstStyle/>
                    <a:p>
                      <a:r>
                        <a:rPr sz="1000">
                          <a:solidFill>
                            <a:srgbClr val="A9B4BE"/>
                          </a:solidFill>
                          <a:latin typeface="Segoe UI"/>
                        </a:rPr>
                        <a:t>HQProp 5.1×4.3×3 V1S</a:t>
                      </a:r>
                    </a:p>
                  </a:txBody>
                  <a:tcPr marL="73152" marR="73152" marT="36576" marB="36576" anchor="t">
                    <a:solidFill>
                      <a:srgbClr val="12171D"/>
                    </a:solidFill>
                  </a:tcPr>
                </a:tc>
                <a:tc>
                  <a:txBody>
                    <a:bodyPr wrap="square"/>
                    <a:lstStyle/>
                    <a:p>
                      <a:r>
                        <a:rPr sz="1000">
                          <a:solidFill>
                            <a:srgbClr val="A9B4BE"/>
                          </a:solidFill>
                          <a:latin typeface="Segoe UI"/>
                        </a:rPr>
                        <a:t>Beli 5 set: komponen yang paling sering hancur</a:t>
                      </a:r>
                    </a:p>
                  </a:txBody>
                  <a:tcPr marL="73152" marR="73152" marT="36576" marB="36576" anchor="t">
                    <a:solidFill>
                      <a:srgbClr val="12171D"/>
                    </a:solidFill>
                  </a:tcPr>
                </a:tc>
                <a:tc>
                  <a:txBody>
                    <a:bodyPr wrap="square"/>
                    <a:lstStyle/>
                    <a:p>
                      <a:pPr algn="r"/>
                      <a:r>
                        <a:rPr sz="1000">
                          <a:solidFill>
                            <a:srgbClr val="A9B4BE"/>
                          </a:solidFill>
                          <a:latin typeface="Consolas"/>
                        </a:rPr>
                        <a:t>5 set</a:t>
                      </a:r>
                    </a:p>
                  </a:txBody>
                  <a:tcPr marL="73152" marR="73152" marT="36576" marB="36576" anchor="t">
                    <a:solidFill>
                      <a:srgbClr val="12171D"/>
                    </a:solidFill>
                  </a:tcPr>
                </a:tc>
                <a:tc>
                  <a:txBody>
                    <a:bodyPr wrap="square"/>
                    <a:lstStyle/>
                    <a:p>
                      <a:pPr algn="r"/>
                      <a:r>
                        <a:rPr sz="1000">
                          <a:solidFill>
                            <a:srgbClr val="A9B4BE"/>
                          </a:solidFill>
                          <a:latin typeface="Consolas"/>
                        </a:rPr>
                        <a:t>175 rb</a:t>
                      </a:r>
                    </a:p>
                  </a:txBody>
                  <a:tcPr marL="73152" marR="73152" marT="36576" marB="36576" anchor="t">
                    <a:solidFill>
                      <a:srgbClr val="12171D"/>
                    </a:solidFill>
                  </a:tcPr>
                </a:tc>
              </a:tr>
              <a:tr h="342900">
                <a:tc>
                  <a:txBody>
                    <a:bodyPr wrap="square"/>
                    <a:lstStyle/>
                    <a:p>
                      <a:r>
                        <a:rPr sz="1000" b="1">
                          <a:solidFill>
                            <a:srgbClr val="ECEFF2"/>
                          </a:solidFill>
                          <a:latin typeface="Segoe UI"/>
                        </a:rPr>
                        <a:t>Baterai</a:t>
                      </a:r>
                    </a:p>
                  </a:txBody>
                  <a:tcPr marL="73152" marR="73152" marT="36576" marB="36576" anchor="t">
                    <a:solidFill>
                      <a:srgbClr val="12171D"/>
                    </a:solidFill>
                  </a:tcPr>
                </a:tc>
                <a:tc>
                  <a:txBody>
                    <a:bodyPr wrap="square"/>
                    <a:lstStyle/>
                    <a:p>
                      <a:r>
                        <a:rPr sz="1000">
                          <a:solidFill>
                            <a:srgbClr val="A9B4BE"/>
                          </a:solidFill>
                          <a:latin typeface="Segoe UI"/>
                        </a:rPr>
                        <a:t>CNHL Black Series 1300 mAh 6S 100C</a:t>
                      </a:r>
                    </a:p>
                  </a:txBody>
                  <a:tcPr marL="73152" marR="73152" marT="36576" marB="36576" anchor="t">
                    <a:solidFill>
                      <a:srgbClr val="12171D"/>
                    </a:solidFill>
                  </a:tcPr>
                </a:tc>
                <a:tc>
                  <a:txBody>
                    <a:bodyPr wrap="square"/>
                    <a:lstStyle/>
                    <a:p>
                      <a:r>
                        <a:rPr sz="1000">
                          <a:solidFill>
                            <a:srgbClr val="A9B4BE"/>
                          </a:solidFill>
                          <a:latin typeface="Segoe UI"/>
                        </a:rPr>
                        <a:t>Sanggup 130 A — jauh di atas kebutuhan puncak 44 A</a:t>
                      </a:r>
                    </a:p>
                  </a:txBody>
                  <a:tcPr marL="73152" marR="73152" marT="36576" marB="36576" anchor="t">
                    <a:solidFill>
                      <a:srgbClr val="12171D"/>
                    </a:solidFill>
                  </a:tcPr>
                </a:tc>
                <a:tc>
                  <a:txBody>
                    <a:bodyPr wrap="square"/>
                    <a:lstStyle/>
                    <a:p>
                      <a:pPr algn="r"/>
                      <a:r>
                        <a:rPr sz="1000">
                          <a:solidFill>
                            <a:srgbClr val="A9B4BE"/>
                          </a:solidFill>
                          <a:latin typeface="Consolas"/>
                        </a:rPr>
                        <a:t>2</a:t>
                      </a:r>
                    </a:p>
                  </a:txBody>
                  <a:tcPr marL="73152" marR="73152" marT="36576" marB="36576" anchor="t">
                    <a:solidFill>
                      <a:srgbClr val="12171D"/>
                    </a:solidFill>
                  </a:tcPr>
                </a:tc>
                <a:tc>
                  <a:txBody>
                    <a:bodyPr wrap="square"/>
                    <a:lstStyle/>
                    <a:p>
                      <a:pPr algn="r"/>
                      <a:r>
                        <a:rPr sz="1000">
                          <a:solidFill>
                            <a:srgbClr val="A9B4BE"/>
                          </a:solidFill>
                          <a:latin typeface="Consolas"/>
                        </a:rPr>
                        <a:t>960 rb</a:t>
                      </a:r>
                    </a:p>
                  </a:txBody>
                  <a:tcPr marL="73152" marR="73152" marT="36576" marB="36576" anchor="t">
                    <a:solidFill>
                      <a:srgbClr val="12171D"/>
                    </a:solidFill>
                  </a:tcPr>
                </a:tc>
              </a:tr>
              <a:tr h="342900">
                <a:tc>
                  <a:txBody>
                    <a:bodyPr wrap="square"/>
                    <a:lstStyle/>
                    <a:p>
                      <a:r>
                        <a:rPr sz="1000" b="1">
                          <a:solidFill>
                            <a:srgbClr val="ECEFF2"/>
                          </a:solidFill>
                          <a:latin typeface="Segoe UI"/>
                        </a:rPr>
                        <a:t>Antena &amp; kecil</a:t>
                      </a:r>
                    </a:p>
                  </a:txBody>
                  <a:tcPr marL="73152" marR="73152" marT="36576" marB="36576" anchor="t">
                    <a:solidFill>
                      <a:srgbClr val="12171D"/>
                    </a:solidFill>
                  </a:tcPr>
                </a:tc>
                <a:tc>
                  <a:txBody>
                    <a:bodyPr wrap="square"/>
                    <a:lstStyle/>
                    <a:p>
                      <a:r>
                        <a:rPr sz="1000">
                          <a:solidFill>
                            <a:srgbClr val="A9B4BE"/>
                          </a:solidFill>
                          <a:latin typeface="Segoe UI"/>
                        </a:rPr>
                        <a:t>Foxeer Lollipop 4 · XT60 · kapasitor 1000 µF</a:t>
                      </a:r>
                    </a:p>
                  </a:txBody>
                  <a:tcPr marL="73152" marR="73152" marT="36576" marB="36576" anchor="t">
                    <a:solidFill>
                      <a:srgbClr val="12171D"/>
                    </a:solidFill>
                  </a:tcPr>
                </a:tc>
                <a:tc>
                  <a:txBody>
                    <a:bodyPr wrap="square"/>
                    <a:lstStyle/>
                    <a:p>
                      <a:r>
                        <a:rPr sz="1000">
                          <a:solidFill>
                            <a:srgbClr val="A9B4BE"/>
                          </a:solidFill>
                          <a:latin typeface="Segoe UI"/>
                        </a:rPr>
                        <a:t>Kapasitor WAJIB — menyerap lonjakan voltase dari ESC</a:t>
                      </a:r>
                    </a:p>
                  </a:txBody>
                  <a:tcPr marL="73152" marR="73152" marT="36576" marB="36576" anchor="t">
                    <a:solidFill>
                      <a:srgbClr val="12171D"/>
                    </a:solidFill>
                  </a:tcPr>
                </a:tc>
                <a:tc>
                  <a:txBody>
                    <a:bodyPr wrap="square"/>
                    <a:lstStyle/>
                    <a:p>
                      <a:pPr algn="r"/>
                      <a:r>
                        <a:rPr sz="1000">
                          <a:solidFill>
                            <a:srgbClr val="A9B4BE"/>
                          </a:solidFill>
                          <a:latin typeface="Consolas"/>
                        </a:rPr>
                        <a:t>1 set</a:t>
                      </a:r>
                    </a:p>
                  </a:txBody>
                  <a:tcPr marL="73152" marR="73152" marT="36576" marB="36576" anchor="t">
                    <a:solidFill>
                      <a:srgbClr val="12171D"/>
                    </a:solidFill>
                  </a:tcPr>
                </a:tc>
                <a:tc>
                  <a:txBody>
                    <a:bodyPr wrap="square"/>
                    <a:lstStyle/>
                    <a:p>
                      <a:pPr algn="r"/>
                      <a:r>
                        <a:rPr sz="1000">
                          <a:solidFill>
                            <a:srgbClr val="A9B4BE"/>
                          </a:solidFill>
                          <a:latin typeface="Consolas"/>
                        </a:rPr>
                        <a:t>450 rb</a:t>
                      </a:r>
                    </a:p>
                  </a:txBody>
                  <a:tcPr marL="73152" marR="73152" marT="36576" marB="36576" anchor="t">
                    <a:solidFill>
                      <a:srgbClr val="12171D"/>
                    </a:solidFill>
                  </a:tcPr>
                </a:tc>
              </a:tr>
              <a:tr h="342900">
                <a:tc>
                  <a:txBody>
                    <a:bodyPr wrap="square"/>
                    <a:lstStyle/>
                    <a:p>
                      <a:r>
                        <a:rPr sz="1000" b="1">
                          <a:solidFill>
                            <a:srgbClr val="ECEFF2"/>
                          </a:solidFill>
                          <a:latin typeface="Segoe UI"/>
                        </a:rPr>
                        <a:t>Companion + CV</a:t>
                      </a:r>
                    </a:p>
                  </a:txBody>
                  <a:tcPr marL="73152" marR="73152" marT="36576" marB="36576" anchor="t">
                    <a:solidFill>
                      <a:srgbClr val="12171D"/>
                    </a:solidFill>
                  </a:tcPr>
                </a:tc>
                <a:tc>
                  <a:txBody>
                    <a:bodyPr wrap="square"/>
                    <a:lstStyle/>
                    <a:p>
                      <a:r>
                        <a:rPr sz="1000">
                          <a:solidFill>
                            <a:srgbClr val="A9B4BE"/>
                          </a:solidFill>
                          <a:latin typeface="Segoe UI"/>
                        </a:rPr>
                        <a:t>Raspberry Pi Zero 2 W + kamera + kartu SD</a:t>
                      </a:r>
                    </a:p>
                  </a:txBody>
                  <a:tcPr marL="73152" marR="73152" marT="36576" marB="36576" anchor="t">
                    <a:solidFill>
                      <a:srgbClr val="12171D"/>
                    </a:solidFill>
                  </a:tcPr>
                </a:tc>
                <a:tc>
                  <a:txBody>
                    <a:bodyPr wrap="square"/>
                    <a:lstStyle/>
                    <a:p>
                      <a:r>
                        <a:rPr sz="1000">
                          <a:solidFill>
                            <a:srgbClr val="A9B4BE"/>
                          </a:solidFill>
                          <a:latin typeface="Segoe UI"/>
                        </a:rPr>
                        <a:t>Otak kedua: merekam &amp; deteksi objek. FC tetap yang terbangkan</a:t>
                      </a:r>
                    </a:p>
                  </a:txBody>
                  <a:tcPr marL="73152" marR="73152" marT="36576" marB="36576" anchor="t">
                    <a:solidFill>
                      <a:srgbClr val="12171D"/>
                    </a:solidFill>
                  </a:tcPr>
                </a:tc>
                <a:tc>
                  <a:txBody>
                    <a:bodyPr wrap="square"/>
                    <a:lstStyle/>
                    <a:p>
                      <a:pPr algn="r"/>
                      <a:r>
                        <a:rPr sz="1000">
                          <a:solidFill>
                            <a:srgbClr val="A9B4BE"/>
                          </a:solidFill>
                          <a:latin typeface="Consolas"/>
                        </a:rPr>
                        <a:t>1 set</a:t>
                      </a:r>
                    </a:p>
                  </a:txBody>
                  <a:tcPr marL="73152" marR="73152" marT="36576" marB="36576" anchor="t">
                    <a:solidFill>
                      <a:srgbClr val="12171D"/>
                    </a:solidFill>
                  </a:tcPr>
                </a:tc>
                <a:tc>
                  <a:txBody>
                    <a:bodyPr wrap="square"/>
                    <a:lstStyle/>
                    <a:p>
                      <a:pPr algn="r"/>
                      <a:r>
                        <a:rPr sz="1000">
                          <a:solidFill>
                            <a:srgbClr val="A9B4BE"/>
                          </a:solidFill>
                          <a:latin typeface="Consolas"/>
                        </a:rPr>
                        <a:t>650 rb</a:t>
                      </a:r>
                    </a:p>
                  </a:txBody>
                  <a:tcPr marL="73152" marR="73152" marT="36576" marB="36576" anchor="t">
                    <a:solidFill>
                      <a:srgbClr val="12171D"/>
                    </a:solidFill>
                  </a:tcPr>
                </a:tc>
              </a:tr>
            </a:tbl>
          </a:graphicData>
        </a:graphic>
      </p:graphicFrame>
      <p:sp>
        <p:nvSpPr>
          <p:cNvPr id="6" name="TextBox 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Bill of materials · total ± Rp 5,95 jt (dengan Pi)</a:t>
            </a:r>
          </a:p>
        </p:txBody>
      </p:sp>
      <p:sp>
        <p:nvSpPr>
          <p:cNvPr id="7" name="TextBox 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28 / 43</a:t>
            </a:r>
          </a:p>
        </p:txBody>
      </p:sp>
      <p:sp>
        <p:nvSpPr>
          <p:cNvPr id="8" name="Rectangle 7"/>
          <p:cNvSpPr/>
          <p:nvPr/>
        </p:nvSpPr>
        <p:spPr>
          <a:xfrm>
            <a:off x="0" y="6803136"/>
            <a:ext cx="7938778"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ANALISIS</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Ke mana 685 gram itu pergi</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Grafik ini menjelaskan kenapa penggemar drone memperdebatkan SETIAP GRAM.</a:t>
            </a:r>
          </a:p>
        </p:txBody>
      </p:sp>
      <p:graphicFrame>
        <p:nvGraphicFramePr>
          <p:cNvPr id="5" name="Chart 4"/>
          <p:cNvGraphicFramePr>
            <a:graphicFrameLocks noGrp="1"/>
          </p:cNvGraphicFramePr>
          <p:nvPr/>
        </p:nvGraphicFramePr>
        <p:xfrm>
          <a:off x="566928" y="2286000"/>
          <a:ext cx="6766560" cy="3657600"/>
        </p:xfrm>
        <a:graphic>
          <a:graphicData uri="http://schemas.openxmlformats.org/drawingml/2006/chart">
            <c:chart xmlns:c="http://schemas.openxmlformats.org/drawingml/2006/chart" r:id="rId3"/>
          </a:graphicData>
        </a:graphic>
      </p:graphicFrame>
      <p:sp>
        <p:nvSpPr>
          <p:cNvPr id="6" name="Rectangle 5"/>
          <p:cNvSpPr/>
          <p:nvPr/>
        </p:nvSpPr>
        <p:spPr>
          <a:xfrm>
            <a:off x="7607808" y="2286000"/>
            <a:ext cx="4023360" cy="17373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07808" y="2286000"/>
            <a:ext cx="31750" cy="17373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08976" y="2450592"/>
            <a:ext cx="363931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TEMUAN UTAMA</a:t>
            </a:r>
          </a:p>
        </p:txBody>
      </p:sp>
      <p:sp>
        <p:nvSpPr>
          <p:cNvPr id="9" name="TextBox 8"/>
          <p:cNvSpPr txBox="1"/>
          <p:nvPr/>
        </p:nvSpPr>
        <p:spPr>
          <a:xfrm>
            <a:off x="7808976" y="2670048"/>
            <a:ext cx="363931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Baterai = 38% bobot</a:t>
            </a:r>
          </a:p>
        </p:txBody>
      </p:sp>
      <p:sp>
        <p:nvSpPr>
          <p:cNvPr id="10" name="TextBox 9"/>
          <p:cNvSpPr txBox="1"/>
          <p:nvPr/>
        </p:nvSpPr>
        <p:spPr>
          <a:xfrm>
            <a:off x="7808976" y="3017520"/>
            <a:ext cx="3639312" cy="8686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Satu komponen menyumbang hampir empat puluh persen massa. Ini keputusan desain paling berpengaruh — dan satu-satunya yang bisa diubah setelah drone jadi.</a:t>
            </a:r>
          </a:p>
        </p:txBody>
      </p:sp>
      <p:sp>
        <p:nvSpPr>
          <p:cNvPr id="11" name="Rectangle 10"/>
          <p:cNvSpPr/>
          <p:nvPr/>
        </p:nvSpPr>
        <p:spPr>
          <a:xfrm>
            <a:off x="7607808" y="4206240"/>
            <a:ext cx="4023360" cy="17373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08976" y="4370832"/>
            <a:ext cx="363931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IMPLIKASI PRAKTIS</a:t>
            </a:r>
          </a:p>
        </p:txBody>
      </p:sp>
      <p:sp>
        <p:nvSpPr>
          <p:cNvPr id="13" name="TextBox 12"/>
          <p:cNvSpPr txBox="1"/>
          <p:nvPr/>
        </p:nvSpPr>
        <p:spPr>
          <a:xfrm>
            <a:off x="7808976" y="4590288"/>
            <a:ext cx="3639312" cy="121615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Elektronik hanya 13% bobot. Berhemat di sana nyaris tidak mengubah performa terbang — tapi mengorbankan kualitas gambar dan keandalan. BERHEMATLAH DI TEMPAT LAIN.</a:t>
            </a:r>
          </a:p>
        </p:txBody>
      </p:sp>
      <p:sp>
        <p:nvSpPr>
          <p:cNvPr id="14" name="TextBox 13"/>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Distribusi bobot</a:t>
            </a:r>
          </a:p>
        </p:txBody>
      </p:sp>
      <p:sp>
        <p:nvSpPr>
          <p:cNvPr id="15" name="TextBox 14"/>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29 / 43</a:t>
            </a:r>
          </a:p>
        </p:txBody>
      </p:sp>
      <p:sp>
        <p:nvSpPr>
          <p:cNvPr id="16" name="Rectangle 15"/>
          <p:cNvSpPr/>
          <p:nvPr/>
        </p:nvSpPr>
        <p:spPr>
          <a:xfrm>
            <a:off x="0" y="6803136"/>
            <a:ext cx="8222305"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TRADE-OFF</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Baterai lebih besar = </a:t>
            </a:r>
            <a:r>
              <a:rPr sz="3400" b="1">
                <a:solidFill>
                  <a:srgbClr val="F2662C"/>
                </a:solidFill>
                <a:latin typeface="Bahnschrift"/>
              </a:rPr>
              <a:t>lebih lama, tapi lebih malas</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Setiap tambahan kapasitas membeli waktu terbang dengan harga berupa kelincahan. Dua grafik, dua satuan — sengaja tidak digabung agar tidak menipu mata.</a:t>
            </a:r>
          </a:p>
        </p:txBody>
      </p:sp>
      <p:graphicFrame>
        <p:nvGraphicFramePr>
          <p:cNvPr id="5" name="Chart 4"/>
          <p:cNvGraphicFramePr>
            <a:graphicFrameLocks noGrp="1"/>
          </p:cNvGraphicFramePr>
          <p:nvPr/>
        </p:nvGraphicFramePr>
        <p:xfrm>
          <a:off x="566928" y="2468880"/>
          <a:ext cx="5394960" cy="3017520"/>
        </p:xfrm>
        <a:graphic>
          <a:graphicData uri="http://schemas.openxmlformats.org/drawingml/2006/chart">
            <c:chart xmlns:c="http://schemas.openxmlformats.org/drawingml/2006/chart" r:id="rId3"/>
          </a:graphicData>
        </a:graphic>
      </p:graphicFrame>
      <p:sp>
        <p:nvSpPr>
          <p:cNvPr id="6" name="TextBox 5"/>
          <p:cNvSpPr txBox="1"/>
          <p:nvPr/>
        </p:nvSpPr>
        <p:spPr>
          <a:xfrm>
            <a:off x="566928" y="2176272"/>
            <a:ext cx="5394960" cy="274320"/>
          </a:xfrm>
          <a:prstGeom prst="rect">
            <a:avLst/>
          </a:prstGeom>
          <a:noFill/>
        </p:spPr>
        <p:txBody>
          <a:bodyPr wrap="square" lIns="0" rIns="0" tIns="0" bIns="0">
            <a:spAutoFit/>
          </a:bodyPr>
          <a:lstStyle/>
          <a:p>
            <a:pPr algn="l">
              <a:lnSpc>
                <a:spcPct val="125000"/>
              </a:lnSpc>
              <a:spcAft>
                <a:spcPts val="600"/>
              </a:spcAft>
            </a:pPr>
            <a:r>
              <a:rPr sz="1200" b="1">
                <a:solidFill>
                  <a:srgbClr val="ECEFF2"/>
                </a:solidFill>
                <a:latin typeface="Bahnschrift"/>
              </a:rPr>
              <a:t>Durasi terbang (menit) vs kapasitas (mAh) — naik</a:t>
            </a:r>
          </a:p>
        </p:txBody>
      </p:sp>
      <p:graphicFrame>
        <p:nvGraphicFramePr>
          <p:cNvPr id="7" name="Chart 6"/>
          <p:cNvGraphicFramePr>
            <a:graphicFrameLocks noGrp="1"/>
          </p:cNvGraphicFramePr>
          <p:nvPr/>
        </p:nvGraphicFramePr>
        <p:xfrm>
          <a:off x="6236208" y="2468880"/>
          <a:ext cx="5394960" cy="3017520"/>
        </p:xfrm>
        <a:graphic>
          <a:graphicData uri="http://schemas.openxmlformats.org/drawingml/2006/chart">
            <c:chart xmlns:c="http://schemas.openxmlformats.org/drawingml/2006/chart" r:id="rId4"/>
          </a:graphicData>
        </a:graphic>
      </p:graphicFrame>
      <p:sp>
        <p:nvSpPr>
          <p:cNvPr id="8" name="TextBox 7"/>
          <p:cNvSpPr txBox="1"/>
          <p:nvPr/>
        </p:nvSpPr>
        <p:spPr>
          <a:xfrm>
            <a:off x="6236208" y="2176272"/>
            <a:ext cx="5394960" cy="274320"/>
          </a:xfrm>
          <a:prstGeom prst="rect">
            <a:avLst/>
          </a:prstGeom>
          <a:noFill/>
        </p:spPr>
        <p:txBody>
          <a:bodyPr wrap="square" lIns="0" rIns="0" tIns="0" bIns="0">
            <a:spAutoFit/>
          </a:bodyPr>
          <a:lstStyle/>
          <a:p>
            <a:pPr algn="l">
              <a:lnSpc>
                <a:spcPct val="125000"/>
              </a:lnSpc>
              <a:spcAft>
                <a:spcPts val="600"/>
              </a:spcAft>
            </a:pPr>
            <a:r>
              <a:rPr sz="1200" b="1">
                <a:solidFill>
                  <a:srgbClr val="ECEFF2"/>
                </a:solidFill>
                <a:latin typeface="Bahnschrift"/>
              </a:rPr>
              <a:t>Rasio dorong-ke-bobot vs kapasitas (mAh) — turun</a:t>
            </a:r>
          </a:p>
        </p:txBody>
      </p:sp>
      <p:sp>
        <p:nvSpPr>
          <p:cNvPr id="9" name="Rectangle 8"/>
          <p:cNvSpPr/>
          <p:nvPr/>
        </p:nvSpPr>
        <p:spPr>
          <a:xfrm>
            <a:off x="566928" y="5623560"/>
            <a:ext cx="11064240" cy="65836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5623560"/>
            <a:ext cx="31750" cy="658368"/>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578815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KESIMPULAN</a:t>
            </a:r>
          </a:p>
        </p:txBody>
      </p:sp>
      <p:sp>
        <p:nvSpPr>
          <p:cNvPr id="12" name="TextBox 11"/>
          <p:cNvSpPr txBox="1"/>
          <p:nvPr/>
        </p:nvSpPr>
        <p:spPr>
          <a:xfrm>
            <a:off x="768096" y="6007608"/>
            <a:ext cx="10680192" cy="137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1300 mAh adalah titik optimal untuk freestyle. Bila kelak ingin jarak jauh, jawabannya BUKAN baterai raksasa di frame yang sama — itu menghasilkan drone yang buruk di kedua peran. Jawabannya frame 7 inci, dan itu ada di roadmap v3.</a:t>
            </a:r>
          </a:p>
        </p:txBody>
      </p:sp>
      <p:sp>
        <p:nvSpPr>
          <p:cNvPr id="13" name="TextBox 12"/>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Trade-off kapasitas baterai</a:t>
            </a:r>
          </a:p>
        </p:txBody>
      </p:sp>
      <p:sp>
        <p:nvSpPr>
          <p:cNvPr id="14" name="TextBox 13"/>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30 / 43</a:t>
            </a:r>
          </a:p>
        </p:txBody>
      </p:sp>
      <p:sp>
        <p:nvSpPr>
          <p:cNvPr id="15" name="Rectangle 14"/>
          <p:cNvSpPr/>
          <p:nvPr/>
        </p:nvSpPr>
        <p:spPr>
          <a:xfrm>
            <a:off x="0" y="6803136"/>
            <a:ext cx="8505833"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2 · PERHITUNGAN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Angka yang menentukan drone ini terbang atau tidak</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Rancangan ini bukan tebakan. Setiap komponen dipilih agar tujuh angka berikut jatuh di rentang yang benar.</a:t>
            </a:r>
          </a:p>
        </p:txBody>
      </p:sp>
      <p:graphicFrame>
        <p:nvGraphicFramePr>
          <p:cNvPr id="5" name="Table 4"/>
          <p:cNvGraphicFramePr>
            <a:graphicFrameLocks noGrp="1"/>
          </p:cNvGraphicFramePr>
          <p:nvPr/>
        </p:nvGraphicFramePr>
        <p:xfrm>
          <a:off x="566928" y="2240280"/>
          <a:ext cx="11064238" cy="3072384"/>
        </p:xfrm>
        <a:graphic>
          <a:graphicData uri="http://schemas.openxmlformats.org/drawingml/2006/table">
            <a:tbl>
              <a:tblPr firstRow="0" bandRow="0">
                <a:tableStyleId>{5C22544A-7EE6-4342-B048-85BDC9FD1C3A}</a:tableStyleId>
              </a:tblPr>
              <a:tblGrid>
                <a:gridCol w="1770278"/>
                <a:gridCol w="2212848"/>
                <a:gridCol w="995781"/>
                <a:gridCol w="1217066"/>
                <a:gridCol w="4868265"/>
              </a:tblGrid>
              <a:tr h="384048">
                <a:tc>
                  <a:txBody>
                    <a:bodyPr/>
                    <a:lstStyle/>
                    <a:p>
                      <a:r>
                        <a:rPr sz="850" b="1">
                          <a:solidFill>
                            <a:srgbClr val="6F7C88"/>
                          </a:solidFill>
                          <a:latin typeface="Consolas"/>
                        </a:rPr>
                        <a:t>BESARAN</a:t>
                      </a:r>
                    </a:p>
                  </a:txBody>
                  <a:tcPr marL="73152" marR="73152" anchor="ctr">
                    <a:solidFill>
                      <a:srgbClr val="182029"/>
                    </a:solidFill>
                  </a:tcPr>
                </a:tc>
                <a:tc>
                  <a:txBody>
                    <a:bodyPr/>
                    <a:lstStyle/>
                    <a:p>
                      <a:r>
                        <a:rPr sz="850" b="1">
                          <a:solidFill>
                            <a:srgbClr val="6F7C88"/>
                          </a:solidFill>
                          <a:latin typeface="Consolas"/>
                        </a:rPr>
                        <a:t>CARA HITUNG</a:t>
                      </a:r>
                    </a:p>
                  </a:txBody>
                  <a:tcPr marL="73152" marR="73152" anchor="ctr">
                    <a:solidFill>
                      <a:srgbClr val="182029"/>
                    </a:solidFill>
                  </a:tcPr>
                </a:tc>
                <a:tc>
                  <a:txBody>
                    <a:bodyPr/>
                    <a:lstStyle/>
                    <a:p>
                      <a:pPr algn="r"/>
                      <a:r>
                        <a:rPr sz="850" b="1">
                          <a:solidFill>
                            <a:srgbClr val="6F7C88"/>
                          </a:solidFill>
                          <a:latin typeface="Consolas"/>
                        </a:rPr>
                        <a:t>HASIL</a:t>
                      </a:r>
                    </a:p>
                  </a:txBody>
                  <a:tcPr marL="73152" marR="73152" anchor="ctr">
                    <a:solidFill>
                      <a:srgbClr val="182029"/>
                    </a:solidFill>
                  </a:tcPr>
                </a:tc>
                <a:tc>
                  <a:txBody>
                    <a:bodyPr/>
                    <a:lstStyle/>
                    <a:p>
                      <a:pPr algn="r"/>
                      <a:r>
                        <a:rPr sz="850" b="1">
                          <a:solidFill>
                            <a:srgbClr val="6F7C88"/>
                          </a:solidFill>
                          <a:latin typeface="Consolas"/>
                        </a:rPr>
                        <a:t>TARGET SEHAT</a:t>
                      </a:r>
                    </a:p>
                  </a:txBody>
                  <a:tcPr marL="73152" marR="73152" anchor="ctr">
                    <a:solidFill>
                      <a:srgbClr val="182029"/>
                    </a:solidFill>
                  </a:tcPr>
                </a:tc>
                <a:tc>
                  <a:txBody>
                    <a:bodyPr/>
                    <a:lstStyle/>
                    <a:p>
                      <a:r>
                        <a:rPr sz="850" b="1">
                          <a:solidFill>
                            <a:srgbClr val="6F7C88"/>
                          </a:solidFill>
                          <a:latin typeface="Consolas"/>
                        </a:rPr>
                        <a:t>ARTINYA</a:t>
                      </a:r>
                    </a:p>
                  </a:txBody>
                  <a:tcPr marL="73152" marR="73152" anchor="ctr">
                    <a:solidFill>
                      <a:srgbClr val="182029"/>
                    </a:solidFill>
                  </a:tcPr>
                </a:tc>
              </a:tr>
              <a:tr h="384048">
                <a:tc>
                  <a:txBody>
                    <a:bodyPr wrap="square"/>
                    <a:lstStyle/>
                    <a:p>
                      <a:r>
                        <a:rPr sz="1000" b="1">
                          <a:solidFill>
                            <a:srgbClr val="F2662C"/>
                          </a:solidFill>
                          <a:latin typeface="Segoe UI"/>
                        </a:rPr>
                        <a:t>Thrust-to-weight</a:t>
                      </a:r>
                    </a:p>
                  </a:txBody>
                  <a:tcPr marL="73152" marR="73152" marT="36576" marB="36576" anchor="t">
                    <a:solidFill>
                      <a:srgbClr val="201A18"/>
                    </a:solidFill>
                  </a:tcPr>
                </a:tc>
                <a:tc>
                  <a:txBody>
                    <a:bodyPr wrap="square"/>
                    <a:lstStyle/>
                    <a:p>
                      <a:r>
                        <a:rPr sz="1000">
                          <a:solidFill>
                            <a:srgbClr val="A9B4BE"/>
                          </a:solidFill>
                          <a:latin typeface="Segoe UI"/>
                        </a:rPr>
                        <a:t>4 × 1200 g ÷ 685 g</a:t>
                      </a:r>
                    </a:p>
                  </a:txBody>
                  <a:tcPr marL="73152" marR="73152" marT="36576" marB="36576" anchor="t">
                    <a:solidFill>
                      <a:srgbClr val="201A18"/>
                    </a:solidFill>
                  </a:tcPr>
                </a:tc>
                <a:tc>
                  <a:txBody>
                    <a:bodyPr wrap="square"/>
                    <a:lstStyle/>
                    <a:p>
                      <a:pPr algn="r"/>
                      <a:r>
                        <a:rPr sz="1000">
                          <a:solidFill>
                            <a:srgbClr val="A9B4BE"/>
                          </a:solidFill>
                          <a:latin typeface="Consolas"/>
                        </a:rPr>
                        <a:t>7,0 : 1</a:t>
                      </a:r>
                    </a:p>
                  </a:txBody>
                  <a:tcPr marL="73152" marR="73152" marT="36576" marB="36576" anchor="t">
                    <a:solidFill>
                      <a:srgbClr val="201A18"/>
                    </a:solidFill>
                  </a:tcPr>
                </a:tc>
                <a:tc>
                  <a:txBody>
                    <a:bodyPr wrap="square"/>
                    <a:lstStyle/>
                    <a:p>
                      <a:pPr algn="r"/>
                      <a:r>
                        <a:rPr sz="1000">
                          <a:solidFill>
                            <a:srgbClr val="A9B4BE"/>
                          </a:solidFill>
                          <a:latin typeface="Consolas"/>
                        </a:rPr>
                        <a:t>6–9 : 1</a:t>
                      </a:r>
                    </a:p>
                  </a:txBody>
                  <a:tcPr marL="73152" marR="73152" marT="36576" marB="36576" anchor="t">
                    <a:solidFill>
                      <a:srgbClr val="201A18"/>
                    </a:solidFill>
                  </a:tcPr>
                </a:tc>
                <a:tc>
                  <a:txBody>
                    <a:bodyPr wrap="square"/>
                    <a:lstStyle/>
                    <a:p>
                      <a:r>
                        <a:rPr sz="1000">
                          <a:solidFill>
                            <a:srgbClr val="A9B4BE"/>
                          </a:solidFill>
                          <a:latin typeface="Segoe UI"/>
                        </a:rPr>
                        <a:t>ANGKA TERPENTING. Min. 4:1 untuk freestyle; di bawah 3:1 tak bisa pulih dari dive</a:t>
                      </a:r>
                    </a:p>
                  </a:txBody>
                  <a:tcPr marL="73152" marR="73152" marT="36576" marB="36576" anchor="t">
                    <a:solidFill>
                      <a:srgbClr val="201A18"/>
                    </a:solidFill>
                  </a:tcPr>
                </a:tc>
              </a:tr>
              <a:tr h="384048">
                <a:tc>
                  <a:txBody>
                    <a:bodyPr wrap="square"/>
                    <a:lstStyle/>
                    <a:p>
                      <a:r>
                        <a:rPr sz="1000" b="1">
                          <a:solidFill>
                            <a:srgbClr val="ECEFF2"/>
                          </a:solidFill>
                          <a:latin typeface="Segoe UI"/>
                        </a:rPr>
                        <a:t>Massa terbang</a:t>
                      </a:r>
                    </a:p>
                  </a:txBody>
                  <a:tcPr marL="73152" marR="73152" marT="36576" marB="36576" anchor="t">
                    <a:solidFill>
                      <a:srgbClr val="12171D"/>
                    </a:solidFill>
                  </a:tcPr>
                </a:tc>
                <a:tc>
                  <a:txBody>
                    <a:bodyPr wrap="square"/>
                    <a:lstStyle/>
                    <a:p>
                      <a:r>
                        <a:rPr sz="1000">
                          <a:solidFill>
                            <a:srgbClr val="A9B4BE"/>
                          </a:solidFill>
                          <a:latin typeface="Segoe UI"/>
                        </a:rPr>
                        <a:t>frame + elektronik + baterai</a:t>
                      </a:r>
                    </a:p>
                  </a:txBody>
                  <a:tcPr marL="73152" marR="73152" marT="36576" marB="36576" anchor="t">
                    <a:solidFill>
                      <a:srgbClr val="12171D"/>
                    </a:solidFill>
                  </a:tcPr>
                </a:tc>
                <a:tc>
                  <a:txBody>
                    <a:bodyPr wrap="square"/>
                    <a:lstStyle/>
                    <a:p>
                      <a:pPr algn="r"/>
                      <a:r>
                        <a:rPr sz="1000">
                          <a:solidFill>
                            <a:srgbClr val="A9B4BE"/>
                          </a:solidFill>
                          <a:latin typeface="Consolas"/>
                        </a:rPr>
                        <a:t>685 g</a:t>
                      </a:r>
                    </a:p>
                  </a:txBody>
                  <a:tcPr marL="73152" marR="73152" marT="36576" marB="36576" anchor="t">
                    <a:solidFill>
                      <a:srgbClr val="12171D"/>
                    </a:solidFill>
                  </a:tcPr>
                </a:tc>
                <a:tc>
                  <a:txBody>
                    <a:bodyPr wrap="square"/>
                    <a:lstStyle/>
                    <a:p>
                      <a:pPr algn="r"/>
                      <a:r>
                        <a:rPr sz="1000">
                          <a:solidFill>
                            <a:srgbClr val="A9B4BE"/>
                          </a:solidFill>
                          <a:latin typeface="Consolas"/>
                        </a:rPr>
                        <a:t>650–750 g</a:t>
                      </a:r>
                    </a:p>
                  </a:txBody>
                  <a:tcPr marL="73152" marR="73152" marT="36576" marB="36576" anchor="t">
                    <a:solidFill>
                      <a:srgbClr val="12171D"/>
                    </a:solidFill>
                  </a:tcPr>
                </a:tc>
                <a:tc>
                  <a:txBody>
                    <a:bodyPr wrap="square"/>
                    <a:lstStyle/>
                    <a:p>
                      <a:r>
                        <a:rPr sz="1000">
                          <a:solidFill>
                            <a:srgbClr val="A9B4BE"/>
                          </a:solidFill>
                          <a:latin typeface="Segoe UI"/>
                        </a:rPr>
                        <a:t>Di atas 800 g drone terasa malas dan enggan berputar cepat</a:t>
                      </a:r>
                    </a:p>
                  </a:txBody>
                  <a:tcPr marL="73152" marR="73152" marT="36576" marB="36576" anchor="t">
                    <a:solidFill>
                      <a:srgbClr val="12171D"/>
                    </a:solidFill>
                  </a:tcPr>
                </a:tc>
              </a:tr>
              <a:tr h="384048">
                <a:tc>
                  <a:txBody>
                    <a:bodyPr wrap="square"/>
                    <a:lstStyle/>
                    <a:p>
                      <a:r>
                        <a:rPr sz="1000" b="1">
                          <a:solidFill>
                            <a:srgbClr val="ECEFF2"/>
                          </a:solidFill>
                          <a:latin typeface="Segoe UI"/>
                        </a:rPr>
                        <a:t>Throttle melayang</a:t>
                      </a:r>
                    </a:p>
                  </a:txBody>
                  <a:tcPr marL="73152" marR="73152" marT="36576" marB="36576" anchor="t">
                    <a:solidFill>
                      <a:srgbClr val="12171D"/>
                    </a:solidFill>
                  </a:tcPr>
                </a:tc>
                <a:tc>
                  <a:txBody>
                    <a:bodyPr wrap="square"/>
                    <a:lstStyle/>
                    <a:p>
                      <a:r>
                        <a:rPr sz="1000">
                          <a:solidFill>
                            <a:srgbClr val="A9B4BE"/>
                          </a:solidFill>
                          <a:latin typeface="Segoe UI"/>
                        </a:rPr>
                        <a:t>turunan dari TWR</a:t>
                      </a:r>
                    </a:p>
                  </a:txBody>
                  <a:tcPr marL="73152" marR="73152" marT="36576" marB="36576" anchor="t">
                    <a:solidFill>
                      <a:srgbClr val="12171D"/>
                    </a:solidFill>
                  </a:tcPr>
                </a:tc>
                <a:tc>
                  <a:txBody>
                    <a:bodyPr wrap="square"/>
                    <a:lstStyle/>
                    <a:p>
                      <a:pPr algn="r"/>
                      <a:r>
                        <a:rPr sz="1000">
                          <a:solidFill>
                            <a:srgbClr val="A9B4BE"/>
                          </a:solidFill>
                          <a:latin typeface="Consolas"/>
                        </a:rPr>
                        <a:t>~30 %</a:t>
                      </a:r>
                    </a:p>
                  </a:txBody>
                  <a:tcPr marL="73152" marR="73152" marT="36576" marB="36576" anchor="t">
                    <a:solidFill>
                      <a:srgbClr val="12171D"/>
                    </a:solidFill>
                  </a:tcPr>
                </a:tc>
                <a:tc>
                  <a:txBody>
                    <a:bodyPr wrap="square"/>
                    <a:lstStyle/>
                    <a:p>
                      <a:pPr algn="r"/>
                      <a:r>
                        <a:rPr sz="1000">
                          <a:solidFill>
                            <a:srgbClr val="A9B4BE"/>
                          </a:solidFill>
                          <a:latin typeface="Consolas"/>
                        </a:rPr>
                        <a:t>25–35 %</a:t>
                      </a:r>
                    </a:p>
                  </a:txBody>
                  <a:tcPr marL="73152" marR="73152" marT="36576" marB="36576" anchor="t">
                    <a:solidFill>
                      <a:srgbClr val="12171D"/>
                    </a:solidFill>
                  </a:tcPr>
                </a:tc>
                <a:tc>
                  <a:txBody>
                    <a:bodyPr wrap="square"/>
                    <a:lstStyle/>
                    <a:p>
                      <a:r>
                        <a:rPr sz="1000">
                          <a:solidFill>
                            <a:srgbClr val="A9B4BE"/>
                          </a:solidFill>
                          <a:latin typeface="Segoe UI"/>
                        </a:rPr>
                        <a:t>Hanya sepertiga tenaga untuk diam di udara — sisanya untuk manuver</a:t>
                      </a:r>
                    </a:p>
                  </a:txBody>
                  <a:tcPr marL="73152" marR="73152" marT="36576" marB="36576" anchor="t">
                    <a:solidFill>
                      <a:srgbClr val="12171D"/>
                    </a:solidFill>
                  </a:tcPr>
                </a:tc>
              </a:tr>
              <a:tr h="384048">
                <a:tc>
                  <a:txBody>
                    <a:bodyPr wrap="square"/>
                    <a:lstStyle/>
                    <a:p>
                      <a:r>
                        <a:rPr sz="1000" b="1">
                          <a:solidFill>
                            <a:srgbClr val="ECEFF2"/>
                          </a:solidFill>
                          <a:latin typeface="Segoe UI"/>
                        </a:rPr>
                        <a:t>Arus puncak</a:t>
                      </a:r>
                    </a:p>
                  </a:txBody>
                  <a:tcPr marL="73152" marR="73152" marT="36576" marB="36576" anchor="t">
                    <a:solidFill>
                      <a:srgbClr val="12171D"/>
                    </a:solidFill>
                  </a:tcPr>
                </a:tc>
                <a:tc>
                  <a:txBody>
                    <a:bodyPr wrap="square"/>
                    <a:lstStyle/>
                    <a:p>
                      <a:r>
                        <a:rPr sz="1000">
                          <a:solidFill>
                            <a:srgbClr val="A9B4BE"/>
                          </a:solidFill>
                          <a:latin typeface="Segoe UI"/>
                        </a:rPr>
                        <a:t>4 × ~11 A</a:t>
                      </a:r>
                    </a:p>
                  </a:txBody>
                  <a:tcPr marL="73152" marR="73152" marT="36576" marB="36576" anchor="t">
                    <a:solidFill>
                      <a:srgbClr val="12171D"/>
                    </a:solidFill>
                  </a:tcPr>
                </a:tc>
                <a:tc>
                  <a:txBody>
                    <a:bodyPr wrap="square"/>
                    <a:lstStyle/>
                    <a:p>
                      <a:pPr algn="r"/>
                      <a:r>
                        <a:rPr sz="1000">
                          <a:solidFill>
                            <a:srgbClr val="A9B4BE"/>
                          </a:solidFill>
                          <a:latin typeface="Consolas"/>
                        </a:rPr>
                        <a:t>44 A</a:t>
                      </a:r>
                    </a:p>
                  </a:txBody>
                  <a:tcPr marL="73152" marR="73152" marT="36576" marB="36576" anchor="t">
                    <a:solidFill>
                      <a:srgbClr val="12171D"/>
                    </a:solidFill>
                  </a:tcPr>
                </a:tc>
                <a:tc>
                  <a:txBody>
                    <a:bodyPr wrap="square"/>
                    <a:lstStyle/>
                    <a:p>
                      <a:pPr algn="r"/>
                      <a:r>
                        <a:rPr sz="1000">
                          <a:solidFill>
                            <a:srgbClr val="A9B4BE"/>
                          </a:solidFill>
                          <a:latin typeface="Consolas"/>
                        </a:rPr>
                        <a:t>&lt; 55 A</a:t>
                      </a:r>
                    </a:p>
                  </a:txBody>
                  <a:tcPr marL="73152" marR="73152" marT="36576" marB="36576" anchor="t">
                    <a:solidFill>
                      <a:srgbClr val="12171D"/>
                    </a:solidFill>
                  </a:tcPr>
                </a:tc>
                <a:tc>
                  <a:txBody>
                    <a:bodyPr wrap="square"/>
                    <a:lstStyle/>
                    <a:p>
                      <a:r>
                        <a:rPr sz="1000">
                          <a:solidFill>
                            <a:srgbClr val="A9B4BE"/>
                          </a:solidFill>
                          <a:latin typeface="Segoe UI"/>
                        </a:rPr>
                        <a:t>ESC 55 A memberi headroom 25%. ESC yang bekerja di 100% akan mati muda</a:t>
                      </a:r>
                    </a:p>
                  </a:txBody>
                  <a:tcPr marL="73152" marR="73152" marT="36576" marB="36576" anchor="t">
                    <a:solidFill>
                      <a:srgbClr val="12171D"/>
                    </a:solidFill>
                  </a:tcPr>
                </a:tc>
              </a:tr>
              <a:tr h="384048">
                <a:tc>
                  <a:txBody>
                    <a:bodyPr wrap="square"/>
                    <a:lstStyle/>
                    <a:p>
                      <a:r>
                        <a:rPr sz="1000" b="1">
                          <a:solidFill>
                            <a:srgbClr val="ECEFF2"/>
                          </a:solidFill>
                          <a:latin typeface="Segoe UI"/>
                        </a:rPr>
                        <a:t>Beban baterai</a:t>
                      </a:r>
                    </a:p>
                  </a:txBody>
                  <a:tcPr marL="73152" marR="73152" marT="36576" marB="36576" anchor="t">
                    <a:solidFill>
                      <a:srgbClr val="12171D"/>
                    </a:solidFill>
                  </a:tcPr>
                </a:tc>
                <a:tc>
                  <a:txBody>
                    <a:bodyPr wrap="square"/>
                    <a:lstStyle/>
                    <a:p>
                      <a:r>
                        <a:rPr sz="1000">
                          <a:solidFill>
                            <a:srgbClr val="A9B4BE"/>
                          </a:solidFill>
                          <a:latin typeface="Segoe UI"/>
                        </a:rPr>
                        <a:t>44 A ÷ 1,3 Ah</a:t>
                      </a:r>
                    </a:p>
                  </a:txBody>
                  <a:tcPr marL="73152" marR="73152" marT="36576" marB="36576" anchor="t">
                    <a:solidFill>
                      <a:srgbClr val="12171D"/>
                    </a:solidFill>
                  </a:tcPr>
                </a:tc>
                <a:tc>
                  <a:txBody>
                    <a:bodyPr wrap="square"/>
                    <a:lstStyle/>
                    <a:p>
                      <a:pPr algn="r"/>
                      <a:r>
                        <a:rPr sz="1000">
                          <a:solidFill>
                            <a:srgbClr val="A9B4BE"/>
                          </a:solidFill>
                          <a:latin typeface="Consolas"/>
                        </a:rPr>
                        <a:t>34 C</a:t>
                      </a:r>
                    </a:p>
                  </a:txBody>
                  <a:tcPr marL="73152" marR="73152" marT="36576" marB="36576" anchor="t">
                    <a:solidFill>
                      <a:srgbClr val="12171D"/>
                    </a:solidFill>
                  </a:tcPr>
                </a:tc>
                <a:tc>
                  <a:txBody>
                    <a:bodyPr wrap="square"/>
                    <a:lstStyle/>
                    <a:p>
                      <a:pPr algn="r"/>
                      <a:r>
                        <a:rPr sz="1000">
                          <a:solidFill>
                            <a:srgbClr val="A9B4BE"/>
                          </a:solidFill>
                          <a:latin typeface="Consolas"/>
                        </a:rPr>
                        <a:t>&lt; 60 C</a:t>
                      </a:r>
                    </a:p>
                  </a:txBody>
                  <a:tcPr marL="73152" marR="73152" marT="36576" marB="36576" anchor="t">
                    <a:solidFill>
                      <a:srgbClr val="12171D"/>
                    </a:solidFill>
                  </a:tcPr>
                </a:tc>
                <a:tc>
                  <a:txBody>
                    <a:bodyPr wrap="square"/>
                    <a:lstStyle/>
                    <a:p>
                      <a:r>
                        <a:rPr sz="1000">
                          <a:solidFill>
                            <a:srgbClr val="A9B4BE"/>
                          </a:solidFill>
                          <a:latin typeface="Segoe UI"/>
                        </a:rPr>
                        <a:t>Rating baterai 100C — ia bekerja santai, sehingga awet &amp; tak menggembung</a:t>
                      </a:r>
                    </a:p>
                  </a:txBody>
                  <a:tcPr marL="73152" marR="73152" marT="36576" marB="36576" anchor="t">
                    <a:solidFill>
                      <a:srgbClr val="12171D"/>
                    </a:solidFill>
                  </a:tcPr>
                </a:tc>
              </a:tr>
              <a:tr h="384048">
                <a:tc>
                  <a:txBody>
                    <a:bodyPr wrap="square"/>
                    <a:lstStyle/>
                    <a:p>
                      <a:r>
                        <a:rPr sz="1000" b="1">
                          <a:solidFill>
                            <a:srgbClr val="ECEFF2"/>
                          </a:solidFill>
                          <a:latin typeface="Segoe UI"/>
                        </a:rPr>
                        <a:t>Daya puncak</a:t>
                      </a:r>
                    </a:p>
                  </a:txBody>
                  <a:tcPr marL="73152" marR="73152" marT="36576" marB="36576" anchor="t">
                    <a:solidFill>
                      <a:srgbClr val="12171D"/>
                    </a:solidFill>
                  </a:tcPr>
                </a:tc>
                <a:tc>
                  <a:txBody>
                    <a:bodyPr wrap="square"/>
                    <a:lstStyle/>
                    <a:p>
                      <a:r>
                        <a:rPr sz="1000">
                          <a:solidFill>
                            <a:srgbClr val="A9B4BE"/>
                          </a:solidFill>
                          <a:latin typeface="Segoe UI"/>
                        </a:rPr>
                        <a:t>44 A × 24,0 V</a:t>
                      </a:r>
                    </a:p>
                  </a:txBody>
                  <a:tcPr marL="73152" marR="73152" marT="36576" marB="36576" anchor="t">
                    <a:solidFill>
                      <a:srgbClr val="12171D"/>
                    </a:solidFill>
                  </a:tcPr>
                </a:tc>
                <a:tc>
                  <a:txBody>
                    <a:bodyPr wrap="square"/>
                    <a:lstStyle/>
                    <a:p>
                      <a:pPr algn="r"/>
                      <a:r>
                        <a:rPr sz="1000">
                          <a:solidFill>
                            <a:srgbClr val="A9B4BE"/>
                          </a:solidFill>
                          <a:latin typeface="Consolas"/>
                        </a:rPr>
                        <a:t>1 060 W</a:t>
                      </a:r>
                    </a:p>
                  </a:txBody>
                  <a:tcPr marL="73152" marR="73152" marT="36576" marB="36576" anchor="t">
                    <a:solidFill>
                      <a:srgbClr val="12171D"/>
                    </a:solidFill>
                  </a:tcPr>
                </a:tc>
                <a:tc>
                  <a:txBody>
                    <a:bodyPr wrap="square"/>
                    <a:lstStyle/>
                    <a:p>
                      <a:pPr algn="r"/>
                      <a:r>
                        <a:rPr sz="1000">
                          <a:solidFill>
                            <a:srgbClr val="A9B4BE"/>
                          </a:solidFill>
                          <a:latin typeface="Consolas"/>
                        </a:rPr>
                        <a:t>—</a:t>
                      </a:r>
                    </a:p>
                  </a:txBody>
                  <a:tcPr marL="73152" marR="73152" marT="36576" marB="36576" anchor="t">
                    <a:solidFill>
                      <a:srgbClr val="12171D"/>
                    </a:solidFill>
                  </a:tcPr>
                </a:tc>
                <a:tc>
                  <a:txBody>
                    <a:bodyPr wrap="square"/>
                    <a:lstStyle/>
                    <a:p>
                      <a:r>
                        <a:rPr sz="1000">
                          <a:solidFill>
                            <a:srgbClr val="A9B4BE"/>
                          </a:solidFill>
                          <a:latin typeface="Segoe UI"/>
                        </a:rPr>
                        <a:t>Setara satu setrika listrik, dari benda seberat tiga apel</a:t>
                      </a:r>
                    </a:p>
                  </a:txBody>
                  <a:tcPr marL="73152" marR="73152" marT="36576" marB="36576" anchor="t">
                    <a:solidFill>
                      <a:srgbClr val="12171D"/>
                    </a:solidFill>
                  </a:tcPr>
                </a:tc>
              </a:tr>
              <a:tr h="384048">
                <a:tc>
                  <a:txBody>
                    <a:bodyPr wrap="square"/>
                    <a:lstStyle/>
                    <a:p>
                      <a:r>
                        <a:rPr sz="1000" b="1">
                          <a:solidFill>
                            <a:srgbClr val="ECEFF2"/>
                          </a:solidFill>
                          <a:latin typeface="Segoe UI"/>
                        </a:rPr>
                        <a:t>RPM maksimum</a:t>
                      </a:r>
                    </a:p>
                  </a:txBody>
                  <a:tcPr marL="73152" marR="73152" marT="36576" marB="36576" anchor="t">
                    <a:solidFill>
                      <a:srgbClr val="12171D"/>
                    </a:solidFill>
                  </a:tcPr>
                </a:tc>
                <a:tc>
                  <a:txBody>
                    <a:bodyPr wrap="square"/>
                    <a:lstStyle/>
                    <a:p>
                      <a:r>
                        <a:rPr sz="1000">
                          <a:solidFill>
                            <a:srgbClr val="A9B4BE"/>
                          </a:solidFill>
                          <a:latin typeface="Segoe UI"/>
                        </a:rPr>
                        <a:t>1900 KV × 25,2 V, berbeban</a:t>
                      </a:r>
                    </a:p>
                  </a:txBody>
                  <a:tcPr marL="73152" marR="73152" marT="36576" marB="36576" anchor="t">
                    <a:solidFill>
                      <a:srgbClr val="12171D"/>
                    </a:solidFill>
                  </a:tcPr>
                </a:tc>
                <a:tc>
                  <a:txBody>
                    <a:bodyPr wrap="square"/>
                    <a:lstStyle/>
                    <a:p>
                      <a:pPr algn="r"/>
                      <a:r>
                        <a:rPr sz="1000">
                          <a:solidFill>
                            <a:srgbClr val="A9B4BE"/>
                          </a:solidFill>
                          <a:latin typeface="Consolas"/>
                        </a:rPr>
                        <a:t>~28 000</a:t>
                      </a:r>
                    </a:p>
                  </a:txBody>
                  <a:tcPr marL="73152" marR="73152" marT="36576" marB="36576" anchor="t">
                    <a:solidFill>
                      <a:srgbClr val="12171D"/>
                    </a:solidFill>
                  </a:tcPr>
                </a:tc>
                <a:tc>
                  <a:txBody>
                    <a:bodyPr wrap="square"/>
                    <a:lstStyle/>
                    <a:p>
                      <a:pPr algn="r"/>
                      <a:r>
                        <a:rPr sz="1000">
                          <a:solidFill>
                            <a:srgbClr val="A9B4BE"/>
                          </a:solidFill>
                          <a:latin typeface="Consolas"/>
                        </a:rPr>
                        <a:t>—</a:t>
                      </a:r>
                    </a:p>
                  </a:txBody>
                  <a:tcPr marL="73152" marR="73152" marT="36576" marB="36576" anchor="t">
                    <a:solidFill>
                      <a:srgbClr val="12171D"/>
                    </a:solidFill>
                  </a:tcPr>
                </a:tc>
                <a:tc>
                  <a:txBody>
                    <a:bodyPr wrap="square"/>
                    <a:lstStyle/>
                    <a:p>
                      <a:r>
                        <a:rPr sz="1000">
                          <a:solidFill>
                            <a:srgbClr val="A9B4BE"/>
                          </a:solidFill>
                          <a:latin typeface="Segoe UI"/>
                        </a:rPr>
                        <a:t>Alasan propeller wajib seimbang — getaran di RPM segini merusak gyro</a:t>
                      </a:r>
                    </a:p>
                  </a:txBody>
                  <a:tcPr marL="73152" marR="73152" marT="36576" marB="36576" anchor="t">
                    <a:solidFill>
                      <a:srgbClr val="12171D"/>
                    </a:solidFill>
                  </a:tcPr>
                </a:tc>
              </a:tr>
            </a:tbl>
          </a:graphicData>
        </a:graphic>
      </p:graphicFrame>
      <p:sp>
        <p:nvSpPr>
          <p:cNvPr id="6" name="TextBox 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Perhitungan teknis</a:t>
            </a:r>
          </a:p>
        </p:txBody>
      </p:sp>
      <p:sp>
        <p:nvSpPr>
          <p:cNvPr id="7" name="TextBox 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31 / 43</a:t>
            </a:r>
          </a:p>
        </p:txBody>
      </p:sp>
      <p:sp>
        <p:nvSpPr>
          <p:cNvPr id="8" name="Rectangle 7"/>
          <p:cNvSpPr/>
          <p:nvPr/>
        </p:nvSpPr>
        <p:spPr>
          <a:xfrm>
            <a:off x="0" y="6803136"/>
            <a:ext cx="8789361"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3 · SISTEM</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Tiga jalur yang berjalan paralel</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Memahami pemisahan ini adalah kunci manajemen risiko: VIDEO DAN KONTROL TIDAK SALING BERGANTUNG.</a:t>
            </a:r>
          </a:p>
        </p:txBody>
      </p:sp>
      <p:sp>
        <p:nvSpPr>
          <p:cNvPr id="5" name="Rectangle 4"/>
          <p:cNvSpPr/>
          <p:nvPr/>
        </p:nvSpPr>
        <p:spPr>
          <a:xfrm>
            <a:off x="566928" y="2377440"/>
            <a:ext cx="3538728" cy="3108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31750" cy="3108960"/>
          </a:xfrm>
          <a:prstGeom prst="rect">
            <a:avLst/>
          </a:prstGeom>
          <a:solidFill>
            <a:srgbClr val="C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JALUR 1 · DAYA</a:t>
            </a:r>
          </a:p>
        </p:txBody>
      </p:sp>
      <p:sp>
        <p:nvSpPr>
          <p:cNvPr id="8" name="TextBox 7"/>
          <p:cNvSpPr txBox="1"/>
          <p:nvPr/>
        </p:nvSpPr>
        <p:spPr>
          <a:xfrm>
            <a:off x="768096"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Baterai → ESC → Motor</a:t>
            </a:r>
          </a:p>
        </p:txBody>
      </p:sp>
      <p:sp>
        <p:nvSpPr>
          <p:cNvPr id="9" name="TextBox 8"/>
          <p:cNvSpPr txBox="1"/>
          <p:nvPr/>
        </p:nvSpPr>
        <p:spPr>
          <a:xfrm>
            <a:off x="768096" y="3108960"/>
            <a:ext cx="3154680" cy="22402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ESC memotong arus searah 22 V menjadi tiga fasa bergantian, menciptakan medan magnet berputar yang menyeret rotor motor.
TITIK GAGAL: solder buruk di jalur ini menghasilkan panas, lalu api. Inilah kenapa smoke stopper wajib saat penyalaan pertama.</a:t>
            </a:r>
          </a:p>
        </p:txBody>
      </p:sp>
      <p:sp>
        <p:nvSpPr>
          <p:cNvPr id="10" name="Rectangle 9"/>
          <p:cNvSpPr/>
          <p:nvPr/>
        </p:nvSpPr>
        <p:spPr>
          <a:xfrm>
            <a:off x="4288536" y="2377440"/>
            <a:ext cx="3538728" cy="3108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88536" y="2377440"/>
            <a:ext cx="31750" cy="31089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JALUR 2 · KONTROL</a:t>
            </a:r>
          </a:p>
        </p:txBody>
      </p:sp>
      <p:sp>
        <p:nvSpPr>
          <p:cNvPr id="13" name="TextBox 12"/>
          <p:cNvSpPr txBox="1"/>
          <p:nvPr/>
        </p:nvSpPr>
        <p:spPr>
          <a:xfrm>
            <a:off x="4489704"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Stik → FC → PID → ESC</a:t>
            </a:r>
          </a:p>
        </p:txBody>
      </p:sp>
      <p:sp>
        <p:nvSpPr>
          <p:cNvPr id="14" name="TextBox 13"/>
          <p:cNvSpPr txBox="1"/>
          <p:nvPr/>
        </p:nvSpPr>
        <p:spPr>
          <a:xfrm>
            <a:off x="4489704" y="3108960"/>
            <a:ext cx="3154680" cy="22402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Stik meminta KECEPATAN BERPUTAR, bukan sudut. FC membandingkan permintaan itu dengan bacaan gyro dan mengoreksinya 8 000 kali per detik.
TITIK GAGAL: kalau jalur ini putus, drone jatuh. Tidak ada kompromi di sini.</a:t>
            </a:r>
          </a:p>
        </p:txBody>
      </p:sp>
      <p:sp>
        <p:nvSpPr>
          <p:cNvPr id="15" name="Rectangle 14"/>
          <p:cNvSpPr/>
          <p:nvPr/>
        </p:nvSpPr>
        <p:spPr>
          <a:xfrm>
            <a:off x="8010144" y="2377440"/>
            <a:ext cx="3538728" cy="31089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2377440"/>
            <a:ext cx="31750" cy="310896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JALUR 3 · VIDEO</a:t>
            </a:r>
          </a:p>
        </p:txBody>
      </p:sp>
      <p:sp>
        <p:nvSpPr>
          <p:cNvPr id="18" name="TextBox 17"/>
          <p:cNvSpPr txBox="1"/>
          <p:nvPr/>
        </p:nvSpPr>
        <p:spPr>
          <a:xfrm>
            <a:off x="8211312"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Kamera → OSD → VTX</a:t>
            </a:r>
          </a:p>
        </p:txBody>
      </p:sp>
      <p:sp>
        <p:nvSpPr>
          <p:cNvPr id="19" name="TextBox 18"/>
          <p:cNvSpPr txBox="1"/>
          <p:nvPr/>
        </p:nvSpPr>
        <p:spPr>
          <a:xfrm>
            <a:off x="8211312" y="3108960"/>
            <a:ext cx="3154680" cy="22402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Video menembus FC supaya chip OSD bisa menimpakan data (voltase, timer) ke gambar sebelum dipancarkan.
TITIK GAGAL: video mati ≠ drone jatuh. Pilot masih bisa mengendalikan — walau terbang buta.</a:t>
            </a:r>
          </a:p>
        </p:txBody>
      </p:sp>
      <p:sp>
        <p:nvSpPr>
          <p:cNvPr id="20" name="Rectangle 19"/>
          <p:cNvSpPr/>
          <p:nvPr/>
        </p:nvSpPr>
        <p:spPr>
          <a:xfrm>
            <a:off x="566928" y="5623560"/>
            <a:ext cx="11064240" cy="658368"/>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5623560"/>
            <a:ext cx="31750" cy="658368"/>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78815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PRINSIP REKAYASA</a:t>
            </a:r>
          </a:p>
        </p:txBody>
      </p:sp>
      <p:sp>
        <p:nvSpPr>
          <p:cNvPr id="23" name="TextBox 22"/>
          <p:cNvSpPr txBox="1"/>
          <p:nvPr/>
        </p:nvSpPr>
        <p:spPr>
          <a:xfrm>
            <a:off x="768096" y="6007608"/>
            <a:ext cx="10680192" cy="137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Pemisahan ini disengaja. Sistem yang paling kritis (kontrol) justru yang PALING SEDERHANA DAN PALING MURAH — dan itu bukan kebetulan, melainkan prinsip rekayasa keselamatan.</a:t>
            </a:r>
          </a:p>
        </p:txBody>
      </p:sp>
      <p:sp>
        <p:nvSpPr>
          <p:cNvPr id="24" name="TextBox 23"/>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Arsitektur sistem</a:t>
            </a:r>
          </a:p>
        </p:txBody>
      </p:sp>
      <p:sp>
        <p:nvSpPr>
          <p:cNvPr id="25" name="TextBox 24"/>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32 / 43</a:t>
            </a:r>
          </a:p>
        </p:txBody>
      </p:sp>
      <p:sp>
        <p:nvSpPr>
          <p:cNvPr id="26" name="Rectangle 25"/>
          <p:cNvSpPr/>
          <p:nvPr/>
        </p:nvSpPr>
        <p:spPr>
          <a:xfrm>
            <a:off x="0" y="6803136"/>
            <a:ext cx="9072889"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3 · FIRMWARE</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Enam langkah, </a:t>
            </a:r>
            <a:r>
              <a:rPr sz="3400" b="1">
                <a:solidFill>
                  <a:srgbClr val="F2662C"/>
                </a:solidFill>
                <a:latin typeface="Bahnschrift"/>
              </a:rPr>
              <a:t>8 000 kali per detik</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Drone ini TIDAK stabil secara alami. Tanpa komputer yang mengoreksi, ia terguling dalam waktu di bawah satu detik — seperti sapu yang ditegakkan di telapak tangan.</a:t>
            </a:r>
          </a:p>
        </p:txBody>
      </p:sp>
      <p:sp>
        <p:nvSpPr>
          <p:cNvPr id="5" name="Rectangle 4"/>
          <p:cNvSpPr/>
          <p:nvPr/>
        </p:nvSpPr>
        <p:spPr>
          <a:xfrm>
            <a:off x="566928" y="2377440"/>
            <a:ext cx="1719072" cy="2286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1719072"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542032"/>
            <a:ext cx="1463040" cy="182880"/>
          </a:xfrm>
          <a:prstGeom prst="rect">
            <a:avLst/>
          </a:prstGeom>
          <a:noFill/>
        </p:spPr>
        <p:txBody>
          <a:bodyPr wrap="square" lIns="0" rIns="0" tIns="0" bIns="0">
            <a:spAutoFit/>
          </a:bodyPr>
          <a:lstStyle/>
          <a:p>
            <a:pPr algn="l">
              <a:lnSpc>
                <a:spcPct val="125000"/>
              </a:lnSpc>
              <a:spcAft>
                <a:spcPts val="600"/>
              </a:spcAft>
            </a:pPr>
            <a:r>
              <a:rPr sz="900" b="1">
                <a:solidFill>
                  <a:srgbClr val="F2662C"/>
                </a:solidFill>
                <a:latin typeface="Consolas"/>
              </a:rPr>
              <a:t>01</a:t>
            </a:r>
          </a:p>
        </p:txBody>
      </p:sp>
      <p:sp>
        <p:nvSpPr>
          <p:cNvPr id="8" name="TextBox 7"/>
          <p:cNvSpPr txBox="1"/>
          <p:nvPr/>
        </p:nvSpPr>
        <p:spPr>
          <a:xfrm>
            <a:off x="704088" y="2788920"/>
            <a:ext cx="1508760" cy="320040"/>
          </a:xfrm>
          <a:prstGeom prst="rect">
            <a:avLst/>
          </a:prstGeom>
          <a:noFill/>
        </p:spPr>
        <p:txBody>
          <a:bodyPr wrap="square" lIns="0" rIns="0" tIns="0" bIns="0">
            <a:spAutoFit/>
          </a:bodyPr>
          <a:lstStyle/>
          <a:p>
            <a:pPr algn="l">
              <a:lnSpc>
                <a:spcPct val="125000"/>
              </a:lnSpc>
              <a:spcAft>
                <a:spcPts val="600"/>
              </a:spcAft>
            </a:pPr>
            <a:r>
              <a:rPr sz="1250" b="1">
                <a:solidFill>
                  <a:srgbClr val="ECEFF2"/>
                </a:solidFill>
                <a:latin typeface="Bahnschrift"/>
              </a:rPr>
              <a:t>Baca gyro</a:t>
            </a:r>
          </a:p>
        </p:txBody>
      </p:sp>
      <p:sp>
        <p:nvSpPr>
          <p:cNvPr id="9" name="TextBox 8"/>
          <p:cNvSpPr txBox="1"/>
          <p:nvPr/>
        </p:nvSpPr>
        <p:spPr>
          <a:xfrm>
            <a:off x="704088" y="3200400"/>
            <a:ext cx="1481328" cy="1371600"/>
          </a:xfrm>
          <a:prstGeom prst="rect">
            <a:avLst/>
          </a:prstGeom>
          <a:noFill/>
        </p:spPr>
        <p:txBody>
          <a:bodyPr wrap="square" lIns="0" rIns="0" tIns="0" bIns="0">
            <a:spAutoFit/>
          </a:bodyPr>
          <a:lstStyle/>
          <a:p>
            <a:pPr algn="l">
              <a:lnSpc>
                <a:spcPct val="125000"/>
              </a:lnSpc>
              <a:spcAft>
                <a:spcPts val="600"/>
              </a:spcAft>
            </a:pPr>
            <a:r>
              <a:rPr sz="950" b="0">
                <a:solidFill>
                  <a:srgbClr val="A9B4BE"/>
                </a:solidFill>
                <a:latin typeface="Segoe UI"/>
              </a:rPr>
              <a:t>Sensor melaporkan kecepatan putar di tiga sumbu, 8 000× per detik.</a:t>
            </a:r>
          </a:p>
        </p:txBody>
      </p:sp>
      <p:sp>
        <p:nvSpPr>
          <p:cNvPr id="10" name="Rectangle 9"/>
          <p:cNvSpPr/>
          <p:nvPr/>
        </p:nvSpPr>
        <p:spPr>
          <a:xfrm>
            <a:off x="2423160" y="2377440"/>
            <a:ext cx="1719072" cy="2286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23160" y="2377440"/>
            <a:ext cx="1719072"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2542032"/>
            <a:ext cx="1463040" cy="182880"/>
          </a:xfrm>
          <a:prstGeom prst="rect">
            <a:avLst/>
          </a:prstGeom>
          <a:noFill/>
        </p:spPr>
        <p:txBody>
          <a:bodyPr wrap="square" lIns="0" rIns="0" tIns="0" bIns="0">
            <a:spAutoFit/>
          </a:bodyPr>
          <a:lstStyle/>
          <a:p>
            <a:pPr algn="l">
              <a:lnSpc>
                <a:spcPct val="125000"/>
              </a:lnSpc>
              <a:spcAft>
                <a:spcPts val="600"/>
              </a:spcAft>
            </a:pPr>
            <a:r>
              <a:rPr sz="900" b="1">
                <a:solidFill>
                  <a:srgbClr val="F2662C"/>
                </a:solidFill>
                <a:latin typeface="Consolas"/>
              </a:rPr>
              <a:t>02</a:t>
            </a:r>
          </a:p>
        </p:txBody>
      </p:sp>
      <p:sp>
        <p:nvSpPr>
          <p:cNvPr id="13" name="TextBox 12"/>
          <p:cNvSpPr txBox="1"/>
          <p:nvPr/>
        </p:nvSpPr>
        <p:spPr>
          <a:xfrm>
            <a:off x="2560320" y="2788920"/>
            <a:ext cx="1508760" cy="320040"/>
          </a:xfrm>
          <a:prstGeom prst="rect">
            <a:avLst/>
          </a:prstGeom>
          <a:noFill/>
        </p:spPr>
        <p:txBody>
          <a:bodyPr wrap="square" lIns="0" rIns="0" tIns="0" bIns="0">
            <a:spAutoFit/>
          </a:bodyPr>
          <a:lstStyle/>
          <a:p>
            <a:pPr algn="l">
              <a:lnSpc>
                <a:spcPct val="125000"/>
              </a:lnSpc>
              <a:spcAft>
                <a:spcPts val="600"/>
              </a:spcAft>
            </a:pPr>
            <a:r>
              <a:rPr sz="1250" b="1">
                <a:solidFill>
                  <a:srgbClr val="ECEFF2"/>
                </a:solidFill>
                <a:latin typeface="Bahnschrift"/>
              </a:rPr>
              <a:t>Saring getaran</a:t>
            </a:r>
          </a:p>
        </p:txBody>
      </p:sp>
      <p:sp>
        <p:nvSpPr>
          <p:cNvPr id="14" name="TextBox 13"/>
          <p:cNvSpPr txBox="1"/>
          <p:nvPr/>
        </p:nvSpPr>
        <p:spPr>
          <a:xfrm>
            <a:off x="2560320" y="3200400"/>
            <a:ext cx="1481328" cy="1371600"/>
          </a:xfrm>
          <a:prstGeom prst="rect">
            <a:avLst/>
          </a:prstGeom>
          <a:noFill/>
        </p:spPr>
        <p:txBody>
          <a:bodyPr wrap="square" lIns="0" rIns="0" tIns="0" bIns="0">
            <a:spAutoFit/>
          </a:bodyPr>
          <a:lstStyle/>
          <a:p>
            <a:pPr algn="l">
              <a:lnSpc>
                <a:spcPct val="125000"/>
              </a:lnSpc>
              <a:spcAft>
                <a:spcPts val="600"/>
              </a:spcAft>
            </a:pPr>
            <a:r>
              <a:rPr sz="950" b="0">
                <a:solidFill>
                  <a:srgbClr val="A9B4BE"/>
                </a:solidFill>
                <a:latin typeface="Segoe UI"/>
              </a:rPr>
              <a:t>Filter memisahkan rotasi asli (0–50 Hz) dari getaran propeller (200–800 Hz).</a:t>
            </a:r>
          </a:p>
        </p:txBody>
      </p:sp>
      <p:sp>
        <p:nvSpPr>
          <p:cNvPr id="15" name="Rectangle 14"/>
          <p:cNvSpPr/>
          <p:nvPr/>
        </p:nvSpPr>
        <p:spPr>
          <a:xfrm>
            <a:off x="4279392" y="2377440"/>
            <a:ext cx="1719072" cy="2286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79392" y="2377440"/>
            <a:ext cx="1719072"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16552" y="2542032"/>
            <a:ext cx="1463040" cy="182880"/>
          </a:xfrm>
          <a:prstGeom prst="rect">
            <a:avLst/>
          </a:prstGeom>
          <a:noFill/>
        </p:spPr>
        <p:txBody>
          <a:bodyPr wrap="square" lIns="0" rIns="0" tIns="0" bIns="0">
            <a:spAutoFit/>
          </a:bodyPr>
          <a:lstStyle/>
          <a:p>
            <a:pPr algn="l">
              <a:lnSpc>
                <a:spcPct val="125000"/>
              </a:lnSpc>
              <a:spcAft>
                <a:spcPts val="600"/>
              </a:spcAft>
            </a:pPr>
            <a:r>
              <a:rPr sz="900" b="1">
                <a:solidFill>
                  <a:srgbClr val="F2662C"/>
                </a:solidFill>
                <a:latin typeface="Consolas"/>
              </a:rPr>
              <a:t>03</a:t>
            </a:r>
          </a:p>
        </p:txBody>
      </p:sp>
      <p:sp>
        <p:nvSpPr>
          <p:cNvPr id="18" name="TextBox 17"/>
          <p:cNvSpPr txBox="1"/>
          <p:nvPr/>
        </p:nvSpPr>
        <p:spPr>
          <a:xfrm>
            <a:off x="4416552" y="2788920"/>
            <a:ext cx="1508760" cy="320040"/>
          </a:xfrm>
          <a:prstGeom prst="rect">
            <a:avLst/>
          </a:prstGeom>
          <a:noFill/>
        </p:spPr>
        <p:txBody>
          <a:bodyPr wrap="square" lIns="0" rIns="0" tIns="0" bIns="0">
            <a:spAutoFit/>
          </a:bodyPr>
          <a:lstStyle/>
          <a:p>
            <a:pPr algn="l">
              <a:lnSpc>
                <a:spcPct val="125000"/>
              </a:lnSpc>
              <a:spcAft>
                <a:spcPts val="600"/>
              </a:spcAft>
            </a:pPr>
            <a:r>
              <a:rPr sz="1250" b="1">
                <a:solidFill>
                  <a:srgbClr val="ECEFF2"/>
                </a:solidFill>
                <a:latin typeface="Bahnschrift"/>
              </a:rPr>
              <a:t>Baca stik</a:t>
            </a:r>
          </a:p>
        </p:txBody>
      </p:sp>
      <p:sp>
        <p:nvSpPr>
          <p:cNvPr id="19" name="TextBox 18"/>
          <p:cNvSpPr txBox="1"/>
          <p:nvPr/>
        </p:nvSpPr>
        <p:spPr>
          <a:xfrm>
            <a:off x="4416552" y="3200400"/>
            <a:ext cx="1481328" cy="1371600"/>
          </a:xfrm>
          <a:prstGeom prst="rect">
            <a:avLst/>
          </a:prstGeom>
          <a:noFill/>
        </p:spPr>
        <p:txBody>
          <a:bodyPr wrap="square" lIns="0" rIns="0" tIns="0" bIns="0">
            <a:spAutoFit/>
          </a:bodyPr>
          <a:lstStyle/>
          <a:p>
            <a:pPr algn="l">
              <a:lnSpc>
                <a:spcPct val="125000"/>
              </a:lnSpc>
              <a:spcAft>
                <a:spcPts val="600"/>
              </a:spcAft>
            </a:pPr>
            <a:r>
              <a:rPr sz="950" b="0">
                <a:solidFill>
                  <a:srgbClr val="A9B4BE"/>
                </a:solidFill>
                <a:latin typeface="Segoe UI"/>
              </a:rPr>
              <a:t>Perintah pilot diterjemahkan lewat kurva rates jadi target derajat/detik.</a:t>
            </a:r>
          </a:p>
        </p:txBody>
      </p:sp>
      <p:sp>
        <p:nvSpPr>
          <p:cNvPr id="20" name="Rectangle 19"/>
          <p:cNvSpPr/>
          <p:nvPr/>
        </p:nvSpPr>
        <p:spPr>
          <a:xfrm>
            <a:off x="6135624" y="2377440"/>
            <a:ext cx="1719072" cy="2286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35624" y="2377440"/>
            <a:ext cx="1719072"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2784" y="2542032"/>
            <a:ext cx="1463040" cy="182880"/>
          </a:xfrm>
          <a:prstGeom prst="rect">
            <a:avLst/>
          </a:prstGeom>
          <a:noFill/>
        </p:spPr>
        <p:txBody>
          <a:bodyPr wrap="square" lIns="0" rIns="0" tIns="0" bIns="0">
            <a:spAutoFit/>
          </a:bodyPr>
          <a:lstStyle/>
          <a:p>
            <a:pPr algn="l">
              <a:lnSpc>
                <a:spcPct val="125000"/>
              </a:lnSpc>
              <a:spcAft>
                <a:spcPts val="600"/>
              </a:spcAft>
            </a:pPr>
            <a:r>
              <a:rPr sz="900" b="1">
                <a:solidFill>
                  <a:srgbClr val="F2662C"/>
                </a:solidFill>
                <a:latin typeface="Consolas"/>
              </a:rPr>
              <a:t>04</a:t>
            </a:r>
          </a:p>
        </p:txBody>
      </p:sp>
      <p:sp>
        <p:nvSpPr>
          <p:cNvPr id="23" name="TextBox 22"/>
          <p:cNvSpPr txBox="1"/>
          <p:nvPr/>
        </p:nvSpPr>
        <p:spPr>
          <a:xfrm>
            <a:off x="6272784" y="2788920"/>
            <a:ext cx="1508760" cy="320040"/>
          </a:xfrm>
          <a:prstGeom prst="rect">
            <a:avLst/>
          </a:prstGeom>
          <a:noFill/>
        </p:spPr>
        <p:txBody>
          <a:bodyPr wrap="square" lIns="0" rIns="0" tIns="0" bIns="0">
            <a:spAutoFit/>
          </a:bodyPr>
          <a:lstStyle/>
          <a:p>
            <a:pPr algn="l">
              <a:lnSpc>
                <a:spcPct val="125000"/>
              </a:lnSpc>
              <a:spcAft>
                <a:spcPts val="600"/>
              </a:spcAft>
            </a:pPr>
            <a:r>
              <a:rPr sz="1250" b="1">
                <a:solidFill>
                  <a:srgbClr val="ECEFF2"/>
                </a:solidFill>
                <a:latin typeface="Bahnschrift"/>
              </a:rPr>
              <a:t>Hitung PID</a:t>
            </a:r>
          </a:p>
        </p:txBody>
      </p:sp>
      <p:sp>
        <p:nvSpPr>
          <p:cNvPr id="24" name="TextBox 23"/>
          <p:cNvSpPr txBox="1"/>
          <p:nvPr/>
        </p:nvSpPr>
        <p:spPr>
          <a:xfrm>
            <a:off x="6272784" y="3200400"/>
            <a:ext cx="1481328" cy="1371600"/>
          </a:xfrm>
          <a:prstGeom prst="rect">
            <a:avLst/>
          </a:prstGeom>
          <a:noFill/>
        </p:spPr>
        <p:txBody>
          <a:bodyPr wrap="square" lIns="0" rIns="0" tIns="0" bIns="0">
            <a:spAutoFit/>
          </a:bodyPr>
          <a:lstStyle/>
          <a:p>
            <a:pPr algn="l">
              <a:lnSpc>
                <a:spcPct val="125000"/>
              </a:lnSpc>
              <a:spcAft>
                <a:spcPts val="600"/>
              </a:spcAft>
            </a:pPr>
            <a:r>
              <a:rPr sz="950" b="0">
                <a:solidFill>
                  <a:srgbClr val="A9B4BE"/>
                </a:solidFill>
                <a:latin typeface="Segoe UI"/>
              </a:rPr>
              <a:t>Selisih antara yang diminta dan yang terjadi diubah jadi perintah koreksi.</a:t>
            </a:r>
          </a:p>
        </p:txBody>
      </p:sp>
      <p:sp>
        <p:nvSpPr>
          <p:cNvPr id="25" name="Rectangle 24"/>
          <p:cNvSpPr/>
          <p:nvPr/>
        </p:nvSpPr>
        <p:spPr>
          <a:xfrm>
            <a:off x="7991855" y="2377440"/>
            <a:ext cx="1719072" cy="2286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91855" y="2377440"/>
            <a:ext cx="1719072"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9015" y="2542032"/>
            <a:ext cx="1463040" cy="182880"/>
          </a:xfrm>
          <a:prstGeom prst="rect">
            <a:avLst/>
          </a:prstGeom>
          <a:noFill/>
        </p:spPr>
        <p:txBody>
          <a:bodyPr wrap="square" lIns="0" rIns="0" tIns="0" bIns="0">
            <a:spAutoFit/>
          </a:bodyPr>
          <a:lstStyle/>
          <a:p>
            <a:pPr algn="l">
              <a:lnSpc>
                <a:spcPct val="125000"/>
              </a:lnSpc>
              <a:spcAft>
                <a:spcPts val="600"/>
              </a:spcAft>
            </a:pPr>
            <a:r>
              <a:rPr sz="900" b="1">
                <a:solidFill>
                  <a:srgbClr val="F2662C"/>
                </a:solidFill>
                <a:latin typeface="Consolas"/>
              </a:rPr>
              <a:t>05</a:t>
            </a:r>
          </a:p>
        </p:txBody>
      </p:sp>
      <p:sp>
        <p:nvSpPr>
          <p:cNvPr id="28" name="TextBox 27"/>
          <p:cNvSpPr txBox="1"/>
          <p:nvPr/>
        </p:nvSpPr>
        <p:spPr>
          <a:xfrm>
            <a:off x="8129015" y="2788920"/>
            <a:ext cx="1508760" cy="320040"/>
          </a:xfrm>
          <a:prstGeom prst="rect">
            <a:avLst/>
          </a:prstGeom>
          <a:noFill/>
        </p:spPr>
        <p:txBody>
          <a:bodyPr wrap="square" lIns="0" rIns="0" tIns="0" bIns="0">
            <a:spAutoFit/>
          </a:bodyPr>
          <a:lstStyle/>
          <a:p>
            <a:pPr algn="l">
              <a:lnSpc>
                <a:spcPct val="125000"/>
              </a:lnSpc>
              <a:spcAft>
                <a:spcPts val="600"/>
              </a:spcAft>
            </a:pPr>
            <a:r>
              <a:rPr sz="1250" b="1">
                <a:solidFill>
                  <a:srgbClr val="ECEFF2"/>
                </a:solidFill>
                <a:latin typeface="Bahnschrift"/>
              </a:rPr>
              <a:t>Campur ke 4 motor</a:t>
            </a:r>
          </a:p>
        </p:txBody>
      </p:sp>
      <p:sp>
        <p:nvSpPr>
          <p:cNvPr id="29" name="TextBox 28"/>
          <p:cNvSpPr txBox="1"/>
          <p:nvPr/>
        </p:nvSpPr>
        <p:spPr>
          <a:xfrm>
            <a:off x="8129015" y="3200400"/>
            <a:ext cx="1481328" cy="1371600"/>
          </a:xfrm>
          <a:prstGeom prst="rect">
            <a:avLst/>
          </a:prstGeom>
          <a:noFill/>
        </p:spPr>
        <p:txBody>
          <a:bodyPr wrap="square" lIns="0" rIns="0" tIns="0" bIns="0">
            <a:spAutoFit/>
          </a:bodyPr>
          <a:lstStyle/>
          <a:p>
            <a:pPr algn="l">
              <a:lnSpc>
                <a:spcPct val="125000"/>
              </a:lnSpc>
              <a:spcAft>
                <a:spcPts val="600"/>
              </a:spcAft>
            </a:pPr>
            <a:r>
              <a:rPr sz="950" b="0">
                <a:solidFill>
                  <a:srgbClr val="A9B4BE"/>
                </a:solidFill>
                <a:latin typeface="Segoe UI"/>
              </a:rPr>
              <a:t>Tiga sumbu koreksi diterjemahkan jadi empat nilai throttle motor.</a:t>
            </a:r>
          </a:p>
        </p:txBody>
      </p:sp>
      <p:sp>
        <p:nvSpPr>
          <p:cNvPr id="30" name="Rectangle 29"/>
          <p:cNvSpPr/>
          <p:nvPr/>
        </p:nvSpPr>
        <p:spPr>
          <a:xfrm>
            <a:off x="9848087" y="2377440"/>
            <a:ext cx="1719072" cy="22860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48087" y="2377440"/>
            <a:ext cx="1719072"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85247" y="2542032"/>
            <a:ext cx="1463040" cy="182880"/>
          </a:xfrm>
          <a:prstGeom prst="rect">
            <a:avLst/>
          </a:prstGeom>
          <a:noFill/>
        </p:spPr>
        <p:txBody>
          <a:bodyPr wrap="square" lIns="0" rIns="0" tIns="0" bIns="0">
            <a:spAutoFit/>
          </a:bodyPr>
          <a:lstStyle/>
          <a:p>
            <a:pPr algn="l">
              <a:lnSpc>
                <a:spcPct val="125000"/>
              </a:lnSpc>
              <a:spcAft>
                <a:spcPts val="600"/>
              </a:spcAft>
            </a:pPr>
            <a:r>
              <a:rPr sz="900" b="1">
                <a:solidFill>
                  <a:srgbClr val="F2662C"/>
                </a:solidFill>
                <a:latin typeface="Consolas"/>
              </a:rPr>
              <a:t>06</a:t>
            </a:r>
          </a:p>
        </p:txBody>
      </p:sp>
      <p:sp>
        <p:nvSpPr>
          <p:cNvPr id="33" name="TextBox 32"/>
          <p:cNvSpPr txBox="1"/>
          <p:nvPr/>
        </p:nvSpPr>
        <p:spPr>
          <a:xfrm>
            <a:off x="9985247" y="2788920"/>
            <a:ext cx="1508760" cy="320040"/>
          </a:xfrm>
          <a:prstGeom prst="rect">
            <a:avLst/>
          </a:prstGeom>
          <a:noFill/>
        </p:spPr>
        <p:txBody>
          <a:bodyPr wrap="square" lIns="0" rIns="0" tIns="0" bIns="0">
            <a:spAutoFit/>
          </a:bodyPr>
          <a:lstStyle/>
          <a:p>
            <a:pPr algn="l">
              <a:lnSpc>
                <a:spcPct val="125000"/>
              </a:lnSpc>
              <a:spcAft>
                <a:spcPts val="600"/>
              </a:spcAft>
            </a:pPr>
            <a:r>
              <a:rPr sz="1250" b="1">
                <a:solidFill>
                  <a:srgbClr val="ECEFF2"/>
                </a:solidFill>
                <a:latin typeface="Bahnschrift"/>
              </a:rPr>
              <a:t>Kirim DShot</a:t>
            </a:r>
          </a:p>
        </p:txBody>
      </p:sp>
      <p:sp>
        <p:nvSpPr>
          <p:cNvPr id="34" name="TextBox 33"/>
          <p:cNvSpPr txBox="1"/>
          <p:nvPr/>
        </p:nvSpPr>
        <p:spPr>
          <a:xfrm>
            <a:off x="9985247" y="3200400"/>
            <a:ext cx="1481328" cy="1371600"/>
          </a:xfrm>
          <a:prstGeom prst="rect">
            <a:avLst/>
          </a:prstGeom>
          <a:noFill/>
        </p:spPr>
        <p:txBody>
          <a:bodyPr wrap="square" lIns="0" rIns="0" tIns="0" bIns="0">
            <a:spAutoFit/>
          </a:bodyPr>
          <a:lstStyle/>
          <a:p>
            <a:pPr algn="l">
              <a:lnSpc>
                <a:spcPct val="125000"/>
              </a:lnSpc>
              <a:spcAft>
                <a:spcPts val="600"/>
              </a:spcAft>
            </a:pPr>
            <a:r>
              <a:rPr sz="950" b="0">
                <a:solidFill>
                  <a:srgbClr val="A9B4BE"/>
                </a:solidFill>
                <a:latin typeface="Segoe UI"/>
              </a:rPr>
              <a:t>Paket digital ber-checksum dikirim ke ESC. Lalu ulangi dari awal.</a:t>
            </a:r>
          </a:p>
        </p:txBody>
      </p:sp>
      <p:sp>
        <p:nvSpPr>
          <p:cNvPr id="35" name="Rectangle 34"/>
          <p:cNvSpPr/>
          <p:nvPr/>
        </p:nvSpPr>
        <p:spPr>
          <a:xfrm>
            <a:off x="566928" y="4892040"/>
            <a:ext cx="5394960" cy="12801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892040"/>
            <a:ext cx="31750" cy="12801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5056632"/>
            <a:ext cx="501091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YANG MEMBUATNYA BEKERJA</a:t>
            </a:r>
          </a:p>
        </p:txBody>
      </p:sp>
      <p:sp>
        <p:nvSpPr>
          <p:cNvPr id="38" name="TextBox 37"/>
          <p:cNvSpPr txBox="1"/>
          <p:nvPr/>
        </p:nvSpPr>
        <p:spPr>
          <a:xfrm>
            <a:off x="768096" y="5276088"/>
            <a:ext cx="5010912" cy="75895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Seluruh siklus selesai DI BAWAH 300 MIKRODETIK. Manusia berkedip seribu kali lebih lambat. Kecepatan inilah — bukan sensor mahal atau algoritma pintar — yang membuat benda tak stabil ini terasa menempel di udara.</a:t>
            </a:r>
          </a:p>
        </p:txBody>
      </p:sp>
      <p:sp>
        <p:nvSpPr>
          <p:cNvPr id="39" name="Rectangle 38"/>
          <p:cNvSpPr/>
          <p:nvPr/>
        </p:nvSpPr>
        <p:spPr>
          <a:xfrm>
            <a:off x="6236208" y="4892040"/>
            <a:ext cx="5394960" cy="12801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7376" y="5056632"/>
            <a:ext cx="501091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PRINSIPNYA</a:t>
            </a:r>
          </a:p>
        </p:txBody>
      </p:sp>
      <p:sp>
        <p:nvSpPr>
          <p:cNvPr id="41" name="TextBox 40"/>
          <p:cNvSpPr txBox="1"/>
          <p:nvPr/>
        </p:nvSpPr>
        <p:spPr>
          <a:xfrm>
            <a:off x="6437376" y="5276088"/>
            <a:ext cx="5010912" cy="75895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Semakin cepat koreksi diberikan, semakin KECIL koreksi yang dibutuhkan. Koreksi kecil yang terus-menerus terasa halus; koreksi besar yang terlambat terasa seperti tersentak.</a:t>
            </a:r>
          </a:p>
        </p:txBody>
      </p:sp>
      <p:sp>
        <p:nvSpPr>
          <p:cNvPr id="42" name="TextBox 41"/>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Loop kendali 8 kHz</a:t>
            </a:r>
          </a:p>
        </p:txBody>
      </p:sp>
      <p:sp>
        <p:nvSpPr>
          <p:cNvPr id="43" name="TextBox 42"/>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33 / 43</a:t>
            </a:r>
          </a:p>
        </p:txBody>
      </p:sp>
      <p:sp>
        <p:nvSpPr>
          <p:cNvPr id="44" name="Rectangle 43"/>
          <p:cNvSpPr/>
          <p:nvPr/>
        </p:nvSpPr>
        <p:spPr>
          <a:xfrm>
            <a:off x="0" y="6803136"/>
            <a:ext cx="9356417"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3 · PID</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Tiga angka yang menentukan rasa terbang</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Pilot meminta 'berputar 300°/detik'. Grafik ini menunjukkan apa yang benar-benar dilakukan drone — dan bagaimana tiga angka mengubah segalanya.</a:t>
            </a:r>
          </a:p>
        </p:txBody>
      </p:sp>
      <p:graphicFrame>
        <p:nvGraphicFramePr>
          <p:cNvPr id="5" name="Chart 4"/>
          <p:cNvGraphicFramePr>
            <a:graphicFrameLocks noGrp="1"/>
          </p:cNvGraphicFramePr>
          <p:nvPr/>
        </p:nvGraphicFramePr>
        <p:xfrm>
          <a:off x="566928" y="2468880"/>
          <a:ext cx="6949440" cy="3566160"/>
        </p:xfrm>
        <a:graphic>
          <a:graphicData uri="http://schemas.openxmlformats.org/drawingml/2006/chart">
            <c:chart xmlns:c="http://schemas.openxmlformats.org/drawingml/2006/chart" r:id="rId3"/>
          </a:graphicData>
        </a:graphic>
      </p:graphicFrame>
      <p:sp>
        <p:nvSpPr>
          <p:cNvPr id="6" name="Rectangle 5"/>
          <p:cNvSpPr/>
          <p:nvPr/>
        </p:nvSpPr>
        <p:spPr>
          <a:xfrm>
            <a:off x="7790688" y="2468880"/>
            <a:ext cx="3840480" cy="1170432"/>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90688" y="2468880"/>
            <a:ext cx="31750" cy="1170432"/>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91856" y="2633472"/>
            <a:ext cx="345643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 — OTOT</a:t>
            </a:r>
          </a:p>
        </p:txBody>
      </p:sp>
      <p:sp>
        <p:nvSpPr>
          <p:cNvPr id="9" name="TextBox 8"/>
          <p:cNvSpPr txBox="1"/>
          <p:nvPr/>
        </p:nvSpPr>
        <p:spPr>
          <a:xfrm>
            <a:off x="7991856" y="2852928"/>
            <a:ext cx="3456432" cy="649224"/>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Bereaksi pada error SEKARANG. Terlalu rendah: lembek, 'berenang'. Terlalu tinggi: berosilasi, mendengung, motor panas. P melakukan 90% pekerjaan.</a:t>
            </a:r>
          </a:p>
        </p:txBody>
      </p:sp>
      <p:sp>
        <p:nvSpPr>
          <p:cNvPr id="10" name="Rectangle 9"/>
          <p:cNvSpPr/>
          <p:nvPr/>
        </p:nvSpPr>
        <p:spPr>
          <a:xfrm>
            <a:off x="7790688" y="3767328"/>
            <a:ext cx="3840480" cy="1170432"/>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90688" y="3767328"/>
            <a:ext cx="31750" cy="11704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91856" y="3931920"/>
            <a:ext cx="345643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I — INGATAN</a:t>
            </a:r>
          </a:p>
        </p:txBody>
      </p:sp>
      <p:sp>
        <p:nvSpPr>
          <p:cNvPr id="13" name="TextBox 12"/>
          <p:cNvSpPr txBox="1"/>
          <p:nvPr/>
        </p:nvSpPr>
        <p:spPr>
          <a:xfrm>
            <a:off x="7991856" y="4151376"/>
            <a:ext cx="3456432" cy="649224"/>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Mengakumulasi error MASA LALU. Melawan bias permanen: baterai berat sebelah, angin konstan, motor lebih lemah. Tanpa I, drone selalu melayang miring.</a:t>
            </a:r>
          </a:p>
        </p:txBody>
      </p:sp>
      <p:sp>
        <p:nvSpPr>
          <p:cNvPr id="14" name="Rectangle 13"/>
          <p:cNvSpPr/>
          <p:nvPr/>
        </p:nvSpPr>
        <p:spPr>
          <a:xfrm>
            <a:off x="7790688" y="5065776"/>
            <a:ext cx="3840480" cy="1170432"/>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90688" y="5065776"/>
            <a:ext cx="31750" cy="1170432"/>
          </a:xfrm>
          <a:prstGeom prst="rect">
            <a:avLst/>
          </a:prstGeom>
          <a:solidFill>
            <a:srgbClr val="908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91856" y="5230368"/>
            <a:ext cx="345643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D — REM</a:t>
            </a:r>
          </a:p>
        </p:txBody>
      </p:sp>
      <p:sp>
        <p:nvSpPr>
          <p:cNvPr id="17" name="TextBox 16"/>
          <p:cNvSpPr txBox="1"/>
          <p:nvPr/>
        </p:nvSpPr>
        <p:spPr>
          <a:xfrm>
            <a:off x="7991856" y="5449824"/>
            <a:ext cx="3456432" cy="649224"/>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Memprediksi MASA DEPAN lewat laju perubahan. Meredam osilasi yang ditimbulkan P — tapi juga memperkuat noise, dan itu penyebab nomor satu motor panas.</a:t>
            </a:r>
          </a:p>
        </p:txBody>
      </p:sp>
      <p:sp>
        <p:nvSpPr>
          <p:cNvPr id="18" name="TextBox 17"/>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Kontroler PID · simulator interaktif tersedia di situs</a:t>
            </a:r>
          </a:p>
        </p:txBody>
      </p:sp>
      <p:sp>
        <p:nvSpPr>
          <p:cNvPr id="19" name="TextBox 18"/>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34 / 43</a:t>
            </a:r>
          </a:p>
        </p:txBody>
      </p:sp>
      <p:sp>
        <p:nvSpPr>
          <p:cNvPr id="20" name="Rectangle 19"/>
          <p:cNvSpPr/>
          <p:nvPr/>
        </p:nvSpPr>
        <p:spPr>
          <a:xfrm>
            <a:off x="0" y="6803136"/>
            <a:ext cx="9639944"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3 · MIXER</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Mengubah 3 sumbu menjadi 4 motor</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Tabel ini adalah SELURUH PENGETAHUAN DRONE TENTANG BENTUK FISIKNYA SENDIRI. Bacalah per kolom, bukan per baris.</a:t>
            </a:r>
          </a:p>
        </p:txBody>
      </p:sp>
      <p:graphicFrame>
        <p:nvGraphicFramePr>
          <p:cNvPr id="5" name="Table 4"/>
          <p:cNvGraphicFramePr>
            <a:graphicFrameLocks noGrp="1"/>
          </p:cNvGraphicFramePr>
          <p:nvPr/>
        </p:nvGraphicFramePr>
        <p:xfrm>
          <a:off x="566928" y="2377440"/>
          <a:ext cx="5486400" cy="1920240"/>
        </p:xfrm>
        <a:graphic>
          <a:graphicData uri="http://schemas.openxmlformats.org/drawingml/2006/table">
            <a:tbl>
              <a:tblPr firstRow="0" bandRow="0">
                <a:tableStyleId>{5C22544A-7EE6-4342-B048-85BDC9FD1C3A}</a:tableStyleId>
              </a:tblPr>
              <a:tblGrid>
                <a:gridCol w="1975104"/>
                <a:gridCol w="877824"/>
                <a:gridCol w="877824"/>
                <a:gridCol w="877824"/>
                <a:gridCol w="877824"/>
              </a:tblGrid>
              <a:tr h="384048">
                <a:tc>
                  <a:txBody>
                    <a:bodyPr/>
                    <a:lstStyle/>
                    <a:p>
                      <a:r>
                        <a:rPr sz="850" b="1">
                          <a:solidFill>
                            <a:srgbClr val="6F7C88"/>
                          </a:solidFill>
                          <a:latin typeface="Consolas"/>
                        </a:rPr>
                        <a:t>MOTOR</a:t>
                      </a:r>
                    </a:p>
                  </a:txBody>
                  <a:tcPr marL="73152" marR="73152" anchor="ctr">
                    <a:solidFill>
                      <a:srgbClr val="182029"/>
                    </a:solidFill>
                  </a:tcPr>
                </a:tc>
                <a:tc>
                  <a:txBody>
                    <a:bodyPr/>
                    <a:lstStyle/>
                    <a:p>
                      <a:pPr algn="r"/>
                      <a:r>
                        <a:rPr sz="850" b="1">
                          <a:solidFill>
                            <a:srgbClr val="6F7C88"/>
                          </a:solidFill>
                          <a:latin typeface="Consolas"/>
                        </a:rPr>
                        <a:t>THROTTLE</a:t>
                      </a:r>
                    </a:p>
                  </a:txBody>
                  <a:tcPr marL="73152" marR="73152" anchor="ctr">
                    <a:solidFill>
                      <a:srgbClr val="182029"/>
                    </a:solidFill>
                  </a:tcPr>
                </a:tc>
                <a:tc>
                  <a:txBody>
                    <a:bodyPr/>
                    <a:lstStyle/>
                    <a:p>
                      <a:pPr algn="r"/>
                      <a:r>
                        <a:rPr sz="850" b="1">
                          <a:solidFill>
                            <a:srgbClr val="6F7C88"/>
                          </a:solidFill>
                          <a:latin typeface="Consolas"/>
                        </a:rPr>
                        <a:t>ROLL</a:t>
                      </a:r>
                    </a:p>
                  </a:txBody>
                  <a:tcPr marL="73152" marR="73152" anchor="ctr">
                    <a:solidFill>
                      <a:srgbClr val="182029"/>
                    </a:solidFill>
                  </a:tcPr>
                </a:tc>
                <a:tc>
                  <a:txBody>
                    <a:bodyPr/>
                    <a:lstStyle/>
                    <a:p>
                      <a:pPr algn="r"/>
                      <a:r>
                        <a:rPr sz="850" b="1">
                          <a:solidFill>
                            <a:srgbClr val="6F7C88"/>
                          </a:solidFill>
                          <a:latin typeface="Consolas"/>
                        </a:rPr>
                        <a:t>PITCH</a:t>
                      </a:r>
                    </a:p>
                  </a:txBody>
                  <a:tcPr marL="73152" marR="73152" anchor="ctr">
                    <a:solidFill>
                      <a:srgbClr val="182029"/>
                    </a:solidFill>
                  </a:tcPr>
                </a:tc>
                <a:tc>
                  <a:txBody>
                    <a:bodyPr/>
                    <a:lstStyle/>
                    <a:p>
                      <a:pPr algn="r"/>
                      <a:r>
                        <a:rPr sz="850" b="1">
                          <a:solidFill>
                            <a:srgbClr val="6F7C88"/>
                          </a:solidFill>
                          <a:latin typeface="Consolas"/>
                        </a:rPr>
                        <a:t>YAW</a:t>
                      </a:r>
                    </a:p>
                  </a:txBody>
                  <a:tcPr marL="73152" marR="73152" anchor="ctr">
                    <a:solidFill>
                      <a:srgbClr val="182029"/>
                    </a:solidFill>
                  </a:tcPr>
                </a:tc>
              </a:tr>
              <a:tr h="384048">
                <a:tc>
                  <a:txBody>
                    <a:bodyPr wrap="square"/>
                    <a:lstStyle/>
                    <a:p>
                      <a:r>
                        <a:rPr sz="1100" b="1">
                          <a:solidFill>
                            <a:srgbClr val="ECEFF2"/>
                          </a:solidFill>
                          <a:latin typeface="Segoe UI"/>
                        </a:rPr>
                        <a:t>M1 · belakang-kanan</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r>
              <a:tr h="384048">
                <a:tc>
                  <a:txBody>
                    <a:bodyPr wrap="square"/>
                    <a:lstStyle/>
                    <a:p>
                      <a:r>
                        <a:rPr sz="1100" b="1">
                          <a:solidFill>
                            <a:srgbClr val="ECEFF2"/>
                          </a:solidFill>
                          <a:latin typeface="Segoe UI"/>
                        </a:rPr>
                        <a:t>M2 · depan-kanan</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r>
              <a:tr h="384048">
                <a:tc>
                  <a:txBody>
                    <a:bodyPr wrap="square"/>
                    <a:lstStyle/>
                    <a:p>
                      <a:r>
                        <a:rPr sz="1100" b="1">
                          <a:solidFill>
                            <a:srgbClr val="ECEFF2"/>
                          </a:solidFill>
                          <a:latin typeface="Segoe UI"/>
                        </a:rPr>
                        <a:t>M3 · belakang-kiri</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r>
              <a:tr h="384048">
                <a:tc>
                  <a:txBody>
                    <a:bodyPr wrap="square"/>
                    <a:lstStyle/>
                    <a:p>
                      <a:r>
                        <a:rPr sz="1100" b="1">
                          <a:solidFill>
                            <a:srgbClr val="ECEFF2"/>
                          </a:solidFill>
                          <a:latin typeface="Segoe UI"/>
                        </a:rPr>
                        <a:t>M4 · depan-kiri</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c>
                  <a:txBody>
                    <a:bodyPr wrap="square"/>
                    <a:lstStyle/>
                    <a:p>
                      <a:pPr algn="r"/>
                      <a:r>
                        <a:rPr sz="1100">
                          <a:solidFill>
                            <a:srgbClr val="A9B4BE"/>
                          </a:solidFill>
                          <a:latin typeface="Consolas"/>
                        </a:rPr>
                        <a:t>−1</a:t>
                      </a:r>
                    </a:p>
                  </a:txBody>
                  <a:tcPr marL="73152" marR="73152" marT="36576" marB="36576" anchor="t">
                    <a:solidFill>
                      <a:srgbClr val="12171D"/>
                    </a:solidFill>
                  </a:tcPr>
                </a:tc>
              </a:tr>
            </a:tbl>
          </a:graphicData>
        </a:graphic>
      </p:graphicFrame>
      <p:sp>
        <p:nvSpPr>
          <p:cNvPr id="6" name="TextBox 5"/>
          <p:cNvSpPr txBox="1"/>
          <p:nvPr/>
        </p:nvSpPr>
        <p:spPr>
          <a:xfrm>
            <a:off x="566928" y="4572000"/>
            <a:ext cx="5486400" cy="1097280"/>
          </a:xfrm>
          <a:prstGeom prst="rect">
            <a:avLst/>
          </a:prstGeom>
          <a:noFill/>
        </p:spPr>
        <p:txBody>
          <a:bodyPr wrap="square" lIns="0" rIns="0" tIns="0" bIns="0">
            <a:spAutoFit/>
          </a:bodyPr>
          <a:lstStyle/>
          <a:p>
            <a:pPr algn="l">
              <a:lnSpc>
                <a:spcPct val="130000"/>
              </a:lnSpc>
              <a:spcAft>
                <a:spcPts val="800"/>
              </a:spcAft>
            </a:pPr>
            <a:r>
              <a:rPr sz="1100" b="1">
                <a:solidFill>
                  <a:srgbClr val="ECEFF2"/>
                </a:solidFill>
                <a:latin typeface="Segoe UI"/>
              </a:rPr>
              <a:t>KOLOM ROLL: </a:t>
            </a:r>
            <a:r>
              <a:rPr sz="1100" b="0">
                <a:solidFill>
                  <a:srgbClr val="A9B4BE"/>
                </a:solidFill>
                <a:latin typeface="Segoe UI"/>
              </a:rPr>
              <a:t>motor kanan −1, kiri +1 → perintah roll kanan memperlambat motor kanan, drone miring ke kanan.</a:t>
            </a:r>
          </a:p>
          <a:p>
            <a:pPr algn="l">
              <a:lnSpc>
                <a:spcPct val="130000"/>
              </a:lnSpc>
              <a:spcAft>
                <a:spcPts val="800"/>
              </a:spcAft>
            </a:pPr>
            <a:r>
              <a:rPr sz="1100" b="1">
                <a:solidFill>
                  <a:srgbClr val="ECEFF2"/>
                </a:solidFill>
                <a:latin typeface="Segoe UI"/>
              </a:rPr>
              <a:t>KOLOM YAW: </a:t>
            </a:r>
            <a:r>
              <a:rPr sz="1100" b="0">
                <a:solidFill>
                  <a:srgbClr val="A9B4BE"/>
                </a:solidFill>
                <a:latin typeface="Segoe UI"/>
              </a:rPr>
              <a:t>polanya diagonal — dan diagonal itu persis pasangan motor yang berputar searah.</a:t>
            </a:r>
          </a:p>
        </p:txBody>
      </p:sp>
      <p:sp>
        <p:nvSpPr>
          <p:cNvPr id="7" name="Rectangle 6"/>
          <p:cNvSpPr/>
          <p:nvPr/>
        </p:nvSpPr>
        <p:spPr>
          <a:xfrm>
            <a:off x="6327648" y="2377440"/>
            <a:ext cx="5303520" cy="16916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27648" y="2377440"/>
            <a:ext cx="31750" cy="16916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8816" y="2542032"/>
            <a:ext cx="491947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YANG PALING SERING DISALAHPAHAMI</a:t>
            </a:r>
          </a:p>
        </p:txBody>
      </p:sp>
      <p:sp>
        <p:nvSpPr>
          <p:cNvPr id="10" name="TextBox 9"/>
          <p:cNvSpPr txBox="1"/>
          <p:nvPr/>
        </p:nvSpPr>
        <p:spPr>
          <a:xfrm>
            <a:off x="6528816" y="2761488"/>
            <a:ext cx="491947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Yaw bukan dorongan samping</a:t>
            </a:r>
          </a:p>
        </p:txBody>
      </p:sp>
      <p:sp>
        <p:nvSpPr>
          <p:cNvPr id="11" name="TextBox 10"/>
          <p:cNvSpPr txBox="1"/>
          <p:nvPr/>
        </p:nvSpPr>
        <p:spPr>
          <a:xfrm>
            <a:off x="6528816" y="3108960"/>
            <a:ext cx="4919472" cy="8229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Yaw bekerja lewat TORSI REAKSI: mempercepat dua motor searah membuat badan drone terpuntir ke arah sebaliknya. Sama seperti pergelangan tangan menahan bor listrik saat mata bor menggigit.</a:t>
            </a:r>
          </a:p>
        </p:txBody>
      </p:sp>
      <p:sp>
        <p:nvSpPr>
          <p:cNvPr id="12" name="Rectangle 11"/>
          <p:cNvSpPr/>
          <p:nvPr/>
        </p:nvSpPr>
        <p:spPr>
          <a:xfrm>
            <a:off x="6327648" y="4251960"/>
            <a:ext cx="5303520" cy="18288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7648" y="4251960"/>
            <a:ext cx="31750" cy="182880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8816" y="4416552"/>
            <a:ext cx="491947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AIRMODE — FITUR PENYELAMAT</a:t>
            </a:r>
          </a:p>
        </p:txBody>
      </p:sp>
      <p:sp>
        <p:nvSpPr>
          <p:cNvPr id="15" name="TextBox 14"/>
          <p:cNvSpPr txBox="1"/>
          <p:nvPr/>
        </p:nvSpPr>
        <p:spPr>
          <a:xfrm>
            <a:off x="6528816" y="4636008"/>
            <a:ext cx="4919472" cy="13075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Kalau throttle nol dan pilot memerintahkan flip, motor 'seharusnya' berputar negatif — mustahil. Airmode MENAIKKAN KEEMPAT MOTOR BERSAMAAN sampai koreksi muat. Tanpa itu, drone kehilangan kendali total saat throttle nol — persis saat dive. Ini yang membedakan drone freestyle dari drone mainan.</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Mixer Quad-X</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35 / 43</a:t>
            </a:r>
          </a:p>
        </p:txBody>
      </p:sp>
      <p:sp>
        <p:nvSpPr>
          <p:cNvPr id="18" name="Rectangle 17"/>
          <p:cNvSpPr/>
          <p:nvPr/>
        </p:nvSpPr>
        <p:spPr>
          <a:xfrm>
            <a:off x="0" y="6803136"/>
            <a:ext cx="9923472"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3 · KESELAMATAN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Sistem yang menjaga manusia</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Bilah 5 inci pada 25 000 RPM bisa membuka jari sampai tulang. SETIAP SYARAT DI SLIDE INI LAHIR DARI KECELAKAAN NYATA SESEORANG.</a:t>
            </a:r>
          </a:p>
        </p:txBody>
      </p:sp>
      <p:graphicFrame>
        <p:nvGraphicFramePr>
          <p:cNvPr id="5" name="Table 4"/>
          <p:cNvGraphicFramePr>
            <a:graphicFrameLocks noGrp="1"/>
          </p:cNvGraphicFramePr>
          <p:nvPr/>
        </p:nvGraphicFramePr>
        <p:xfrm>
          <a:off x="566928" y="2377440"/>
          <a:ext cx="5486400" cy="2414016"/>
        </p:xfrm>
        <a:graphic>
          <a:graphicData uri="http://schemas.openxmlformats.org/drawingml/2006/table">
            <a:tbl>
              <a:tblPr firstRow="0" bandRow="0">
                <a:tableStyleId>{5C22544A-7EE6-4342-B048-85BDC9FD1C3A}</a:tableStyleId>
              </a:tblPr>
              <a:tblGrid>
                <a:gridCol w="1975104"/>
                <a:gridCol w="3511296"/>
              </a:tblGrid>
              <a:tr h="402336">
                <a:tc>
                  <a:txBody>
                    <a:bodyPr/>
                    <a:lstStyle/>
                    <a:p>
                      <a:r>
                        <a:rPr sz="850" b="1">
                          <a:solidFill>
                            <a:srgbClr val="6F7C88"/>
                          </a:solidFill>
                          <a:latin typeface="Consolas"/>
                        </a:rPr>
                        <a:t>SYARAT ARMING — SEMUA HARUS TERPENUHI</a:t>
                      </a:r>
                    </a:p>
                  </a:txBody>
                  <a:tcPr marL="73152" marR="73152" anchor="ctr">
                    <a:solidFill>
                      <a:srgbClr val="182029"/>
                    </a:solidFill>
                  </a:tcPr>
                </a:tc>
                <a:tc>
                  <a:txBody>
                    <a:bodyPr/>
                    <a:lstStyle/>
                    <a:p>
                      <a:r>
                        <a:rPr sz="850" b="1">
                          <a:solidFill>
                            <a:srgbClr val="6F7C88"/>
                          </a:solidFill>
                          <a:latin typeface="Consolas"/>
                        </a:rPr>
                        <a:t>KENAPA</a:t>
                      </a:r>
                    </a:p>
                  </a:txBody>
                  <a:tcPr marL="73152" marR="73152" anchor="ctr">
                    <a:solidFill>
                      <a:srgbClr val="182029"/>
                    </a:solidFill>
                  </a:tcPr>
                </a:tc>
              </a:tr>
              <a:tr h="402336">
                <a:tc>
                  <a:txBody>
                    <a:bodyPr wrap="square"/>
                    <a:lstStyle/>
                    <a:p>
                      <a:r>
                        <a:rPr sz="1050" b="1">
                          <a:solidFill>
                            <a:srgbClr val="ECEFF2"/>
                          </a:solidFill>
                          <a:latin typeface="Segoe UI"/>
                        </a:rPr>
                        <a:t>Throttle nol</a:t>
                      </a:r>
                    </a:p>
                  </a:txBody>
                  <a:tcPr marL="73152" marR="73152" marT="36576" marB="36576" anchor="t">
                    <a:solidFill>
                      <a:srgbClr val="12171D"/>
                    </a:solidFill>
                  </a:tcPr>
                </a:tc>
                <a:tc>
                  <a:txBody>
                    <a:bodyPr wrap="square"/>
                    <a:lstStyle/>
                    <a:p>
                      <a:r>
                        <a:rPr sz="1050">
                          <a:solidFill>
                            <a:srgbClr val="A9B4BE"/>
                          </a:solidFill>
                          <a:latin typeface="Segoe UI"/>
                        </a:rPr>
                        <a:t>Kalau tidak, drone melompat dari tanah begitu di-arm</a:t>
                      </a:r>
                    </a:p>
                  </a:txBody>
                  <a:tcPr marL="73152" marR="73152" marT="36576" marB="36576" anchor="t">
                    <a:solidFill>
                      <a:srgbClr val="12171D"/>
                    </a:solidFill>
                  </a:tcPr>
                </a:tc>
              </a:tr>
              <a:tr h="402336">
                <a:tc>
                  <a:txBody>
                    <a:bodyPr wrap="square"/>
                    <a:lstStyle/>
                    <a:p>
                      <a:r>
                        <a:rPr sz="1050" b="1">
                          <a:solidFill>
                            <a:srgbClr val="ECEFF2"/>
                          </a:solidFill>
                          <a:latin typeface="Segoe UI"/>
                        </a:rPr>
                        <a:t>Kemiringan &lt; 25°</a:t>
                      </a:r>
                    </a:p>
                  </a:txBody>
                  <a:tcPr marL="73152" marR="73152" marT="36576" marB="36576" anchor="t">
                    <a:solidFill>
                      <a:srgbClr val="12171D"/>
                    </a:solidFill>
                  </a:tcPr>
                </a:tc>
                <a:tc>
                  <a:txBody>
                    <a:bodyPr wrap="square"/>
                    <a:lstStyle/>
                    <a:p>
                      <a:r>
                        <a:rPr sz="1050">
                          <a:solidFill>
                            <a:srgbClr val="A9B4BE"/>
                          </a:solidFill>
                          <a:latin typeface="Segoe UI"/>
                        </a:rPr>
                        <a:t>Drone yang mendarat terbalik tak bisa di-arm tak sengaja</a:t>
                      </a:r>
                    </a:p>
                  </a:txBody>
                  <a:tcPr marL="73152" marR="73152" marT="36576" marB="36576" anchor="t">
                    <a:solidFill>
                      <a:srgbClr val="12171D"/>
                    </a:solidFill>
                  </a:tcPr>
                </a:tc>
              </a:tr>
              <a:tr h="402336">
                <a:tc>
                  <a:txBody>
                    <a:bodyPr wrap="square"/>
                    <a:lstStyle/>
                    <a:p>
                      <a:r>
                        <a:rPr sz="1050" b="1">
                          <a:solidFill>
                            <a:srgbClr val="ECEFF2"/>
                          </a:solidFill>
                          <a:latin typeface="Segoe UI"/>
                        </a:rPr>
                        <a:t>Gyro selesai kalibrasi</a:t>
                      </a:r>
                    </a:p>
                  </a:txBody>
                  <a:tcPr marL="73152" marR="73152" marT="36576" marB="36576" anchor="t">
                    <a:solidFill>
                      <a:srgbClr val="12171D"/>
                    </a:solidFill>
                  </a:tcPr>
                </a:tc>
                <a:tc>
                  <a:txBody>
                    <a:bodyPr wrap="square"/>
                    <a:lstStyle/>
                    <a:p>
                      <a:r>
                        <a:rPr sz="1050">
                          <a:solidFill>
                            <a:srgbClr val="A9B4BE"/>
                          </a:solidFill>
                          <a:latin typeface="Segoe UI"/>
                        </a:rPr>
                        <a:t>Gyro yang belum siap memberi bacaan sampah ke PID</a:t>
                      </a:r>
                    </a:p>
                  </a:txBody>
                  <a:tcPr marL="73152" marR="73152" marT="36576" marB="36576" anchor="t">
                    <a:solidFill>
                      <a:srgbClr val="12171D"/>
                    </a:solidFill>
                  </a:tcPr>
                </a:tc>
              </a:tr>
              <a:tr h="402336">
                <a:tc>
                  <a:txBody>
                    <a:bodyPr wrap="square"/>
                    <a:lstStyle/>
                    <a:p>
                      <a:r>
                        <a:rPr sz="1050" b="1">
                          <a:solidFill>
                            <a:srgbClr val="ECEFF2"/>
                          </a:solidFill>
                          <a:latin typeface="Segoe UI"/>
                        </a:rPr>
                        <a:t>Link radio hidup</a:t>
                      </a:r>
                    </a:p>
                  </a:txBody>
                  <a:tcPr marL="73152" marR="73152" marT="36576" marB="36576" anchor="t">
                    <a:solidFill>
                      <a:srgbClr val="12171D"/>
                    </a:solidFill>
                  </a:tcPr>
                </a:tc>
                <a:tc>
                  <a:txBody>
                    <a:bodyPr wrap="square"/>
                    <a:lstStyle/>
                    <a:p>
                      <a:r>
                        <a:rPr sz="1050">
                          <a:solidFill>
                            <a:srgbClr val="A9B4BE"/>
                          </a:solidFill>
                          <a:latin typeface="Segoe UI"/>
                        </a:rPr>
                        <a:t>Jangan pernah menyalakan motor tanpa kendali</a:t>
                      </a:r>
                    </a:p>
                  </a:txBody>
                  <a:tcPr marL="73152" marR="73152" marT="36576" marB="36576" anchor="t">
                    <a:solidFill>
                      <a:srgbClr val="12171D"/>
                    </a:solidFill>
                  </a:tcPr>
                </a:tc>
              </a:tr>
              <a:tr h="402336">
                <a:tc>
                  <a:txBody>
                    <a:bodyPr wrap="square"/>
                    <a:lstStyle/>
                    <a:p>
                      <a:r>
                        <a:rPr sz="1050" b="1">
                          <a:solidFill>
                            <a:srgbClr val="ECEFF2"/>
                          </a:solidFill>
                          <a:latin typeface="Segoe UI"/>
                        </a:rPr>
                        <a:t>Baterai layak</a:t>
                      </a:r>
                    </a:p>
                  </a:txBody>
                  <a:tcPr marL="73152" marR="73152" marT="36576" marB="36576" anchor="t">
                    <a:solidFill>
                      <a:srgbClr val="12171D"/>
                    </a:solidFill>
                  </a:tcPr>
                </a:tc>
                <a:tc>
                  <a:txBody>
                    <a:bodyPr wrap="square"/>
                    <a:lstStyle/>
                    <a:p>
                      <a:r>
                        <a:rPr sz="1050">
                          <a:solidFill>
                            <a:srgbClr val="A9B4BE"/>
                          </a:solidFill>
                          <a:latin typeface="Segoe UI"/>
                        </a:rPr>
                        <a:t>Voltase rendah = motor tak sanggup mengoreksi</a:t>
                      </a:r>
                    </a:p>
                  </a:txBody>
                  <a:tcPr marL="73152" marR="73152" marT="36576" marB="36576" anchor="t">
                    <a:solidFill>
                      <a:srgbClr val="12171D"/>
                    </a:solidFill>
                  </a:tcPr>
                </a:tc>
              </a:tr>
            </a:tbl>
          </a:graphicData>
        </a:graphic>
      </p:graphicFrame>
      <p:sp>
        <p:nvSpPr>
          <p:cNvPr id="6" name="Rectangle 5"/>
          <p:cNvSpPr/>
          <p:nvPr/>
        </p:nvSpPr>
        <p:spPr>
          <a:xfrm>
            <a:off x="6327648" y="2377440"/>
            <a:ext cx="5303520" cy="19202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27648" y="2377440"/>
            <a:ext cx="31750" cy="192024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28816" y="2542032"/>
            <a:ext cx="491947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FAILSAFE = DROP, BUKAN PULANG</a:t>
            </a:r>
          </a:p>
        </p:txBody>
      </p:sp>
      <p:sp>
        <p:nvSpPr>
          <p:cNvPr id="9" name="TextBox 8"/>
          <p:cNvSpPr txBox="1"/>
          <p:nvPr/>
        </p:nvSpPr>
        <p:spPr>
          <a:xfrm>
            <a:off x="6528816" y="2761488"/>
            <a:ext cx="4919472" cy="139903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Untuk quad 5" tanpa GPS, satu-satunya perilaku aman saat link putus adalah MEMATIKAN MOTOR. Drone tanpa kendali yang masih menyala adalah gergaji terbang 700 gram yang melesat ke arah tak terduga. Jatuh di tempat jauh lebih aman — dan drone biasanya masih bisa diperbaiki.</a:t>
            </a:r>
          </a:p>
        </p:txBody>
      </p:sp>
      <p:sp>
        <p:nvSpPr>
          <p:cNvPr id="10" name="Rectangle 9"/>
          <p:cNvSpPr/>
          <p:nvPr/>
        </p:nvSpPr>
        <p:spPr>
          <a:xfrm>
            <a:off x="6327648" y="4480560"/>
            <a:ext cx="5303520" cy="160020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27648" y="4480560"/>
            <a:ext cx="31750" cy="1600200"/>
          </a:xfrm>
          <a:prstGeom prst="rect">
            <a:avLst/>
          </a:prstGeom>
          <a:solidFill>
            <a:srgbClr val="E05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4645152"/>
            <a:ext cx="491947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ATURAN MATI UNTUK TIM</a:t>
            </a:r>
          </a:p>
        </p:txBody>
      </p:sp>
      <p:sp>
        <p:nvSpPr>
          <p:cNvPr id="13" name="TextBox 12"/>
          <p:cNvSpPr txBox="1"/>
          <p:nvPr/>
        </p:nvSpPr>
        <p:spPr>
          <a:xfrm>
            <a:off x="6528816" y="4864608"/>
            <a:ext cx="4919472" cy="107899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Propeller adalah hal TERAKHIR yang dipasang dan PERTAMA yang dilepas. Semua pengujian di meja — motor test, konfigurasi, cek arah putaran — dilakukan TANPA PROPELLER. Tidak ada pengecualian, tidak ada 'cuma sebentar'.</a:t>
            </a:r>
          </a:p>
        </p:txBody>
      </p:sp>
      <p:sp>
        <p:nvSpPr>
          <p:cNvPr id="14" name="TextBox 13"/>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Keselamatan &amp; failsafe</a:t>
            </a:r>
          </a:p>
        </p:txBody>
      </p:sp>
      <p:sp>
        <p:nvSpPr>
          <p:cNvPr id="15" name="TextBox 14"/>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36 / 43</a:t>
            </a:r>
          </a:p>
        </p:txBody>
      </p:sp>
      <p:sp>
        <p:nvSpPr>
          <p:cNvPr id="16" name="Rectangle 15"/>
          <p:cNvSpPr/>
          <p:nvPr/>
        </p:nvSpPr>
        <p:spPr>
          <a:xfrm>
            <a:off x="0" y="6803136"/>
            <a:ext cx="10207000"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4 · ANGGARAN</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Tiga tingkat, satu rekomendasi</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Ketiganya menghasilkan drone yang TERBANG. Yang membedakan adalah keawetan, kualitas gambar, dan seberapa cepat kita merasa perlu upgrade.</a:t>
            </a:r>
          </a:p>
        </p:txBody>
      </p:sp>
      <p:graphicFrame>
        <p:nvGraphicFramePr>
          <p:cNvPr id="5" name="Chart 4"/>
          <p:cNvGraphicFramePr>
            <a:graphicFrameLocks noGrp="1"/>
          </p:cNvGraphicFramePr>
          <p:nvPr/>
        </p:nvGraphicFramePr>
        <p:xfrm>
          <a:off x="566928" y="2377440"/>
          <a:ext cx="6766560" cy="3657600"/>
        </p:xfrm>
        <a:graphic>
          <a:graphicData uri="http://schemas.openxmlformats.org/drawingml/2006/chart">
            <c:chart xmlns:c="http://schemas.openxmlformats.org/drawingml/2006/chart" r:id="rId3"/>
          </a:graphicData>
        </a:graphic>
      </p:graphicFrame>
      <p:sp>
        <p:nvSpPr>
          <p:cNvPr id="6" name="Rectangle 5"/>
          <p:cNvSpPr/>
          <p:nvPr/>
        </p:nvSpPr>
        <p:spPr>
          <a:xfrm>
            <a:off x="7607808" y="2377440"/>
            <a:ext cx="4023360" cy="1152144"/>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07808" y="2377440"/>
            <a:ext cx="31750" cy="1152144"/>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08976" y="2542032"/>
            <a:ext cx="363931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REKOMENDASI</a:t>
            </a:r>
          </a:p>
        </p:txBody>
      </p:sp>
      <p:sp>
        <p:nvSpPr>
          <p:cNvPr id="9" name="TextBox 8"/>
          <p:cNvSpPr txBox="1"/>
          <p:nvPr/>
        </p:nvSpPr>
        <p:spPr>
          <a:xfrm>
            <a:off x="7808976" y="2761488"/>
            <a:ext cx="363931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Tier Standar — Rp 12,3 jt</a:t>
            </a:r>
          </a:p>
        </p:txBody>
      </p:sp>
      <p:sp>
        <p:nvSpPr>
          <p:cNvPr id="10" name="TextBox 9"/>
          <p:cNvSpPr txBox="1"/>
          <p:nvPr/>
        </p:nvSpPr>
        <p:spPr>
          <a:xfrm>
            <a:off x="7808976" y="3108960"/>
            <a:ext cx="3639312" cy="283464"/>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Titik temu terbaik antara harga dan rasa. TIDAK ADA YANG PERLU DI-UPGRADE dalam 1–2 tahun.</a:t>
            </a:r>
          </a:p>
        </p:txBody>
      </p:sp>
      <p:sp>
        <p:nvSpPr>
          <p:cNvPr id="11" name="Rectangle 10"/>
          <p:cNvSpPr/>
          <p:nvPr/>
        </p:nvSpPr>
        <p:spPr>
          <a:xfrm>
            <a:off x="7607808" y="3657600"/>
            <a:ext cx="4023360" cy="1152144"/>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08976" y="3822192"/>
            <a:ext cx="363931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PERINGATAN TIER HEMAT</a:t>
            </a:r>
          </a:p>
        </p:txBody>
      </p:sp>
      <p:sp>
        <p:nvSpPr>
          <p:cNvPr id="13" name="TextBox 12"/>
          <p:cNvSpPr txBox="1"/>
          <p:nvPr/>
        </p:nvSpPr>
        <p:spPr>
          <a:xfrm>
            <a:off x="7808976" y="4041648"/>
            <a:ext cx="3639312" cy="630936"/>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Tier Hemat memang bisa terbang. Tapi goggles murahnya akan minta diganti dalam hitungan bulan — dan akhirnya MEMBAYAR DUA KALI.</a:t>
            </a:r>
          </a:p>
        </p:txBody>
      </p:sp>
      <p:sp>
        <p:nvSpPr>
          <p:cNvPr id="14" name="Rectangle 13"/>
          <p:cNvSpPr/>
          <p:nvPr/>
        </p:nvSpPr>
        <p:spPr>
          <a:xfrm>
            <a:off x="7607808" y="4937760"/>
            <a:ext cx="4023360" cy="1152144"/>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8976" y="5102352"/>
            <a:ext cx="363931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FAKTA YANG MENGAGETKAN</a:t>
            </a:r>
          </a:p>
        </p:txBody>
      </p:sp>
      <p:sp>
        <p:nvSpPr>
          <p:cNvPr id="16" name="TextBox 15"/>
          <p:cNvSpPr txBox="1"/>
          <p:nvPr/>
        </p:nvSpPr>
        <p:spPr>
          <a:xfrm>
            <a:off x="7808976" y="5321808"/>
            <a:ext cx="3639312" cy="630936"/>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Perlengkapan LEBIH MAHAL daripada drone di semua tier. Tapi itu biaya sekali seumur hidup — drone kedua nanti hanya Rp 5,3 juta.</a:t>
            </a:r>
          </a:p>
        </p:txBody>
      </p:sp>
      <p:sp>
        <p:nvSpPr>
          <p:cNvPr id="17" name="TextBox 16"/>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Anggaran</a:t>
            </a:r>
          </a:p>
        </p:txBody>
      </p:sp>
      <p:sp>
        <p:nvSpPr>
          <p:cNvPr id="18" name="TextBox 17"/>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37 / 43</a:t>
            </a:r>
          </a:p>
        </p:txBody>
      </p:sp>
      <p:sp>
        <p:nvSpPr>
          <p:cNvPr id="19" name="Rectangle 18"/>
          <p:cNvSpPr/>
          <p:nvPr/>
        </p:nvSpPr>
        <p:spPr>
          <a:xfrm>
            <a:off x="0" y="6803136"/>
            <a:ext cx="10490528"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4 · BIAYA JANGKA PANJANG</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Berapa biayanya bila proyek ini berlanjut</a:t>
            </a:r>
          </a:p>
        </p:txBody>
      </p:sp>
      <p:sp>
        <p:nvSpPr>
          <p:cNvPr id="4" name="Rectangle 3"/>
          <p:cNvSpPr/>
          <p:nvPr/>
        </p:nvSpPr>
        <p:spPr>
          <a:xfrm>
            <a:off x="566928" y="21031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103120"/>
            <a:ext cx="2606040" cy="3175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2494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INVESTASI AWAL</a:t>
            </a:r>
          </a:p>
        </p:txBody>
      </p:sp>
      <p:sp>
        <p:nvSpPr>
          <p:cNvPr id="7" name="TextBox 6"/>
          <p:cNvSpPr txBox="1"/>
          <p:nvPr/>
        </p:nvSpPr>
        <p:spPr>
          <a:xfrm>
            <a:off x="749808" y="2468880"/>
            <a:ext cx="2331720" cy="457200"/>
          </a:xfrm>
          <a:prstGeom prst="rect">
            <a:avLst/>
          </a:prstGeom>
          <a:noFill/>
        </p:spPr>
        <p:txBody>
          <a:bodyPr wrap="none" lIns="0" tIns="0">
            <a:spAutoFit/>
          </a:bodyPr>
          <a:lstStyle/>
          <a:p>
            <a:r>
              <a:rPr sz="3000" b="1">
                <a:solidFill>
                  <a:srgbClr val="F2662C"/>
                </a:solidFill>
                <a:latin typeface="Bahnschrift"/>
              </a:rPr>
              <a:t>12,3</a:t>
            </a:r>
            <a:r>
              <a:rPr sz="1300">
                <a:solidFill>
                  <a:srgbClr val="A9B4BE"/>
                </a:solidFill>
                <a:latin typeface="Segoe UI"/>
              </a:rPr>
              <a:t> jt</a:t>
            </a:r>
          </a:p>
        </p:txBody>
      </p:sp>
      <p:sp>
        <p:nvSpPr>
          <p:cNvPr id="8" name="TextBox 7"/>
          <p:cNvSpPr txBox="1"/>
          <p:nvPr/>
        </p:nvSpPr>
        <p:spPr>
          <a:xfrm>
            <a:off x="749808" y="29992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Drone pertama + seluruh perlengkapan</a:t>
            </a:r>
          </a:p>
        </p:txBody>
      </p:sp>
      <p:sp>
        <p:nvSpPr>
          <p:cNvPr id="9" name="Rectangle 8"/>
          <p:cNvSpPr/>
          <p:nvPr/>
        </p:nvSpPr>
        <p:spPr>
          <a:xfrm>
            <a:off x="3355848" y="21031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55848" y="2103120"/>
            <a:ext cx="2606040"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38728" y="22494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BIAYA DRONE KEDUA</a:t>
            </a:r>
          </a:p>
        </p:txBody>
      </p:sp>
      <p:sp>
        <p:nvSpPr>
          <p:cNvPr id="12" name="TextBox 11"/>
          <p:cNvSpPr txBox="1"/>
          <p:nvPr/>
        </p:nvSpPr>
        <p:spPr>
          <a:xfrm>
            <a:off x="3538728" y="2468880"/>
            <a:ext cx="2331720" cy="457200"/>
          </a:xfrm>
          <a:prstGeom prst="rect">
            <a:avLst/>
          </a:prstGeom>
          <a:noFill/>
        </p:spPr>
        <p:txBody>
          <a:bodyPr wrap="none" lIns="0" tIns="0">
            <a:spAutoFit/>
          </a:bodyPr>
          <a:lstStyle/>
          <a:p>
            <a:r>
              <a:rPr sz="3000" b="1">
                <a:solidFill>
                  <a:srgbClr val="ECEFF2"/>
                </a:solidFill>
                <a:latin typeface="Bahnschrift"/>
              </a:rPr>
              <a:t>5,3</a:t>
            </a:r>
            <a:r>
              <a:rPr sz="1300">
                <a:solidFill>
                  <a:srgbClr val="A9B4BE"/>
                </a:solidFill>
                <a:latin typeface="Segoe UI"/>
              </a:rPr>
              <a:t> jt</a:t>
            </a:r>
          </a:p>
        </p:txBody>
      </p:sp>
      <p:sp>
        <p:nvSpPr>
          <p:cNvPr id="13" name="TextBox 12"/>
          <p:cNvSpPr txBox="1"/>
          <p:nvPr/>
        </p:nvSpPr>
        <p:spPr>
          <a:xfrm>
            <a:off x="3538728" y="29992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Perlengkapan sudah dimiliki — tinggal komponennya</a:t>
            </a:r>
          </a:p>
        </p:txBody>
      </p:sp>
      <p:sp>
        <p:nvSpPr>
          <p:cNvPr id="14" name="Rectangle 13"/>
          <p:cNvSpPr/>
          <p:nvPr/>
        </p:nvSpPr>
        <p:spPr>
          <a:xfrm>
            <a:off x="6144768" y="21031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2103120"/>
            <a:ext cx="2606040"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2494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BIAYA RUTIN</a:t>
            </a:r>
          </a:p>
        </p:txBody>
      </p:sp>
      <p:sp>
        <p:nvSpPr>
          <p:cNvPr id="17" name="TextBox 16"/>
          <p:cNvSpPr txBox="1"/>
          <p:nvPr/>
        </p:nvSpPr>
        <p:spPr>
          <a:xfrm>
            <a:off x="6327648" y="2468880"/>
            <a:ext cx="2331720" cy="457200"/>
          </a:xfrm>
          <a:prstGeom prst="rect">
            <a:avLst/>
          </a:prstGeom>
          <a:noFill/>
        </p:spPr>
        <p:txBody>
          <a:bodyPr wrap="none" lIns="0" tIns="0">
            <a:spAutoFit/>
          </a:bodyPr>
          <a:lstStyle/>
          <a:p>
            <a:r>
              <a:rPr sz="3000" b="1">
                <a:solidFill>
                  <a:srgbClr val="ECEFF2"/>
                </a:solidFill>
                <a:latin typeface="Bahnschrift"/>
              </a:rPr>
              <a:t>200</a:t>
            </a:r>
            <a:r>
              <a:rPr sz="1300">
                <a:solidFill>
                  <a:srgbClr val="A9B4BE"/>
                </a:solidFill>
                <a:latin typeface="Segoe UI"/>
              </a:rPr>
              <a:t> rb/bln</a:t>
            </a:r>
          </a:p>
        </p:txBody>
      </p:sp>
      <p:sp>
        <p:nvSpPr>
          <p:cNvPr id="18" name="TextBox 17"/>
          <p:cNvSpPr txBox="1"/>
          <p:nvPr/>
        </p:nvSpPr>
        <p:spPr>
          <a:xfrm>
            <a:off x="6327648" y="29992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Propeller patah, sesekali lengan frame</a:t>
            </a:r>
          </a:p>
        </p:txBody>
      </p:sp>
      <p:sp>
        <p:nvSpPr>
          <p:cNvPr id="19" name="Rectangle 18"/>
          <p:cNvSpPr/>
          <p:nvPr/>
        </p:nvSpPr>
        <p:spPr>
          <a:xfrm>
            <a:off x="8933687" y="2103120"/>
            <a:ext cx="2606040" cy="14173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33687" y="2103120"/>
            <a:ext cx="2606040" cy="3175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6567" y="2249424"/>
            <a:ext cx="23317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ASET YANG BERTAHAN</a:t>
            </a:r>
          </a:p>
        </p:txBody>
      </p:sp>
      <p:sp>
        <p:nvSpPr>
          <p:cNvPr id="22" name="TextBox 21"/>
          <p:cNvSpPr txBox="1"/>
          <p:nvPr/>
        </p:nvSpPr>
        <p:spPr>
          <a:xfrm>
            <a:off x="9116567" y="2468880"/>
            <a:ext cx="2331720" cy="457200"/>
          </a:xfrm>
          <a:prstGeom prst="rect">
            <a:avLst/>
          </a:prstGeom>
          <a:noFill/>
        </p:spPr>
        <p:txBody>
          <a:bodyPr wrap="none" lIns="0" tIns="0">
            <a:spAutoFit/>
          </a:bodyPr>
          <a:lstStyle/>
          <a:p>
            <a:r>
              <a:rPr sz="3000" b="1">
                <a:solidFill>
                  <a:srgbClr val="ECEFF2"/>
                </a:solidFill>
                <a:latin typeface="Bahnschrift"/>
              </a:rPr>
              <a:t>7,0</a:t>
            </a:r>
            <a:r>
              <a:rPr sz="1300">
                <a:solidFill>
                  <a:srgbClr val="A9B4BE"/>
                </a:solidFill>
                <a:latin typeface="Segoe UI"/>
              </a:rPr>
              <a:t> jt</a:t>
            </a:r>
          </a:p>
        </p:txBody>
      </p:sp>
      <p:sp>
        <p:nvSpPr>
          <p:cNvPr id="23" name="TextBox 22"/>
          <p:cNvSpPr txBox="1"/>
          <p:nvPr/>
        </p:nvSpPr>
        <p:spPr>
          <a:xfrm>
            <a:off x="9116567" y="2999232"/>
            <a:ext cx="2286000" cy="411480"/>
          </a:xfrm>
          <a:prstGeom prst="rect">
            <a:avLst/>
          </a:prstGeom>
          <a:noFill/>
        </p:spPr>
        <p:txBody>
          <a:bodyPr wrap="square" lIns="0" rIns="0" tIns="0" bIns="0">
            <a:spAutoFit/>
          </a:bodyPr>
          <a:lstStyle/>
          <a:p>
            <a:pPr algn="l">
              <a:lnSpc>
                <a:spcPct val="120000"/>
              </a:lnSpc>
              <a:spcAft>
                <a:spcPts val="600"/>
              </a:spcAft>
            </a:pPr>
            <a:r>
              <a:rPr sz="950" b="0">
                <a:solidFill>
                  <a:srgbClr val="6F7C88"/>
                </a:solidFill>
                <a:latin typeface="Segoe UI"/>
              </a:rPr>
              <a:t>Radio, goggles, charger, alat — lintas generasi drone</a:t>
            </a:r>
          </a:p>
        </p:txBody>
      </p:sp>
      <p:sp>
        <p:nvSpPr>
          <p:cNvPr id="24" name="Rectangle 23"/>
          <p:cNvSpPr/>
          <p:nvPr/>
        </p:nvSpPr>
        <p:spPr>
          <a:xfrm>
            <a:off x="566928" y="3840480"/>
            <a:ext cx="5486400" cy="21488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3840480"/>
            <a:ext cx="31750" cy="21488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005072"/>
            <a:ext cx="510235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CARA MEMBINGKAI NILAINYA</a:t>
            </a:r>
          </a:p>
        </p:txBody>
      </p:sp>
      <p:sp>
        <p:nvSpPr>
          <p:cNvPr id="27" name="TextBox 26"/>
          <p:cNvSpPr txBox="1"/>
          <p:nvPr/>
        </p:nvSpPr>
        <p:spPr>
          <a:xfrm>
            <a:off x="768096" y="4224528"/>
            <a:ext cx="5102352"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Kita membeli kapabilitas, bukan barang</a:t>
            </a:r>
          </a:p>
        </p:txBody>
      </p:sp>
      <p:sp>
        <p:nvSpPr>
          <p:cNvPr id="28" name="TextBox 27"/>
          <p:cNvSpPr txBox="1"/>
          <p:nvPr/>
        </p:nvSpPr>
        <p:spPr>
          <a:xfrm>
            <a:off x="768096" y="4572000"/>
            <a:ext cx="5102352" cy="1280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Yang benar-benar dibeli adalah KEMAMPUAN TIM MERANCANG, MERAKIT, DAN MENERBANGKAN SISTEM UDARA TANPA AWAK — beserta pemahaman atas setiap sambungan dan setiap parameter di dalamnya. Drone-nya sendiri adalah hasil sampingan.</a:t>
            </a:r>
          </a:p>
        </p:txBody>
      </p:sp>
      <p:sp>
        <p:nvSpPr>
          <p:cNvPr id="29" name="Rectangle 28"/>
          <p:cNvSpPr/>
          <p:nvPr/>
        </p:nvSpPr>
        <p:spPr>
          <a:xfrm>
            <a:off x="6327648" y="3840480"/>
            <a:ext cx="5303520" cy="21488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4023360"/>
            <a:ext cx="484632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 MANA KAPABILITAS INI BISA DIBAWA</a:t>
            </a:r>
          </a:p>
        </p:txBody>
      </p:sp>
      <p:sp>
        <p:nvSpPr>
          <p:cNvPr id="31" name="TextBox 30"/>
          <p:cNvSpPr txBox="1"/>
          <p:nvPr/>
        </p:nvSpPr>
        <p:spPr>
          <a:xfrm>
            <a:off x="6537960" y="4315968"/>
            <a:ext cx="4846320" cy="1463040"/>
          </a:xfrm>
          <a:prstGeom prst="rect">
            <a:avLst/>
          </a:prstGeom>
          <a:noFill/>
        </p:spPr>
        <p:txBody>
          <a:bodyPr wrap="square" lIns="0" rIns="0" tIns="0" bIns="0">
            <a:spAutoFit/>
          </a:bodyPr>
          <a:lstStyle/>
          <a:p>
            <a:pPr algn="l">
              <a:lnSpc>
                <a:spcPct val="135000"/>
              </a:lnSpc>
              <a:spcAft>
                <a:spcPts val="600"/>
              </a:spcAft>
            </a:pPr>
            <a:r>
              <a:rPr sz="1100" b="0">
                <a:solidFill>
                  <a:srgbClr val="A9B4BE"/>
                </a:solidFill>
                <a:latin typeface="Segoe UI"/>
              </a:rPr>
              <a:t>▸  Survei &amp; pemetaan area (naik ke kelas 7" + GPS)</a:t>
            </a:r>
          </a:p>
          <a:p>
            <a:pPr algn="l">
              <a:lnSpc>
                <a:spcPct val="135000"/>
              </a:lnSpc>
              <a:spcAft>
                <a:spcPts val="600"/>
              </a:spcAft>
            </a:pPr>
            <a:r>
              <a:rPr sz="1100" b="0">
                <a:solidFill>
                  <a:srgbClr val="A9B4BE"/>
                </a:solidFill>
                <a:latin typeface="Segoe UI"/>
              </a:rPr>
              <a:t>▸  Inspeksi struktur — atap, menara, panel surya</a:t>
            </a:r>
          </a:p>
          <a:p>
            <a:pPr algn="l">
              <a:lnSpc>
                <a:spcPct val="135000"/>
              </a:lnSpc>
              <a:spcAft>
                <a:spcPts val="600"/>
              </a:spcAft>
            </a:pPr>
            <a:r>
              <a:rPr sz="1100" b="0">
                <a:solidFill>
                  <a:srgbClr val="A9B4BE"/>
                </a:solidFill>
                <a:latin typeface="Segoe UI"/>
              </a:rPr>
              <a:t>▸  Dokumentasi &amp; videografi</a:t>
            </a:r>
          </a:p>
          <a:p>
            <a:pPr algn="l">
              <a:lnSpc>
                <a:spcPct val="135000"/>
              </a:lnSpc>
              <a:spcAft>
                <a:spcPts val="600"/>
              </a:spcAft>
            </a:pPr>
            <a:r>
              <a:rPr sz="1100" b="0">
                <a:solidFill>
                  <a:srgbClr val="A9B4BE"/>
                </a:solidFill>
                <a:latin typeface="Segoe UI"/>
              </a:rPr>
              <a:t>▸  Basis eksperimen otonomi dan computer vision</a:t>
            </a:r>
          </a:p>
        </p:txBody>
      </p:sp>
      <p:sp>
        <p:nvSpPr>
          <p:cNvPr id="32" name="TextBox 31"/>
          <p:cNvSpPr txBox="1"/>
          <p:nvPr/>
        </p:nvSpPr>
        <p:spPr>
          <a:xfrm>
            <a:off x="6537960" y="5623560"/>
            <a:ext cx="4846320" cy="274320"/>
          </a:xfrm>
          <a:prstGeom prst="rect">
            <a:avLst/>
          </a:prstGeom>
          <a:noFill/>
        </p:spPr>
        <p:txBody>
          <a:bodyPr wrap="square" lIns="0" rIns="0" tIns="0" bIns="0">
            <a:spAutoFit/>
          </a:bodyPr>
          <a:lstStyle/>
          <a:p>
            <a:pPr algn="l">
              <a:lnSpc>
                <a:spcPct val="125000"/>
              </a:lnSpc>
              <a:spcAft>
                <a:spcPts val="600"/>
              </a:spcAft>
            </a:pPr>
            <a:r>
              <a:rPr sz="1000" b="0">
                <a:solidFill>
                  <a:srgbClr val="6F7C88"/>
                </a:solidFill>
                <a:latin typeface="Segoe UI"/>
              </a:rPr>
              <a:t>Ini bahan diskusi, bukan klaim — arah mana yang bernilai bagi kita?</a:t>
            </a:r>
          </a:p>
        </p:txBody>
      </p:sp>
      <p:sp>
        <p:nvSpPr>
          <p:cNvPr id="33" name="TextBox 32"/>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Biaya jangka panjang</a:t>
            </a:r>
          </a:p>
        </p:txBody>
      </p:sp>
      <p:sp>
        <p:nvSpPr>
          <p:cNvPr id="34" name="TextBox 33"/>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38 / 43</a:t>
            </a:r>
          </a:p>
        </p:txBody>
      </p:sp>
      <p:sp>
        <p:nvSpPr>
          <p:cNvPr id="35" name="Rectangle 34"/>
          <p:cNvSpPr/>
          <p:nvPr/>
        </p:nvSpPr>
        <p:spPr>
          <a:xfrm>
            <a:off x="0" y="6803136"/>
            <a:ext cx="10774056"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4 · RENCANA</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Delapan minggu, urutan tidak boleh ditukar</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Perhatikan: TERBANG PERTAMA BARU DI MINGGU 6. Lima minggu persiapan untuk satu menit hover — dan itu bukan pemborosan.</a:t>
            </a:r>
          </a:p>
        </p:txBody>
      </p:sp>
      <p:sp>
        <p:nvSpPr>
          <p:cNvPr id="5" name="Rectangle 4"/>
          <p:cNvSpPr/>
          <p:nvPr/>
        </p:nvSpPr>
        <p:spPr>
          <a:xfrm>
            <a:off x="310896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10896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1</a:t>
            </a:r>
          </a:p>
        </p:txBody>
      </p:sp>
      <p:sp>
        <p:nvSpPr>
          <p:cNvPr id="7" name="Rectangle 6"/>
          <p:cNvSpPr/>
          <p:nvPr/>
        </p:nvSpPr>
        <p:spPr>
          <a:xfrm>
            <a:off x="417195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7195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2</a:t>
            </a:r>
          </a:p>
        </p:txBody>
      </p:sp>
      <p:sp>
        <p:nvSpPr>
          <p:cNvPr id="9" name="Rectangle 8"/>
          <p:cNvSpPr/>
          <p:nvPr/>
        </p:nvSpPr>
        <p:spPr>
          <a:xfrm>
            <a:off x="523494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3494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3</a:t>
            </a:r>
          </a:p>
        </p:txBody>
      </p:sp>
      <p:sp>
        <p:nvSpPr>
          <p:cNvPr id="11" name="Rectangle 10"/>
          <p:cNvSpPr/>
          <p:nvPr/>
        </p:nvSpPr>
        <p:spPr>
          <a:xfrm>
            <a:off x="629793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793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4</a:t>
            </a:r>
          </a:p>
        </p:txBody>
      </p:sp>
      <p:sp>
        <p:nvSpPr>
          <p:cNvPr id="13" name="Rectangle 12"/>
          <p:cNvSpPr/>
          <p:nvPr/>
        </p:nvSpPr>
        <p:spPr>
          <a:xfrm>
            <a:off x="736092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092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5</a:t>
            </a:r>
          </a:p>
        </p:txBody>
      </p:sp>
      <p:sp>
        <p:nvSpPr>
          <p:cNvPr id="15" name="Rectangle 14"/>
          <p:cNvSpPr/>
          <p:nvPr/>
        </p:nvSpPr>
        <p:spPr>
          <a:xfrm>
            <a:off x="842391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391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6</a:t>
            </a:r>
          </a:p>
        </p:txBody>
      </p:sp>
      <p:sp>
        <p:nvSpPr>
          <p:cNvPr id="17" name="Rectangle 16"/>
          <p:cNvSpPr/>
          <p:nvPr/>
        </p:nvSpPr>
        <p:spPr>
          <a:xfrm>
            <a:off x="948690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8690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7</a:t>
            </a:r>
          </a:p>
        </p:txBody>
      </p:sp>
      <p:sp>
        <p:nvSpPr>
          <p:cNvPr id="19" name="Rectangle 18"/>
          <p:cNvSpPr/>
          <p:nvPr/>
        </p:nvSpPr>
        <p:spPr>
          <a:xfrm>
            <a:off x="1054989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49890" y="2121408"/>
            <a:ext cx="1062990" cy="182880"/>
          </a:xfrm>
          <a:prstGeom prst="rect">
            <a:avLst/>
          </a:prstGeom>
          <a:noFill/>
        </p:spPr>
        <p:txBody>
          <a:bodyPr wrap="square" lIns="0" rIns="0" tIns="0" bIns="0">
            <a:spAutoFit/>
          </a:bodyPr>
          <a:lstStyle/>
          <a:p>
            <a:pPr algn="ctr">
              <a:lnSpc>
                <a:spcPct val="125000"/>
              </a:lnSpc>
              <a:spcAft>
                <a:spcPts val="600"/>
              </a:spcAft>
            </a:pPr>
            <a:r>
              <a:rPr sz="900" b="0">
                <a:solidFill>
                  <a:srgbClr val="6F7C88"/>
                </a:solidFill>
                <a:latin typeface="Consolas"/>
              </a:rPr>
              <a:t>Minggu 8</a:t>
            </a:r>
          </a:p>
        </p:txBody>
      </p:sp>
      <p:sp>
        <p:nvSpPr>
          <p:cNvPr id="21" name="Rectangle 20"/>
          <p:cNvSpPr/>
          <p:nvPr/>
        </p:nvSpPr>
        <p:spPr>
          <a:xfrm>
            <a:off x="11612880" y="2377440"/>
            <a:ext cx="9525" cy="2743200"/>
          </a:xfrm>
          <a:prstGeom prst="rect">
            <a:avLst/>
          </a:prstGeom>
          <a:solidFill>
            <a:srgbClr val="2530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514600"/>
            <a:ext cx="2377440" cy="274320"/>
          </a:xfrm>
          <a:prstGeom prst="rect">
            <a:avLst/>
          </a:prstGeom>
          <a:noFill/>
        </p:spPr>
        <p:txBody>
          <a:bodyPr wrap="square" lIns="0" rIns="0" tIns="0" bIns="0">
            <a:spAutoFit/>
          </a:bodyPr>
          <a:lstStyle/>
          <a:p>
            <a:pPr algn="r">
              <a:lnSpc>
                <a:spcPct val="125000"/>
              </a:lnSpc>
              <a:spcAft>
                <a:spcPts val="600"/>
              </a:spcAft>
            </a:pPr>
            <a:r>
              <a:rPr sz="1100" b="0">
                <a:solidFill>
                  <a:srgbClr val="A9B4BE"/>
                </a:solidFill>
                <a:latin typeface="Segoe UI"/>
              </a:rPr>
              <a:t>Riset &amp; pembelian</a:t>
            </a:r>
          </a:p>
        </p:txBody>
      </p:sp>
      <p:sp>
        <p:nvSpPr>
          <p:cNvPr id="23" name="Rectangle 22"/>
          <p:cNvSpPr/>
          <p:nvPr/>
        </p:nvSpPr>
        <p:spPr>
          <a:xfrm>
            <a:off x="3134360" y="2487168"/>
            <a:ext cx="2075180" cy="27432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2523744"/>
            <a:ext cx="1097280" cy="201168"/>
          </a:xfrm>
          <a:prstGeom prst="rect">
            <a:avLst/>
          </a:prstGeom>
          <a:noFill/>
        </p:spPr>
        <p:txBody>
          <a:bodyPr wrap="square" lIns="0" rIns="0" tIns="0" bIns="0">
            <a:spAutoFit/>
          </a:bodyPr>
          <a:lstStyle/>
          <a:p>
            <a:pPr algn="l">
              <a:lnSpc>
                <a:spcPct val="125000"/>
              </a:lnSpc>
              <a:spcAft>
                <a:spcPts val="600"/>
              </a:spcAft>
            </a:pPr>
            <a:r>
              <a:rPr sz="950" b="1">
                <a:solidFill>
                  <a:srgbClr val="FFFFFF"/>
                </a:solidFill>
                <a:latin typeface="Consolas"/>
              </a:rPr>
              <a:t>2 mgg</a:t>
            </a:r>
          </a:p>
        </p:txBody>
      </p:sp>
      <p:sp>
        <p:nvSpPr>
          <p:cNvPr id="25" name="TextBox 24"/>
          <p:cNvSpPr txBox="1"/>
          <p:nvPr/>
        </p:nvSpPr>
        <p:spPr>
          <a:xfrm>
            <a:off x="566928" y="2944368"/>
            <a:ext cx="2377440" cy="274320"/>
          </a:xfrm>
          <a:prstGeom prst="rect">
            <a:avLst/>
          </a:prstGeom>
          <a:noFill/>
        </p:spPr>
        <p:txBody>
          <a:bodyPr wrap="square" lIns="0" rIns="0" tIns="0" bIns="0">
            <a:spAutoFit/>
          </a:bodyPr>
          <a:lstStyle/>
          <a:p>
            <a:pPr algn="r">
              <a:lnSpc>
                <a:spcPct val="125000"/>
              </a:lnSpc>
              <a:spcAft>
                <a:spcPts val="600"/>
              </a:spcAft>
            </a:pPr>
            <a:r>
              <a:rPr sz="1100" b="0">
                <a:solidFill>
                  <a:srgbClr val="A9B4BE"/>
                </a:solidFill>
                <a:latin typeface="Segoe UI"/>
              </a:rPr>
              <a:t>Rakit mekanik</a:t>
            </a:r>
          </a:p>
        </p:txBody>
      </p:sp>
      <p:sp>
        <p:nvSpPr>
          <p:cNvPr id="26" name="Rectangle 25"/>
          <p:cNvSpPr/>
          <p:nvPr/>
        </p:nvSpPr>
        <p:spPr>
          <a:xfrm>
            <a:off x="5260340" y="2916936"/>
            <a:ext cx="1012190" cy="27432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26380" y="2953512"/>
            <a:ext cx="1097280" cy="201168"/>
          </a:xfrm>
          <a:prstGeom prst="rect">
            <a:avLst/>
          </a:prstGeom>
          <a:noFill/>
        </p:spPr>
        <p:txBody>
          <a:bodyPr wrap="square" lIns="0" rIns="0" tIns="0" bIns="0">
            <a:spAutoFit/>
          </a:bodyPr>
          <a:lstStyle/>
          <a:p>
            <a:pPr algn="l">
              <a:lnSpc>
                <a:spcPct val="125000"/>
              </a:lnSpc>
              <a:spcAft>
                <a:spcPts val="600"/>
              </a:spcAft>
            </a:pPr>
            <a:r>
              <a:rPr sz="950" b="1">
                <a:solidFill>
                  <a:srgbClr val="FFFFFF"/>
                </a:solidFill>
                <a:latin typeface="Consolas"/>
              </a:rPr>
              <a:t>1 mgg</a:t>
            </a:r>
          </a:p>
        </p:txBody>
      </p:sp>
      <p:sp>
        <p:nvSpPr>
          <p:cNvPr id="28" name="TextBox 27"/>
          <p:cNvSpPr txBox="1"/>
          <p:nvPr/>
        </p:nvSpPr>
        <p:spPr>
          <a:xfrm>
            <a:off x="566928" y="3374136"/>
            <a:ext cx="2377440" cy="274320"/>
          </a:xfrm>
          <a:prstGeom prst="rect">
            <a:avLst/>
          </a:prstGeom>
          <a:noFill/>
        </p:spPr>
        <p:txBody>
          <a:bodyPr wrap="square" lIns="0" rIns="0" tIns="0" bIns="0">
            <a:spAutoFit/>
          </a:bodyPr>
          <a:lstStyle/>
          <a:p>
            <a:pPr algn="r">
              <a:lnSpc>
                <a:spcPct val="125000"/>
              </a:lnSpc>
              <a:spcAft>
                <a:spcPts val="600"/>
              </a:spcAft>
            </a:pPr>
            <a:r>
              <a:rPr sz="1100" b="0">
                <a:solidFill>
                  <a:srgbClr val="A9B4BE"/>
                </a:solidFill>
                <a:latin typeface="Segoe UI"/>
              </a:rPr>
              <a:t>Solder &amp; kelistrikan</a:t>
            </a:r>
          </a:p>
        </p:txBody>
      </p:sp>
      <p:sp>
        <p:nvSpPr>
          <p:cNvPr id="29" name="Rectangle 28"/>
          <p:cNvSpPr/>
          <p:nvPr/>
        </p:nvSpPr>
        <p:spPr>
          <a:xfrm>
            <a:off x="6323330" y="3346704"/>
            <a:ext cx="1012190" cy="274320"/>
          </a:xfrm>
          <a:prstGeom prst="rect">
            <a:avLst/>
          </a:prstGeom>
          <a:solidFill>
            <a:srgbClr val="C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9370" y="3383280"/>
            <a:ext cx="1097280" cy="201168"/>
          </a:xfrm>
          <a:prstGeom prst="rect">
            <a:avLst/>
          </a:prstGeom>
          <a:noFill/>
        </p:spPr>
        <p:txBody>
          <a:bodyPr wrap="square" lIns="0" rIns="0" tIns="0" bIns="0">
            <a:spAutoFit/>
          </a:bodyPr>
          <a:lstStyle/>
          <a:p>
            <a:pPr algn="l">
              <a:lnSpc>
                <a:spcPct val="125000"/>
              </a:lnSpc>
              <a:spcAft>
                <a:spcPts val="600"/>
              </a:spcAft>
            </a:pPr>
            <a:r>
              <a:rPr sz="950" b="1">
                <a:solidFill>
                  <a:srgbClr val="FFFFFF"/>
                </a:solidFill>
                <a:latin typeface="Consolas"/>
              </a:rPr>
              <a:t>1 mgg</a:t>
            </a:r>
          </a:p>
        </p:txBody>
      </p:sp>
      <p:sp>
        <p:nvSpPr>
          <p:cNvPr id="31" name="TextBox 30"/>
          <p:cNvSpPr txBox="1"/>
          <p:nvPr/>
        </p:nvSpPr>
        <p:spPr>
          <a:xfrm>
            <a:off x="566928" y="3803903"/>
            <a:ext cx="2377440" cy="274320"/>
          </a:xfrm>
          <a:prstGeom prst="rect">
            <a:avLst/>
          </a:prstGeom>
          <a:noFill/>
        </p:spPr>
        <p:txBody>
          <a:bodyPr wrap="square" lIns="0" rIns="0" tIns="0" bIns="0">
            <a:spAutoFit/>
          </a:bodyPr>
          <a:lstStyle/>
          <a:p>
            <a:pPr algn="r">
              <a:lnSpc>
                <a:spcPct val="125000"/>
              </a:lnSpc>
              <a:spcAft>
                <a:spcPts val="600"/>
              </a:spcAft>
            </a:pPr>
            <a:r>
              <a:rPr sz="1100" b="0">
                <a:solidFill>
                  <a:srgbClr val="A9B4BE"/>
                </a:solidFill>
                <a:latin typeface="Segoe UI"/>
              </a:rPr>
              <a:t>Konfigurasi Betaflight</a:t>
            </a:r>
          </a:p>
        </p:txBody>
      </p:sp>
      <p:sp>
        <p:nvSpPr>
          <p:cNvPr id="32" name="Rectangle 31"/>
          <p:cNvSpPr/>
          <p:nvPr/>
        </p:nvSpPr>
        <p:spPr>
          <a:xfrm>
            <a:off x="7386320" y="3776471"/>
            <a:ext cx="1012190" cy="27432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52360" y="3813047"/>
            <a:ext cx="1097280" cy="201168"/>
          </a:xfrm>
          <a:prstGeom prst="rect">
            <a:avLst/>
          </a:prstGeom>
          <a:noFill/>
        </p:spPr>
        <p:txBody>
          <a:bodyPr wrap="square" lIns="0" rIns="0" tIns="0" bIns="0">
            <a:spAutoFit/>
          </a:bodyPr>
          <a:lstStyle/>
          <a:p>
            <a:pPr algn="l">
              <a:lnSpc>
                <a:spcPct val="125000"/>
              </a:lnSpc>
              <a:spcAft>
                <a:spcPts val="600"/>
              </a:spcAft>
            </a:pPr>
            <a:r>
              <a:rPr sz="950" b="1">
                <a:solidFill>
                  <a:srgbClr val="FFFFFF"/>
                </a:solidFill>
                <a:latin typeface="Consolas"/>
              </a:rPr>
              <a:t>1 mgg</a:t>
            </a:r>
          </a:p>
        </p:txBody>
      </p:sp>
      <p:sp>
        <p:nvSpPr>
          <p:cNvPr id="34" name="TextBox 33"/>
          <p:cNvSpPr txBox="1"/>
          <p:nvPr/>
        </p:nvSpPr>
        <p:spPr>
          <a:xfrm>
            <a:off x="566928" y="4233672"/>
            <a:ext cx="2377440" cy="274320"/>
          </a:xfrm>
          <a:prstGeom prst="rect">
            <a:avLst/>
          </a:prstGeom>
          <a:noFill/>
        </p:spPr>
        <p:txBody>
          <a:bodyPr wrap="square" lIns="0" rIns="0" tIns="0" bIns="0">
            <a:spAutoFit/>
          </a:bodyPr>
          <a:lstStyle/>
          <a:p>
            <a:pPr algn="r">
              <a:lnSpc>
                <a:spcPct val="125000"/>
              </a:lnSpc>
              <a:spcAft>
                <a:spcPts val="600"/>
              </a:spcAft>
            </a:pPr>
            <a:r>
              <a:rPr sz="1100" b="0">
                <a:solidFill>
                  <a:srgbClr val="A9B4BE"/>
                </a:solidFill>
                <a:latin typeface="Segoe UI"/>
              </a:rPr>
              <a:t>Hover test pertama</a:t>
            </a:r>
          </a:p>
        </p:txBody>
      </p:sp>
      <p:sp>
        <p:nvSpPr>
          <p:cNvPr id="35" name="Rectangle 34"/>
          <p:cNvSpPr/>
          <p:nvPr/>
        </p:nvSpPr>
        <p:spPr>
          <a:xfrm>
            <a:off x="8449310" y="4206240"/>
            <a:ext cx="1012190" cy="274320"/>
          </a:xfrm>
          <a:prstGeom prst="rect">
            <a:avLst/>
          </a:prstGeom>
          <a:solidFill>
            <a:srgbClr val="E05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15350" y="4242816"/>
            <a:ext cx="1097280" cy="201168"/>
          </a:xfrm>
          <a:prstGeom prst="rect">
            <a:avLst/>
          </a:prstGeom>
          <a:noFill/>
        </p:spPr>
        <p:txBody>
          <a:bodyPr wrap="square" lIns="0" rIns="0" tIns="0" bIns="0">
            <a:spAutoFit/>
          </a:bodyPr>
          <a:lstStyle/>
          <a:p>
            <a:pPr algn="l">
              <a:lnSpc>
                <a:spcPct val="125000"/>
              </a:lnSpc>
              <a:spcAft>
                <a:spcPts val="600"/>
              </a:spcAft>
            </a:pPr>
            <a:r>
              <a:rPr sz="950" b="1">
                <a:solidFill>
                  <a:srgbClr val="FFFFFF"/>
                </a:solidFill>
                <a:latin typeface="Consolas"/>
              </a:rPr>
              <a:t>1 mgg</a:t>
            </a:r>
          </a:p>
        </p:txBody>
      </p:sp>
      <p:sp>
        <p:nvSpPr>
          <p:cNvPr id="37" name="TextBox 36"/>
          <p:cNvSpPr txBox="1"/>
          <p:nvPr/>
        </p:nvSpPr>
        <p:spPr>
          <a:xfrm>
            <a:off x="566928" y="4663440"/>
            <a:ext cx="2377440" cy="274320"/>
          </a:xfrm>
          <a:prstGeom prst="rect">
            <a:avLst/>
          </a:prstGeom>
          <a:noFill/>
        </p:spPr>
        <p:txBody>
          <a:bodyPr wrap="square" lIns="0" rIns="0" tIns="0" bIns="0">
            <a:spAutoFit/>
          </a:bodyPr>
          <a:lstStyle/>
          <a:p>
            <a:pPr algn="r">
              <a:lnSpc>
                <a:spcPct val="125000"/>
              </a:lnSpc>
              <a:spcAft>
                <a:spcPts val="600"/>
              </a:spcAft>
            </a:pPr>
            <a:r>
              <a:rPr sz="1100" b="0">
                <a:solidFill>
                  <a:srgbClr val="A9B4BE"/>
                </a:solidFill>
                <a:latin typeface="Segoe UI"/>
              </a:rPr>
              <a:t>Tuning PID &amp; filter</a:t>
            </a:r>
          </a:p>
        </p:txBody>
      </p:sp>
      <p:sp>
        <p:nvSpPr>
          <p:cNvPr id="38" name="Rectangle 37"/>
          <p:cNvSpPr/>
          <p:nvPr/>
        </p:nvSpPr>
        <p:spPr>
          <a:xfrm>
            <a:off x="9512300" y="4636008"/>
            <a:ext cx="2075180" cy="274320"/>
          </a:xfrm>
          <a:prstGeom prst="rect">
            <a:avLst/>
          </a:prstGeom>
          <a:solidFill>
            <a:srgbClr val="E05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78340" y="4672584"/>
            <a:ext cx="1097280" cy="201168"/>
          </a:xfrm>
          <a:prstGeom prst="rect">
            <a:avLst/>
          </a:prstGeom>
          <a:noFill/>
        </p:spPr>
        <p:txBody>
          <a:bodyPr wrap="square" lIns="0" rIns="0" tIns="0" bIns="0">
            <a:spAutoFit/>
          </a:bodyPr>
          <a:lstStyle/>
          <a:p>
            <a:pPr algn="l">
              <a:lnSpc>
                <a:spcPct val="125000"/>
              </a:lnSpc>
              <a:spcAft>
                <a:spcPts val="600"/>
              </a:spcAft>
            </a:pPr>
            <a:r>
              <a:rPr sz="950" b="1">
                <a:solidFill>
                  <a:srgbClr val="FFFFFF"/>
                </a:solidFill>
                <a:latin typeface="Consolas"/>
              </a:rPr>
              <a:t>2 mgg</a:t>
            </a:r>
          </a:p>
        </p:txBody>
      </p:sp>
      <p:sp>
        <p:nvSpPr>
          <p:cNvPr id="40" name="Rectangle 39"/>
          <p:cNvSpPr/>
          <p:nvPr/>
        </p:nvSpPr>
        <p:spPr>
          <a:xfrm>
            <a:off x="566928" y="5257800"/>
            <a:ext cx="3538728" cy="9601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5257800"/>
            <a:ext cx="31750" cy="960120"/>
          </a:xfrm>
          <a:prstGeom prst="rect">
            <a:avLst/>
          </a:prstGeom>
          <a:solidFill>
            <a:srgbClr val="C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42239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MINGGU PALING BERISIKO</a:t>
            </a:r>
          </a:p>
        </p:txBody>
      </p:sp>
      <p:sp>
        <p:nvSpPr>
          <p:cNvPr id="43" name="TextBox 42"/>
          <p:cNvSpPr txBox="1"/>
          <p:nvPr/>
        </p:nvSpPr>
        <p:spPr>
          <a:xfrm>
            <a:off x="768096" y="5641848"/>
            <a:ext cx="3154680" cy="43891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MINGGU 4 — PENYOLDERAN. Satu sambungan korslet membakar ESC dan FC sekaligus. Smoke stopper dipakai di sini, tanpa pengecualian.</a:t>
            </a:r>
          </a:p>
        </p:txBody>
      </p:sp>
      <p:sp>
        <p:nvSpPr>
          <p:cNvPr id="44" name="Rectangle 43"/>
          <p:cNvSpPr/>
          <p:nvPr/>
        </p:nvSpPr>
        <p:spPr>
          <a:xfrm>
            <a:off x="4288536" y="5257800"/>
            <a:ext cx="3538728" cy="9601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88536" y="5257800"/>
            <a:ext cx="31750" cy="96012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89704" y="542239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ATURAN MINGGU 5</a:t>
            </a:r>
          </a:p>
        </p:txBody>
      </p:sp>
      <p:sp>
        <p:nvSpPr>
          <p:cNvPr id="47" name="TextBox 46"/>
          <p:cNvSpPr txBox="1"/>
          <p:nvPr/>
        </p:nvSpPr>
        <p:spPr>
          <a:xfrm>
            <a:off x="4489704" y="5641848"/>
            <a:ext cx="3154680" cy="43891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Seluruh konfigurasi Betaflight — termasuk uji arah putaran motor — dilakukan TANPA PROPELLER TERPASANG.</a:t>
            </a:r>
          </a:p>
        </p:txBody>
      </p:sp>
      <p:sp>
        <p:nvSpPr>
          <p:cNvPr id="48" name="Rectangle 47"/>
          <p:cNvSpPr/>
          <p:nvPr/>
        </p:nvSpPr>
        <p:spPr>
          <a:xfrm>
            <a:off x="8010144" y="5257800"/>
            <a:ext cx="3538728" cy="96012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10144" y="5257800"/>
            <a:ext cx="31750" cy="96012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11312" y="542239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CARA TUNING YANG BENAR</a:t>
            </a:r>
          </a:p>
        </p:txBody>
      </p:sp>
      <p:sp>
        <p:nvSpPr>
          <p:cNvPr id="51" name="TextBox 50"/>
          <p:cNvSpPr txBox="1"/>
          <p:nvPr/>
        </p:nvSpPr>
        <p:spPr>
          <a:xfrm>
            <a:off x="8211312" y="5641848"/>
            <a:ext cx="3154680" cy="43891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Satu perubahan per penerbangan. Selalu RABA SUHU MOTOR setelah mendarat — kalau tidak nyaman disentuh, tuning sudah kelewatan.</a:t>
            </a:r>
          </a:p>
        </p:txBody>
      </p:sp>
      <p:sp>
        <p:nvSpPr>
          <p:cNvPr id="52" name="TextBox 51"/>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Timeline 8 minggu</a:t>
            </a:r>
          </a:p>
        </p:txBody>
      </p:sp>
      <p:sp>
        <p:nvSpPr>
          <p:cNvPr id="53" name="TextBox 52"/>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39 / 43</a:t>
            </a:r>
          </a:p>
        </p:txBody>
      </p:sp>
      <p:sp>
        <p:nvSpPr>
          <p:cNvPr id="54" name="Rectangle 53"/>
          <p:cNvSpPr/>
          <p:nvPr/>
        </p:nvSpPr>
        <p:spPr>
          <a:xfrm>
            <a:off x="0" y="6803136"/>
            <a:ext cx="11057583"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4 · RISIKO</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Apa yang bisa gagal, dan penangkalnya</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Daftar ini belum lengkap — APA YANG TERLEWAT MENURUT KALIAN?</a:t>
            </a:r>
          </a:p>
        </p:txBody>
      </p:sp>
      <p:graphicFrame>
        <p:nvGraphicFramePr>
          <p:cNvPr id="5" name="Table 4"/>
          <p:cNvGraphicFramePr>
            <a:graphicFrameLocks noGrp="1"/>
          </p:cNvGraphicFramePr>
          <p:nvPr/>
        </p:nvGraphicFramePr>
        <p:xfrm>
          <a:off x="566928" y="2240280"/>
          <a:ext cx="11064238" cy="2880360"/>
        </p:xfrm>
        <a:graphic>
          <a:graphicData uri="http://schemas.openxmlformats.org/drawingml/2006/table">
            <a:tbl>
              <a:tblPr firstRow="0" bandRow="0">
                <a:tableStyleId>{5C22544A-7EE6-4342-B048-85BDC9FD1C3A}</a:tableStyleId>
              </a:tblPr>
              <a:tblGrid>
                <a:gridCol w="2434132"/>
                <a:gridCol w="1438351"/>
                <a:gridCol w="1770278"/>
                <a:gridCol w="4425696"/>
                <a:gridCol w="995781"/>
              </a:tblGrid>
              <a:tr h="411480">
                <a:tc>
                  <a:txBody>
                    <a:bodyPr/>
                    <a:lstStyle/>
                    <a:p>
                      <a:r>
                        <a:rPr sz="850" b="1">
                          <a:solidFill>
                            <a:srgbClr val="6F7C88"/>
                          </a:solidFill>
                          <a:latin typeface="Consolas"/>
                        </a:rPr>
                        <a:t>RISIKO</a:t>
                      </a:r>
                    </a:p>
                  </a:txBody>
                  <a:tcPr marL="73152" marR="73152" anchor="ctr">
                    <a:solidFill>
                      <a:srgbClr val="182029"/>
                    </a:solidFill>
                  </a:tcPr>
                </a:tc>
                <a:tc>
                  <a:txBody>
                    <a:bodyPr/>
                    <a:lstStyle/>
                    <a:p>
                      <a:r>
                        <a:rPr sz="850" b="1">
                          <a:solidFill>
                            <a:srgbClr val="6F7C88"/>
                          </a:solidFill>
                          <a:latin typeface="Consolas"/>
                        </a:rPr>
                        <a:t>KEMUNGKINAN</a:t>
                      </a:r>
                    </a:p>
                  </a:txBody>
                  <a:tcPr marL="73152" marR="73152" anchor="ctr">
                    <a:solidFill>
                      <a:srgbClr val="182029"/>
                    </a:solidFill>
                  </a:tcPr>
                </a:tc>
                <a:tc>
                  <a:txBody>
                    <a:bodyPr/>
                    <a:lstStyle/>
                    <a:p>
                      <a:r>
                        <a:rPr sz="850" b="1">
                          <a:solidFill>
                            <a:srgbClr val="6F7C88"/>
                          </a:solidFill>
                          <a:latin typeface="Consolas"/>
                        </a:rPr>
                        <a:t>DAMPAK</a:t>
                      </a:r>
                    </a:p>
                  </a:txBody>
                  <a:tcPr marL="73152" marR="73152" anchor="ctr">
                    <a:solidFill>
                      <a:srgbClr val="182029"/>
                    </a:solidFill>
                  </a:tcPr>
                </a:tc>
                <a:tc>
                  <a:txBody>
                    <a:bodyPr/>
                    <a:lstStyle/>
                    <a:p>
                      <a:r>
                        <a:rPr sz="850" b="1">
                          <a:solidFill>
                            <a:srgbClr val="6F7C88"/>
                          </a:solidFill>
                          <a:latin typeface="Consolas"/>
                        </a:rPr>
                        <a:t>MITIGASI</a:t>
                      </a:r>
                    </a:p>
                  </a:txBody>
                  <a:tcPr marL="73152" marR="73152" anchor="ctr">
                    <a:solidFill>
                      <a:srgbClr val="182029"/>
                    </a:solidFill>
                  </a:tcPr>
                </a:tc>
                <a:tc>
                  <a:txBody>
                    <a:bodyPr/>
                    <a:lstStyle/>
                    <a:p>
                      <a:pPr algn="r"/>
                      <a:r>
                        <a:rPr sz="850" b="1">
                          <a:solidFill>
                            <a:srgbClr val="6F7C88"/>
                          </a:solidFill>
                          <a:latin typeface="Consolas"/>
                        </a:rPr>
                        <a:t>BIAYA</a:t>
                      </a:r>
                    </a:p>
                  </a:txBody>
                  <a:tcPr marL="73152" marR="73152" anchor="ctr">
                    <a:solidFill>
                      <a:srgbClr val="182029"/>
                    </a:solidFill>
                  </a:tcPr>
                </a:tc>
              </a:tr>
              <a:tr h="411480">
                <a:tc>
                  <a:txBody>
                    <a:bodyPr wrap="square"/>
                    <a:lstStyle/>
                    <a:p>
                      <a:r>
                        <a:rPr sz="1000" b="1">
                          <a:solidFill>
                            <a:srgbClr val="F2662C"/>
                          </a:solidFill>
                          <a:latin typeface="Segoe UI"/>
                        </a:rPr>
                        <a:t>Korslet saat penyalaan pertama</a:t>
                      </a:r>
                    </a:p>
                  </a:txBody>
                  <a:tcPr marL="73152" marR="73152" marT="36576" marB="36576" anchor="t">
                    <a:solidFill>
                      <a:srgbClr val="201A18"/>
                    </a:solidFill>
                  </a:tcPr>
                </a:tc>
                <a:tc>
                  <a:txBody>
                    <a:bodyPr wrap="square"/>
                    <a:lstStyle/>
                    <a:p>
                      <a:r>
                        <a:rPr sz="1000">
                          <a:solidFill>
                            <a:srgbClr val="A9B4BE"/>
                          </a:solidFill>
                          <a:latin typeface="Segoe UI"/>
                        </a:rPr>
                        <a:t>Sedang</a:t>
                      </a:r>
                    </a:p>
                  </a:txBody>
                  <a:tcPr marL="73152" marR="73152" marT="36576" marB="36576" anchor="t">
                    <a:solidFill>
                      <a:srgbClr val="201A18"/>
                    </a:solidFill>
                  </a:tcPr>
                </a:tc>
                <a:tc>
                  <a:txBody>
                    <a:bodyPr wrap="square"/>
                    <a:lstStyle/>
                    <a:p>
                      <a:r>
                        <a:rPr sz="1000">
                          <a:solidFill>
                            <a:srgbClr val="A9B4BE"/>
                          </a:solidFill>
                          <a:latin typeface="Segoe UI"/>
                        </a:rPr>
                        <a:t>ESC + FC hangus — Rp 1,25 jt</a:t>
                      </a:r>
                    </a:p>
                  </a:txBody>
                  <a:tcPr marL="73152" marR="73152" marT="36576" marB="36576" anchor="t">
                    <a:solidFill>
                      <a:srgbClr val="201A18"/>
                    </a:solidFill>
                  </a:tcPr>
                </a:tc>
                <a:tc>
                  <a:txBody>
                    <a:bodyPr wrap="square"/>
                    <a:lstStyle/>
                    <a:p>
                      <a:r>
                        <a:rPr sz="1000">
                          <a:solidFill>
                            <a:srgbClr val="A9B4BE"/>
                          </a:solidFill>
                          <a:latin typeface="Segoe UI"/>
                        </a:rPr>
                        <a:t>SMOKE STOPPER di penyalaan pertama + uji continuity dengan multimeter sebelum baterai masuk</a:t>
                      </a:r>
                    </a:p>
                  </a:txBody>
                  <a:tcPr marL="73152" marR="73152" marT="36576" marB="36576" anchor="t">
                    <a:solidFill>
                      <a:srgbClr val="201A18"/>
                    </a:solidFill>
                  </a:tcPr>
                </a:tc>
                <a:tc>
                  <a:txBody>
                    <a:bodyPr wrap="square"/>
                    <a:lstStyle/>
                    <a:p>
                      <a:pPr algn="r"/>
                      <a:r>
                        <a:rPr sz="1000">
                          <a:solidFill>
                            <a:srgbClr val="A9B4BE"/>
                          </a:solidFill>
                          <a:latin typeface="Consolas"/>
                        </a:rPr>
                        <a:t>150 rb</a:t>
                      </a:r>
                    </a:p>
                  </a:txBody>
                  <a:tcPr marL="73152" marR="73152" marT="36576" marB="36576" anchor="t">
                    <a:solidFill>
                      <a:srgbClr val="201A18"/>
                    </a:solidFill>
                  </a:tcPr>
                </a:tc>
              </a:tr>
              <a:tr h="411480">
                <a:tc>
                  <a:txBody>
                    <a:bodyPr wrap="square"/>
                    <a:lstStyle/>
                    <a:p>
                      <a:r>
                        <a:rPr sz="1000" b="1">
                          <a:solidFill>
                            <a:srgbClr val="ECEFF2"/>
                          </a:solidFill>
                          <a:latin typeface="Segoe UI"/>
                        </a:rPr>
                        <a:t>Cedera propeller</a:t>
                      </a:r>
                    </a:p>
                  </a:txBody>
                  <a:tcPr marL="73152" marR="73152" marT="36576" marB="36576" anchor="t">
                    <a:solidFill>
                      <a:srgbClr val="12171D"/>
                    </a:solidFill>
                  </a:tcPr>
                </a:tc>
                <a:tc>
                  <a:txBody>
                    <a:bodyPr wrap="square"/>
                    <a:lstStyle/>
                    <a:p>
                      <a:r>
                        <a:rPr sz="1000">
                          <a:solidFill>
                            <a:srgbClr val="A9B4BE"/>
                          </a:solidFill>
                          <a:latin typeface="Segoe UI"/>
                        </a:rPr>
                        <a:t>Rendah</a:t>
                      </a:r>
                    </a:p>
                  </a:txBody>
                  <a:tcPr marL="73152" marR="73152" marT="36576" marB="36576" anchor="t">
                    <a:solidFill>
                      <a:srgbClr val="12171D"/>
                    </a:solidFill>
                  </a:tcPr>
                </a:tc>
                <a:tc>
                  <a:txBody>
                    <a:bodyPr wrap="square"/>
                    <a:lstStyle/>
                    <a:p>
                      <a:r>
                        <a:rPr sz="1000">
                          <a:solidFill>
                            <a:srgbClr val="A9B4BE"/>
                          </a:solidFill>
                          <a:latin typeface="Segoe UI"/>
                        </a:rPr>
                        <a:t>Cedera serius pada manusia</a:t>
                      </a:r>
                    </a:p>
                  </a:txBody>
                  <a:tcPr marL="73152" marR="73152" marT="36576" marB="36576" anchor="t">
                    <a:solidFill>
                      <a:srgbClr val="12171D"/>
                    </a:solidFill>
                  </a:tcPr>
                </a:tc>
                <a:tc>
                  <a:txBody>
                    <a:bodyPr wrap="square"/>
                    <a:lstStyle/>
                    <a:p>
                      <a:r>
                        <a:rPr sz="1000">
                          <a:solidFill>
                            <a:srgbClr val="A9B4BE"/>
                          </a:solidFill>
                          <a:latin typeface="Segoe UI"/>
                        </a:rPr>
                        <a:t>Prosedur, bukan alat: propeller dipasang TERAKHIR; semua uji meja tanpa propeller</a:t>
                      </a:r>
                    </a:p>
                  </a:txBody>
                  <a:tcPr marL="73152" marR="73152" marT="36576" marB="36576" anchor="t">
                    <a:solidFill>
                      <a:srgbClr val="12171D"/>
                    </a:solidFill>
                  </a:tcPr>
                </a:tc>
                <a:tc>
                  <a:txBody>
                    <a:bodyPr wrap="square"/>
                    <a:lstStyle/>
                    <a:p>
                      <a:pPr algn="r"/>
                      <a:r>
                        <a:rPr sz="1000">
                          <a:solidFill>
                            <a:srgbClr val="A9B4BE"/>
                          </a:solidFill>
                          <a:latin typeface="Consolas"/>
                        </a:rPr>
                        <a:t>Rp 0</a:t>
                      </a:r>
                    </a:p>
                  </a:txBody>
                  <a:tcPr marL="73152" marR="73152" marT="36576" marB="36576" anchor="t">
                    <a:solidFill>
                      <a:srgbClr val="12171D"/>
                    </a:solidFill>
                  </a:tcPr>
                </a:tc>
              </a:tr>
              <a:tr h="411480">
                <a:tc>
                  <a:txBody>
                    <a:bodyPr wrap="square"/>
                    <a:lstStyle/>
                    <a:p>
                      <a:r>
                        <a:rPr sz="1000" b="1">
                          <a:solidFill>
                            <a:srgbClr val="ECEFF2"/>
                          </a:solidFill>
                          <a:latin typeface="Segoe UI"/>
                        </a:rPr>
                        <a:t>Crash merusak lengan frame</a:t>
                      </a:r>
                    </a:p>
                  </a:txBody>
                  <a:tcPr marL="73152" marR="73152" marT="36576" marB="36576" anchor="t">
                    <a:solidFill>
                      <a:srgbClr val="12171D"/>
                    </a:solidFill>
                  </a:tcPr>
                </a:tc>
                <a:tc>
                  <a:txBody>
                    <a:bodyPr wrap="square"/>
                    <a:lstStyle/>
                    <a:p>
                      <a:r>
                        <a:rPr sz="1000">
                          <a:solidFill>
                            <a:srgbClr val="A9B4BE"/>
                          </a:solidFill>
                          <a:latin typeface="Segoe UI"/>
                        </a:rPr>
                        <a:t>Tinggi — pasti terjadi</a:t>
                      </a:r>
                    </a:p>
                  </a:txBody>
                  <a:tcPr marL="73152" marR="73152" marT="36576" marB="36576" anchor="t">
                    <a:solidFill>
                      <a:srgbClr val="12171D"/>
                    </a:solidFill>
                  </a:tcPr>
                </a:tc>
                <a:tc>
                  <a:txBody>
                    <a:bodyPr wrap="square"/>
                    <a:lstStyle/>
                    <a:p>
                      <a:r>
                        <a:rPr sz="1000">
                          <a:solidFill>
                            <a:srgbClr val="A9B4BE"/>
                          </a:solidFill>
                          <a:latin typeface="Segoe UI"/>
                        </a:rPr>
                        <a:t>Rendah — Rp 80 rb</a:t>
                      </a:r>
                    </a:p>
                  </a:txBody>
                  <a:tcPr marL="73152" marR="73152" marT="36576" marB="36576" anchor="t">
                    <a:solidFill>
                      <a:srgbClr val="12171D"/>
                    </a:solidFill>
                  </a:tcPr>
                </a:tc>
                <a:tc>
                  <a:txBody>
                    <a:bodyPr wrap="square"/>
                    <a:lstStyle/>
                    <a:p>
                      <a:r>
                        <a:rPr sz="1000">
                          <a:solidFill>
                            <a:srgbClr val="A9B4BE"/>
                          </a:solidFill>
                          <a:latin typeface="Segoe UI"/>
                        </a:rPr>
                        <a:t>Pilih frame yang lengannya dijual satuan; stok cadangan sejak awal</a:t>
                      </a:r>
                    </a:p>
                  </a:txBody>
                  <a:tcPr marL="73152" marR="73152" marT="36576" marB="36576" anchor="t">
                    <a:solidFill>
                      <a:srgbClr val="12171D"/>
                    </a:solidFill>
                  </a:tcPr>
                </a:tc>
                <a:tc>
                  <a:txBody>
                    <a:bodyPr wrap="square"/>
                    <a:lstStyle/>
                    <a:p>
                      <a:pPr algn="r"/>
                      <a:r>
                        <a:rPr sz="1000">
                          <a:solidFill>
                            <a:srgbClr val="A9B4BE"/>
                          </a:solidFill>
                          <a:latin typeface="Consolas"/>
                        </a:rPr>
                        <a:t>160 rb</a:t>
                      </a:r>
                    </a:p>
                  </a:txBody>
                  <a:tcPr marL="73152" marR="73152" marT="36576" marB="36576" anchor="t">
                    <a:solidFill>
                      <a:srgbClr val="12171D"/>
                    </a:solidFill>
                  </a:tcPr>
                </a:tc>
              </a:tr>
              <a:tr h="411480">
                <a:tc>
                  <a:txBody>
                    <a:bodyPr wrap="square"/>
                    <a:lstStyle/>
                    <a:p>
                      <a:r>
                        <a:rPr sz="1000" b="1">
                          <a:solidFill>
                            <a:srgbClr val="ECEFF2"/>
                          </a:solidFill>
                          <a:latin typeface="Segoe UI"/>
                        </a:rPr>
                        <a:t>Baterai LiPo terbakar</a:t>
                      </a:r>
                    </a:p>
                  </a:txBody>
                  <a:tcPr marL="73152" marR="73152" marT="36576" marB="36576" anchor="t">
                    <a:solidFill>
                      <a:srgbClr val="12171D"/>
                    </a:solidFill>
                  </a:tcPr>
                </a:tc>
                <a:tc>
                  <a:txBody>
                    <a:bodyPr wrap="square"/>
                    <a:lstStyle/>
                    <a:p>
                      <a:r>
                        <a:rPr sz="1000">
                          <a:solidFill>
                            <a:srgbClr val="A9B4BE"/>
                          </a:solidFill>
                          <a:latin typeface="Segoe UI"/>
                        </a:rPr>
                        <a:t>Rendah</a:t>
                      </a:r>
                    </a:p>
                  </a:txBody>
                  <a:tcPr marL="73152" marR="73152" marT="36576" marB="36576" anchor="t">
                    <a:solidFill>
                      <a:srgbClr val="12171D"/>
                    </a:solidFill>
                  </a:tcPr>
                </a:tc>
                <a:tc>
                  <a:txBody>
                    <a:bodyPr wrap="square"/>
                    <a:lstStyle/>
                    <a:p>
                      <a:r>
                        <a:rPr sz="1000">
                          <a:solidFill>
                            <a:srgbClr val="A9B4BE"/>
                          </a:solidFill>
                          <a:latin typeface="Segoe UI"/>
                        </a:rPr>
                        <a:t>Kebakaran</a:t>
                      </a:r>
                    </a:p>
                  </a:txBody>
                  <a:tcPr marL="73152" marR="73152" marT="36576" marB="36576" anchor="t">
                    <a:solidFill>
                      <a:srgbClr val="12171D"/>
                    </a:solidFill>
                  </a:tcPr>
                </a:tc>
                <a:tc>
                  <a:txBody>
                    <a:bodyPr wrap="square"/>
                    <a:lstStyle/>
                    <a:p>
                      <a:r>
                        <a:rPr sz="1000">
                          <a:solidFill>
                            <a:srgbClr val="A9B4BE"/>
                          </a:solidFill>
                          <a:latin typeface="Segoe UI"/>
                        </a:rPr>
                        <a:t>Tas tahan api, isi daya di lantai keramik, KARANTINA 30 MENIT setelah crash keras</a:t>
                      </a:r>
                    </a:p>
                  </a:txBody>
                  <a:tcPr marL="73152" marR="73152" marT="36576" marB="36576" anchor="t">
                    <a:solidFill>
                      <a:srgbClr val="12171D"/>
                    </a:solidFill>
                  </a:tcPr>
                </a:tc>
                <a:tc>
                  <a:txBody>
                    <a:bodyPr wrap="square"/>
                    <a:lstStyle/>
                    <a:p>
                      <a:pPr algn="r"/>
                      <a:r>
                        <a:rPr sz="1000">
                          <a:solidFill>
                            <a:srgbClr val="A9B4BE"/>
                          </a:solidFill>
                          <a:latin typeface="Consolas"/>
                        </a:rPr>
                        <a:t>100 rb</a:t>
                      </a:r>
                    </a:p>
                  </a:txBody>
                  <a:tcPr marL="73152" marR="73152" marT="36576" marB="36576" anchor="t">
                    <a:solidFill>
                      <a:srgbClr val="12171D"/>
                    </a:solidFill>
                  </a:tcPr>
                </a:tc>
              </a:tr>
              <a:tr h="411480">
                <a:tc>
                  <a:txBody>
                    <a:bodyPr wrap="square"/>
                    <a:lstStyle/>
                    <a:p>
                      <a:r>
                        <a:rPr sz="1000" b="1">
                          <a:solidFill>
                            <a:srgbClr val="ECEFF2"/>
                          </a:solidFill>
                          <a:latin typeface="Segoe UI"/>
                        </a:rPr>
                        <a:t>Motor panas karena salah tuning</a:t>
                      </a:r>
                    </a:p>
                  </a:txBody>
                  <a:tcPr marL="73152" marR="73152" marT="36576" marB="36576" anchor="t">
                    <a:solidFill>
                      <a:srgbClr val="12171D"/>
                    </a:solidFill>
                  </a:tcPr>
                </a:tc>
                <a:tc>
                  <a:txBody>
                    <a:bodyPr wrap="square"/>
                    <a:lstStyle/>
                    <a:p>
                      <a:r>
                        <a:rPr sz="1000">
                          <a:solidFill>
                            <a:srgbClr val="A9B4BE"/>
                          </a:solidFill>
                          <a:latin typeface="Segoe UI"/>
                        </a:rPr>
                        <a:t>Sedang</a:t>
                      </a:r>
                    </a:p>
                  </a:txBody>
                  <a:tcPr marL="73152" marR="73152" marT="36576" marB="36576" anchor="t">
                    <a:solidFill>
                      <a:srgbClr val="12171D"/>
                    </a:solidFill>
                  </a:tcPr>
                </a:tc>
                <a:tc>
                  <a:txBody>
                    <a:bodyPr wrap="square"/>
                    <a:lstStyle/>
                    <a:p>
                      <a:r>
                        <a:rPr sz="1000">
                          <a:solidFill>
                            <a:srgbClr val="A9B4BE"/>
                          </a:solidFill>
                          <a:latin typeface="Segoe UI"/>
                        </a:rPr>
                        <a:t>Motor rusak — Rp 320 rb</a:t>
                      </a:r>
                    </a:p>
                  </a:txBody>
                  <a:tcPr marL="73152" marR="73152" marT="36576" marB="36576" anchor="t">
                    <a:solidFill>
                      <a:srgbClr val="12171D"/>
                    </a:solidFill>
                  </a:tcPr>
                </a:tc>
                <a:tc>
                  <a:txBody>
                    <a:bodyPr wrap="square"/>
                    <a:lstStyle/>
                    <a:p>
                      <a:r>
                        <a:rPr sz="1000">
                          <a:solidFill>
                            <a:srgbClr val="A9B4BE"/>
                          </a:solidFill>
                          <a:latin typeface="Segoe UI"/>
                        </a:rPr>
                        <a:t>Raba suhu motor setiap mendarat; turunkan gain D bila panas</a:t>
                      </a:r>
                    </a:p>
                  </a:txBody>
                  <a:tcPr marL="73152" marR="73152" marT="36576" marB="36576" anchor="t">
                    <a:solidFill>
                      <a:srgbClr val="12171D"/>
                    </a:solidFill>
                  </a:tcPr>
                </a:tc>
                <a:tc>
                  <a:txBody>
                    <a:bodyPr wrap="square"/>
                    <a:lstStyle/>
                    <a:p>
                      <a:pPr algn="r"/>
                      <a:r>
                        <a:rPr sz="1000">
                          <a:solidFill>
                            <a:srgbClr val="A9B4BE"/>
                          </a:solidFill>
                          <a:latin typeface="Consolas"/>
                        </a:rPr>
                        <a:t>Rp 0</a:t>
                      </a:r>
                    </a:p>
                  </a:txBody>
                  <a:tcPr marL="73152" marR="73152" marT="36576" marB="36576" anchor="t">
                    <a:solidFill>
                      <a:srgbClr val="12171D"/>
                    </a:solidFill>
                  </a:tcPr>
                </a:tc>
              </a:tr>
              <a:tr h="411480">
                <a:tc>
                  <a:txBody>
                    <a:bodyPr wrap="square"/>
                    <a:lstStyle/>
                    <a:p>
                      <a:r>
                        <a:rPr sz="1000" b="1">
                          <a:solidFill>
                            <a:srgbClr val="ECEFF2"/>
                          </a:solidFill>
                          <a:latin typeface="Segoe UI"/>
                        </a:rPr>
                        <a:t>Estimasi harga meleset</a:t>
                      </a:r>
                    </a:p>
                  </a:txBody>
                  <a:tcPr marL="73152" marR="73152" marT="36576" marB="36576" anchor="t">
                    <a:solidFill>
                      <a:srgbClr val="12171D"/>
                    </a:solidFill>
                  </a:tcPr>
                </a:tc>
                <a:tc>
                  <a:txBody>
                    <a:bodyPr wrap="square"/>
                    <a:lstStyle/>
                    <a:p>
                      <a:r>
                        <a:rPr sz="1000">
                          <a:solidFill>
                            <a:srgbClr val="A9B4BE"/>
                          </a:solidFill>
                          <a:latin typeface="Segoe UI"/>
                        </a:rPr>
                        <a:t>Tinggi</a:t>
                      </a:r>
                    </a:p>
                  </a:txBody>
                  <a:tcPr marL="73152" marR="73152" marT="36576" marB="36576" anchor="t">
                    <a:solidFill>
                      <a:srgbClr val="12171D"/>
                    </a:solidFill>
                  </a:tcPr>
                </a:tc>
                <a:tc>
                  <a:txBody>
                    <a:bodyPr wrap="square"/>
                    <a:lstStyle/>
                    <a:p>
                      <a:r>
                        <a:rPr sz="1000">
                          <a:solidFill>
                            <a:srgbClr val="A9B4BE"/>
                          </a:solidFill>
                          <a:latin typeface="Segoe UI"/>
                        </a:rPr>
                        <a:t>Anggaran bengkak 20–30%</a:t>
                      </a:r>
                    </a:p>
                  </a:txBody>
                  <a:tcPr marL="73152" marR="73152" marT="36576" marB="36576" anchor="t">
                    <a:solidFill>
                      <a:srgbClr val="12171D"/>
                    </a:solidFill>
                  </a:tcPr>
                </a:tc>
                <a:tc>
                  <a:txBody>
                    <a:bodyPr wrap="square"/>
                    <a:lstStyle/>
                    <a:p>
                      <a:r>
                        <a:rPr sz="1000">
                          <a:solidFill>
                            <a:srgbClr val="A9B4BE"/>
                          </a:solidFill>
                          <a:latin typeface="Segoe UI"/>
                        </a:rPr>
                        <a:t>Verifikasi harga ke marketplace SEBELUM anggaran disetujui — belum dilakukan</a:t>
                      </a:r>
                    </a:p>
                  </a:txBody>
                  <a:tcPr marL="73152" marR="73152" marT="36576" marB="36576" anchor="t">
                    <a:solidFill>
                      <a:srgbClr val="12171D"/>
                    </a:solidFill>
                  </a:tcPr>
                </a:tc>
                <a:tc>
                  <a:txBody>
                    <a:bodyPr wrap="square"/>
                    <a:lstStyle/>
                    <a:p>
                      <a:pPr algn="r"/>
                      <a:r>
                        <a:rPr sz="1000">
                          <a:solidFill>
                            <a:srgbClr val="A9B4BE"/>
                          </a:solidFill>
                          <a:latin typeface="Consolas"/>
                        </a:rPr>
                        <a:t>Rp 0</a:t>
                      </a:r>
                    </a:p>
                  </a:txBody>
                  <a:tcPr marL="73152" marR="73152" marT="36576" marB="36576" anchor="t">
                    <a:solidFill>
                      <a:srgbClr val="12171D"/>
                    </a:solidFill>
                  </a:tcPr>
                </a:tc>
              </a:tr>
            </a:tbl>
          </a:graphicData>
        </a:graphic>
      </p:graphicFrame>
      <p:sp>
        <p:nvSpPr>
          <p:cNvPr id="6" name="TextBox 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Risiko &amp; mitigasi</a:t>
            </a:r>
          </a:p>
        </p:txBody>
      </p:sp>
      <p:sp>
        <p:nvSpPr>
          <p:cNvPr id="7" name="TextBox 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40 / 43</a:t>
            </a:r>
          </a:p>
        </p:txBody>
      </p:sp>
      <p:sp>
        <p:nvSpPr>
          <p:cNvPr id="8" name="Rectangle 7"/>
          <p:cNvSpPr/>
          <p:nvPr/>
        </p:nvSpPr>
        <p:spPr>
          <a:xfrm>
            <a:off x="0" y="6803136"/>
            <a:ext cx="11341111"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BAGIAN 4 · ROADMAP</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Tiga tahap — dan tidak ada yang terbuang</a:t>
            </a:r>
          </a:p>
        </p:txBody>
      </p:sp>
      <p:sp>
        <p:nvSpPr>
          <p:cNvPr id="4" name="Rectangle 3"/>
          <p:cNvSpPr/>
          <p:nvPr/>
        </p:nvSpPr>
        <p:spPr>
          <a:xfrm>
            <a:off x="566928" y="2103120"/>
            <a:ext cx="3538728" cy="32918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103120"/>
            <a:ext cx="31750" cy="32918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26771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V1 · SEKARANG — 8 MINGGU</a:t>
            </a:r>
          </a:p>
        </p:txBody>
      </p:sp>
      <p:sp>
        <p:nvSpPr>
          <p:cNvPr id="7" name="TextBox 6"/>
          <p:cNvSpPr txBox="1"/>
          <p:nvPr/>
        </p:nvSpPr>
        <p:spPr>
          <a:xfrm>
            <a:off x="768096" y="248716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Freestyle 5" Analog</a:t>
            </a:r>
          </a:p>
        </p:txBody>
      </p:sp>
      <p:sp>
        <p:nvSpPr>
          <p:cNvPr id="8" name="TextBox 7"/>
          <p:cNvSpPr txBox="1"/>
          <p:nvPr/>
        </p:nvSpPr>
        <p:spPr>
          <a:xfrm>
            <a:off x="768096" y="2834640"/>
            <a:ext cx="3154680" cy="2423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TUJUAN: BELAJAR, BUKAN BERKARYA. Video analog, tanpa GPS. Crash adalah bagian dari kurikulum, dan analog membuat crash jadi murah.
▸  Rakit, solder, konfigurasi, tuning
▸  Anggaran Rp 12,3 jt (termasuk perlengkapan)
▸  Sukses = hover stabil &amp; flip terkendali</a:t>
            </a:r>
          </a:p>
        </p:txBody>
      </p:sp>
      <p:sp>
        <p:nvSpPr>
          <p:cNvPr id="9" name="Rectangle 8"/>
          <p:cNvSpPr/>
          <p:nvPr/>
        </p:nvSpPr>
        <p:spPr>
          <a:xfrm>
            <a:off x="4288536" y="2103120"/>
            <a:ext cx="3538728" cy="32918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88536" y="2103120"/>
            <a:ext cx="31750" cy="329184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26771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V2 · SETELAH NYAMAN TERBANG</a:t>
            </a:r>
          </a:p>
        </p:txBody>
      </p:sp>
      <p:sp>
        <p:nvSpPr>
          <p:cNvPr id="12" name="TextBox 11"/>
          <p:cNvSpPr txBox="1"/>
          <p:nvPr/>
        </p:nvSpPr>
        <p:spPr>
          <a:xfrm>
            <a:off x="4489704" y="248716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Upgrade ke Digital HD</a:t>
            </a:r>
          </a:p>
        </p:txBody>
      </p:sp>
      <p:sp>
        <p:nvSpPr>
          <p:cNvPr id="13" name="TextBox 12"/>
          <p:cNvSpPr txBox="1"/>
          <p:nvPr/>
        </p:nvSpPr>
        <p:spPr>
          <a:xfrm>
            <a:off x="4489704" y="2834640"/>
            <a:ext cx="3154680" cy="2423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Saat crash sudah jarang, risiko biaya digital turun drastis. Baru DI SITU upgrade masuk akal.
▸  DJI O4 / Walksnail air unit + goggles
▸  Tambahan ± Rp 7 jt
▸  Hasil: rekaman HD layak dipublikasikan</a:t>
            </a:r>
          </a:p>
        </p:txBody>
      </p:sp>
      <p:sp>
        <p:nvSpPr>
          <p:cNvPr id="14" name="Rectangle 13"/>
          <p:cNvSpPr/>
          <p:nvPr/>
        </p:nvSpPr>
        <p:spPr>
          <a:xfrm>
            <a:off x="8010144" y="2103120"/>
            <a:ext cx="3538728" cy="32918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10144" y="2103120"/>
            <a:ext cx="31750" cy="3291840"/>
          </a:xfrm>
          <a:prstGeom prst="rect">
            <a:avLst/>
          </a:prstGeom>
          <a:solidFill>
            <a:srgbClr val="908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26771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V3 · PERCABANGAN</a:t>
            </a:r>
          </a:p>
        </p:txBody>
      </p:sp>
      <p:sp>
        <p:nvSpPr>
          <p:cNvPr id="17" name="TextBox 16"/>
          <p:cNvSpPr txBox="1"/>
          <p:nvPr/>
        </p:nvSpPr>
        <p:spPr>
          <a:xfrm>
            <a:off x="8211312" y="248716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Long-range atau Otonom</a:t>
            </a:r>
          </a:p>
        </p:txBody>
      </p:sp>
      <p:sp>
        <p:nvSpPr>
          <p:cNvPr id="18" name="TextBox 17"/>
          <p:cNvSpPr txBox="1"/>
          <p:nvPr/>
        </p:nvSpPr>
        <p:spPr>
          <a:xfrm>
            <a:off x="8211312" y="2834640"/>
            <a:ext cx="3154680" cy="242316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Dua arah, pilih sesuai kebutuhan yang muncul:
▸  LONG-RANGE: frame 7", GPS, return-to-home — untuk survei &amp; jelajah
▸  OTONOM: companion computer, computer vision — untuk riset &amp; inspeksi</a:t>
            </a:r>
          </a:p>
        </p:txBody>
      </p:sp>
      <p:sp>
        <p:nvSpPr>
          <p:cNvPr id="19" name="Rectangle 18"/>
          <p:cNvSpPr/>
          <p:nvPr/>
        </p:nvSpPr>
        <p:spPr>
          <a:xfrm>
            <a:off x="566928" y="5532120"/>
            <a:ext cx="11064240" cy="7772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5532120"/>
            <a:ext cx="31750" cy="77724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569671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PRINSIP</a:t>
            </a:r>
          </a:p>
        </p:txBody>
      </p:sp>
      <p:sp>
        <p:nvSpPr>
          <p:cNvPr id="22" name="TextBox 21"/>
          <p:cNvSpPr txBox="1"/>
          <p:nvPr/>
        </p:nvSpPr>
        <p:spPr>
          <a:xfrm>
            <a:off x="768096" y="5916168"/>
            <a:ext cx="10680192" cy="25603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v1 sengaja dirancang agar TIDAK ADA YANG TERBUANG: radio, goggles, charger, alat, dan yang terpenting — pengetahuan tim — semuanya terbawa ke v2 dan v3. Yang diganti hanya komponen drone-nya.</a:t>
            </a:r>
          </a:p>
        </p:txBody>
      </p:sp>
      <p:sp>
        <p:nvSpPr>
          <p:cNvPr id="23" name="TextBox 22"/>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Roadmap</a:t>
            </a:r>
          </a:p>
        </p:txBody>
      </p:sp>
      <p:sp>
        <p:nvSpPr>
          <p:cNvPr id="24" name="TextBox 23"/>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41 / 43</a:t>
            </a:r>
          </a:p>
        </p:txBody>
      </p:sp>
      <p:sp>
        <p:nvSpPr>
          <p:cNvPr id="25" name="Rectangle 24"/>
          <p:cNvSpPr/>
          <p:nvPr/>
        </p:nvSpPr>
        <p:spPr>
          <a:xfrm>
            <a:off x="0" y="6803136"/>
            <a:ext cx="11624639"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push dir="l"/>
      </p:transition>
    </mc:Choice>
    <mc:Fallback>
      <p:transition spd="med">
        <p:push dir="l"/>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PENUTUP</a:t>
            </a:r>
          </a:p>
        </p:txBody>
      </p:sp>
      <p:sp>
        <p:nvSpPr>
          <p:cNvPr id="3" name="TextBox 2"/>
          <p:cNvSpPr txBox="1"/>
          <p:nvPr/>
        </p:nvSpPr>
        <p:spPr>
          <a:xfrm>
            <a:off x="548640" y="658368"/>
            <a:ext cx="11064240" cy="868680"/>
          </a:xfrm>
          <a:prstGeom prst="rect">
            <a:avLst/>
          </a:prstGeom>
          <a:noFill/>
        </p:spPr>
        <p:txBody>
          <a:bodyPr wrap="square" lIns="0" tIns="0">
            <a:spAutoFit/>
          </a:bodyPr>
          <a:lstStyle/>
          <a:p>
            <a:r>
              <a:rPr sz="3400" b="1">
                <a:solidFill>
                  <a:srgbClr val="ECEFF2"/>
                </a:solidFill>
                <a:latin typeface="Bahnschrift"/>
              </a:rPr>
              <a:t>Tiga keputusan yang diminta hari ini</a:t>
            </a:r>
          </a:p>
        </p:txBody>
      </p:sp>
      <p:sp>
        <p:nvSpPr>
          <p:cNvPr id="4" name="TextBox 3"/>
          <p:cNvSpPr txBox="1"/>
          <p:nvPr/>
        </p:nvSpPr>
        <p:spPr>
          <a:xfrm>
            <a:off x="566928" y="1572768"/>
            <a:ext cx="10424160" cy="457200"/>
          </a:xfrm>
          <a:prstGeom prst="rect">
            <a:avLst/>
          </a:prstGeom>
          <a:noFill/>
        </p:spPr>
        <p:txBody>
          <a:bodyPr wrap="square" lIns="0" rIns="0" tIns="0" bIns="0">
            <a:spAutoFit/>
          </a:bodyPr>
          <a:lstStyle/>
          <a:p>
            <a:pPr algn="l">
              <a:lnSpc>
                <a:spcPct val="135000"/>
              </a:lnSpc>
              <a:spcAft>
                <a:spcPts val="600"/>
              </a:spcAft>
            </a:pPr>
            <a:r>
              <a:rPr sz="1350" b="0">
                <a:solidFill>
                  <a:srgbClr val="A9B4BE"/>
                </a:solidFill>
                <a:latin typeface="Segoe UI"/>
              </a:rPr>
              <a:t>Rapat ini tidak boleh bubar tanpa tiga jawaban berikut.</a:t>
            </a:r>
          </a:p>
        </p:txBody>
      </p:sp>
      <p:sp>
        <p:nvSpPr>
          <p:cNvPr id="5" name="Rectangle 4"/>
          <p:cNvSpPr/>
          <p:nvPr/>
        </p:nvSpPr>
        <p:spPr>
          <a:xfrm>
            <a:off x="566928" y="2377440"/>
            <a:ext cx="3538728" cy="26517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77440"/>
            <a:ext cx="31750" cy="26517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KEPUTUSAN 1</a:t>
            </a:r>
          </a:p>
        </p:txBody>
      </p:sp>
      <p:sp>
        <p:nvSpPr>
          <p:cNvPr id="8" name="TextBox 7"/>
          <p:cNvSpPr txBox="1"/>
          <p:nvPr/>
        </p:nvSpPr>
        <p:spPr>
          <a:xfrm>
            <a:off x="768096"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Analog atau digital untuk v1?</a:t>
            </a:r>
          </a:p>
        </p:txBody>
      </p:sp>
      <p:sp>
        <p:nvSpPr>
          <p:cNvPr id="9" name="TextBox 8"/>
          <p:cNvSpPr txBox="1"/>
          <p:nvPr/>
        </p:nvSpPr>
        <p:spPr>
          <a:xfrm>
            <a:off x="768096" y="3108960"/>
            <a:ext cx="3154680" cy="17830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REKOMENDASI: ANALOG. Crash adalah keniscayaan saat belajar; kamera Rp 350 rb jauh lebih ringan hilangnya dibanding unit Rp 3 jt.
Ini poin yang paling ingin kami dengar bantahannya.</a:t>
            </a:r>
          </a:p>
        </p:txBody>
      </p:sp>
      <p:sp>
        <p:nvSpPr>
          <p:cNvPr id="10" name="Rectangle 9"/>
          <p:cNvSpPr/>
          <p:nvPr/>
        </p:nvSpPr>
        <p:spPr>
          <a:xfrm>
            <a:off x="4288536" y="2377440"/>
            <a:ext cx="3538728" cy="26517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88536" y="2377440"/>
            <a:ext cx="31750" cy="26517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KEPUTUSAN 2</a:t>
            </a:r>
          </a:p>
        </p:txBody>
      </p:sp>
      <p:sp>
        <p:nvSpPr>
          <p:cNvPr id="13" name="TextBox 12"/>
          <p:cNvSpPr txBox="1"/>
          <p:nvPr/>
        </p:nvSpPr>
        <p:spPr>
          <a:xfrm>
            <a:off x="4489704"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Tingkat anggaran?</a:t>
            </a:r>
          </a:p>
        </p:txBody>
      </p:sp>
      <p:sp>
        <p:nvSpPr>
          <p:cNvPr id="14" name="TextBox 13"/>
          <p:cNvSpPr txBox="1"/>
          <p:nvPr/>
        </p:nvSpPr>
        <p:spPr>
          <a:xfrm>
            <a:off x="4489704" y="3108960"/>
            <a:ext cx="3154680" cy="17830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REKOMENDASI: STANDAR — Rp 12,3 jt. Tier Hemat berujung membayar dua kali saat goggles murahnya minta diganti dalam hitungan bulan.
Berapa plafon yang realistis?</a:t>
            </a:r>
          </a:p>
        </p:txBody>
      </p:sp>
      <p:sp>
        <p:nvSpPr>
          <p:cNvPr id="15" name="Rectangle 14"/>
          <p:cNvSpPr/>
          <p:nvPr/>
        </p:nvSpPr>
        <p:spPr>
          <a:xfrm>
            <a:off x="8010144" y="2377440"/>
            <a:ext cx="3538728" cy="26517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2377440"/>
            <a:ext cx="31750" cy="265176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2542032"/>
            <a:ext cx="315468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KEPUTUSAN 3</a:t>
            </a:r>
          </a:p>
        </p:txBody>
      </p:sp>
      <p:sp>
        <p:nvSpPr>
          <p:cNvPr id="18" name="TextBox 17"/>
          <p:cNvSpPr txBox="1"/>
          <p:nvPr/>
        </p:nvSpPr>
        <p:spPr>
          <a:xfrm>
            <a:off x="8211312" y="2761488"/>
            <a:ext cx="3154680" cy="274320"/>
          </a:xfrm>
          <a:prstGeom prst="rect">
            <a:avLst/>
          </a:prstGeom>
          <a:noFill/>
        </p:spPr>
        <p:txBody>
          <a:bodyPr wrap="square" lIns="0" rIns="0" tIns="0" bIns="0">
            <a:spAutoFit/>
          </a:bodyPr>
          <a:lstStyle/>
          <a:p>
            <a:pPr algn="l">
              <a:lnSpc>
                <a:spcPct val="125000"/>
              </a:lnSpc>
              <a:spcAft>
                <a:spcPts val="600"/>
              </a:spcAft>
            </a:pPr>
            <a:r>
              <a:rPr sz="1600" b="1">
                <a:solidFill>
                  <a:srgbClr val="ECEFF2"/>
                </a:solidFill>
                <a:latin typeface="Bahnschrift"/>
              </a:rPr>
              <a:t>Siapa mengerjakan apa?</a:t>
            </a:r>
          </a:p>
        </p:txBody>
      </p:sp>
      <p:sp>
        <p:nvSpPr>
          <p:cNvPr id="19" name="TextBox 18"/>
          <p:cNvSpPr txBox="1"/>
          <p:nvPr/>
        </p:nvSpPr>
        <p:spPr>
          <a:xfrm>
            <a:off x="8211312" y="3108960"/>
            <a:ext cx="3154680" cy="1783080"/>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Timeline 8 minggu mengasumsikan ada orang yang benar-benar punya waktu untuk menyolder dan menguji.
Realistis dengan beban kerja tim saat ini?</a:t>
            </a:r>
          </a:p>
        </p:txBody>
      </p:sp>
      <p:sp>
        <p:nvSpPr>
          <p:cNvPr id="20" name="Rectangle 19"/>
          <p:cNvSpPr/>
          <p:nvPr/>
        </p:nvSpPr>
        <p:spPr>
          <a:xfrm>
            <a:off x="566928" y="5257800"/>
            <a:ext cx="11064240" cy="100584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5257800"/>
            <a:ext cx="31750" cy="1005840"/>
          </a:xfrm>
          <a:prstGeom prst="rect">
            <a:avLst/>
          </a:prstGeom>
          <a:solidFill>
            <a:srgbClr val="C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422392"/>
            <a:ext cx="10680192"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DUA TUGAS YANG HARUS DIBERI NAMA ORANG HARI INI</a:t>
            </a:r>
          </a:p>
        </p:txBody>
      </p:sp>
      <p:sp>
        <p:nvSpPr>
          <p:cNvPr id="23" name="TextBox 22"/>
          <p:cNvSpPr txBox="1"/>
          <p:nvPr/>
        </p:nvSpPr>
        <p:spPr>
          <a:xfrm>
            <a:off x="768096" y="5641848"/>
            <a:ext cx="10680192" cy="484632"/>
          </a:xfrm>
          <a:prstGeom prst="rect">
            <a:avLst/>
          </a:prstGeom>
          <a:noFill/>
        </p:spPr>
        <p:txBody>
          <a:bodyPr wrap="square" lIns="0" rIns="0" tIns="0" bIns="0">
            <a:spAutoFit/>
          </a:bodyPr>
          <a:lstStyle/>
          <a:p>
            <a:pPr algn="l">
              <a:lnSpc>
                <a:spcPct val="130000"/>
              </a:lnSpc>
              <a:spcAft>
                <a:spcPts val="600"/>
              </a:spcAft>
            </a:pPr>
            <a:r>
              <a:rPr sz="1150" b="0">
                <a:solidFill>
                  <a:srgbClr val="A9B4BE"/>
                </a:solidFill>
                <a:latin typeface="Segoe UI"/>
              </a:rPr>
              <a:t>1. VERIFIKASI HARGA — seluruh angka rupiah dalam deck ini adalah estimasi yang belum dicek ke marketplace. Anggaran tidak boleh disetujui sebelum ini selesai.     2. VERIFIKASI REGULASI — aturan penerbangan drone dirujuk secara umum, bukan dikutip dari teks resmi terbaru. Keduanya adalah lubang jujur dalam presentasi ini.</a:t>
            </a:r>
          </a:p>
        </p:txBody>
      </p:sp>
      <p:sp>
        <p:nvSpPr>
          <p:cNvPr id="24" name="TextBox 23"/>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Keputusan</a:t>
            </a:r>
          </a:p>
        </p:txBody>
      </p:sp>
      <p:sp>
        <p:nvSpPr>
          <p:cNvPr id="25" name="TextBox 24"/>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42 / 43</a:t>
            </a:r>
          </a:p>
        </p:txBody>
      </p:sp>
      <p:sp>
        <p:nvSpPr>
          <p:cNvPr id="26" name="Rectangle 25"/>
          <p:cNvSpPr/>
          <p:nvPr/>
        </p:nvSpPr>
        <p:spPr>
          <a:xfrm>
            <a:off x="0" y="6803136"/>
            <a:ext cx="11908167"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71D"/>
        </a:solidFill>
        <a:effectLst/>
      </p:bgPr>
    </p:bg>
    <p:spTree>
      <p:nvGrpSpPr>
        <p:cNvPr id="1" name=""/>
        <p:cNvGrpSpPr/>
        <p:nvPr/>
      </p:nvGrpSpPr>
      <p:grpSpPr/>
      <p:sp>
        <p:nvSpPr>
          <p:cNvPr id="2" name="TextBox 1"/>
          <p:cNvSpPr txBox="1"/>
          <p:nvPr/>
        </p:nvSpPr>
        <p:spPr>
          <a:xfrm>
            <a:off x="566928" y="384048"/>
            <a:ext cx="8229600" cy="274320"/>
          </a:xfrm>
          <a:prstGeom prst="rect">
            <a:avLst/>
          </a:prstGeom>
          <a:noFill/>
        </p:spPr>
        <p:txBody>
          <a:bodyPr wrap="square" lIns="0" rIns="0" tIns="0" bIns="0">
            <a:spAutoFit/>
          </a:bodyPr>
          <a:lstStyle/>
          <a:p>
            <a:pPr algn="l">
              <a:lnSpc>
                <a:spcPct val="125000"/>
              </a:lnSpc>
              <a:spcAft>
                <a:spcPts val="600"/>
              </a:spcAft>
            </a:pPr>
            <a:r>
              <a:rPr sz="1050" b="1">
                <a:solidFill>
                  <a:srgbClr val="F2662C"/>
                </a:solidFill>
                <a:latin typeface="Consolas"/>
              </a:rPr>
              <a:t>TERIMA KASIH</a:t>
            </a:r>
          </a:p>
        </p:txBody>
      </p:sp>
      <p:sp>
        <p:nvSpPr>
          <p:cNvPr id="3" name="TextBox 2"/>
          <p:cNvSpPr txBox="1"/>
          <p:nvPr/>
        </p:nvSpPr>
        <p:spPr>
          <a:xfrm>
            <a:off x="566928" y="1737360"/>
            <a:ext cx="10515600" cy="1371600"/>
          </a:xfrm>
          <a:prstGeom prst="rect">
            <a:avLst/>
          </a:prstGeom>
          <a:noFill/>
        </p:spPr>
        <p:txBody>
          <a:bodyPr wrap="square" lIns="0" tIns="0">
            <a:spAutoFit/>
          </a:bodyPr>
          <a:lstStyle/>
          <a:p>
            <a:r>
              <a:rPr sz="4400" b="1">
                <a:solidFill>
                  <a:srgbClr val="ECEFF2"/>
                </a:solidFill>
                <a:latin typeface="Bahnschrift"/>
              </a:rPr>
              <a:t>Sekarang bagian kalian: </a:t>
            </a:r>
            <a:r>
              <a:rPr sz="4400" b="1">
                <a:solidFill>
                  <a:srgbClr val="F2662C"/>
                </a:solidFill>
                <a:latin typeface="Bahnschrift"/>
              </a:rPr>
              <a:t>apa yang salah?</a:t>
            </a:r>
          </a:p>
        </p:txBody>
      </p:sp>
      <p:sp>
        <p:nvSpPr>
          <p:cNvPr id="4" name="TextBox 3"/>
          <p:cNvSpPr txBox="1"/>
          <p:nvPr/>
        </p:nvSpPr>
        <p:spPr>
          <a:xfrm>
            <a:off x="566928" y="3063240"/>
            <a:ext cx="8686800" cy="640080"/>
          </a:xfrm>
          <a:prstGeom prst="rect">
            <a:avLst/>
          </a:prstGeom>
          <a:noFill/>
        </p:spPr>
        <p:txBody>
          <a:bodyPr wrap="square" lIns="0" rIns="0" tIns="0" bIns="0">
            <a:spAutoFit/>
          </a:bodyPr>
          <a:lstStyle/>
          <a:p>
            <a:pPr algn="l">
              <a:lnSpc>
                <a:spcPct val="140000"/>
              </a:lnSpc>
              <a:spcAft>
                <a:spcPts val="600"/>
              </a:spcAft>
            </a:pPr>
            <a:r>
              <a:rPr sz="1500" b="0">
                <a:solidFill>
                  <a:srgbClr val="A9B4BE"/>
                </a:solidFill>
                <a:latin typeface="Segoe UI"/>
              </a:rPr>
              <a:t>Rancangan ini belum dibangun. Itu berarti setiap koreksi hari ini GRATIS — dan setiap koreksi setelah komponen dibeli, tidak.</a:t>
            </a:r>
          </a:p>
        </p:txBody>
      </p:sp>
      <p:sp>
        <p:nvSpPr>
          <p:cNvPr id="5" name="Rectangle 4"/>
          <p:cNvSpPr/>
          <p:nvPr/>
        </p:nvSpPr>
        <p:spPr>
          <a:xfrm>
            <a:off x="566928" y="4114800"/>
            <a:ext cx="3538728" cy="10515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4279392"/>
            <a:ext cx="310896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PEMANTIK 1</a:t>
            </a:r>
          </a:p>
        </p:txBody>
      </p:sp>
      <p:sp>
        <p:nvSpPr>
          <p:cNvPr id="7" name="TextBox 6"/>
          <p:cNvSpPr txBox="1"/>
          <p:nvPr/>
        </p:nvSpPr>
        <p:spPr>
          <a:xfrm>
            <a:off x="768096" y="4553712"/>
            <a:ext cx="3154680" cy="548640"/>
          </a:xfrm>
          <a:prstGeom prst="rect">
            <a:avLst/>
          </a:prstGeom>
          <a:noFill/>
        </p:spPr>
        <p:txBody>
          <a:bodyPr wrap="square" lIns="0" rIns="0" tIns="0" bIns="0">
            <a:spAutoFit/>
          </a:bodyPr>
          <a:lstStyle/>
          <a:p>
            <a:pPr algn="l">
              <a:lnSpc>
                <a:spcPct val="125000"/>
              </a:lnSpc>
              <a:spcAft>
                <a:spcPts val="600"/>
              </a:spcAft>
            </a:pPr>
            <a:r>
              <a:rPr sz="1200" b="0">
                <a:solidFill>
                  <a:srgbClr val="A9B4BE"/>
                </a:solidFill>
                <a:latin typeface="Segoe UI"/>
              </a:rPr>
              <a:t>Apa yang paling meragukan dari rancangan ini?</a:t>
            </a:r>
          </a:p>
        </p:txBody>
      </p:sp>
      <p:sp>
        <p:nvSpPr>
          <p:cNvPr id="8" name="Rectangle 7"/>
          <p:cNvSpPr/>
          <p:nvPr/>
        </p:nvSpPr>
        <p:spPr>
          <a:xfrm>
            <a:off x="4288536" y="4114800"/>
            <a:ext cx="3538728" cy="10515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9704" y="4279392"/>
            <a:ext cx="310896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PEMANTIK 2</a:t>
            </a:r>
          </a:p>
        </p:txBody>
      </p:sp>
      <p:sp>
        <p:nvSpPr>
          <p:cNvPr id="10" name="TextBox 9"/>
          <p:cNvSpPr txBox="1"/>
          <p:nvPr/>
        </p:nvSpPr>
        <p:spPr>
          <a:xfrm>
            <a:off x="4489704" y="4553712"/>
            <a:ext cx="3154680" cy="548640"/>
          </a:xfrm>
          <a:prstGeom prst="rect">
            <a:avLst/>
          </a:prstGeom>
          <a:noFill/>
        </p:spPr>
        <p:txBody>
          <a:bodyPr wrap="square" lIns="0" rIns="0" tIns="0" bIns="0">
            <a:spAutoFit/>
          </a:bodyPr>
          <a:lstStyle/>
          <a:p>
            <a:pPr algn="l">
              <a:lnSpc>
                <a:spcPct val="125000"/>
              </a:lnSpc>
              <a:spcAft>
                <a:spcPts val="600"/>
              </a:spcAft>
            </a:pPr>
            <a:r>
              <a:rPr sz="1200" b="0">
                <a:solidFill>
                  <a:srgbClr val="A9B4BE"/>
                </a:solidFill>
                <a:latin typeface="Segoe UI"/>
              </a:rPr>
              <a:t>Adakah komponen yang menurut kalian salah pilih?</a:t>
            </a:r>
          </a:p>
        </p:txBody>
      </p:sp>
      <p:sp>
        <p:nvSpPr>
          <p:cNvPr id="11" name="Rectangle 10"/>
          <p:cNvSpPr/>
          <p:nvPr/>
        </p:nvSpPr>
        <p:spPr>
          <a:xfrm>
            <a:off x="8010144" y="4114800"/>
            <a:ext cx="3538728" cy="1051560"/>
          </a:xfrm>
          <a:prstGeom prst="rect">
            <a:avLst/>
          </a:prstGeom>
          <a:solidFill>
            <a:srgbClr val="182029"/>
          </a:solidFill>
          <a:ln w="12700">
            <a:solidFill>
              <a:srgbClr val="2530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4279392"/>
            <a:ext cx="3108960" cy="201168"/>
          </a:xfrm>
          <a:prstGeom prst="rect">
            <a:avLst/>
          </a:prstGeom>
          <a:noFill/>
        </p:spPr>
        <p:txBody>
          <a:bodyPr wrap="square" lIns="0" rIns="0" tIns="0" bIns="0">
            <a:spAutoFit/>
          </a:bodyPr>
          <a:lstStyle/>
          <a:p>
            <a:pPr algn="l">
              <a:lnSpc>
                <a:spcPct val="125000"/>
              </a:lnSpc>
              <a:spcAft>
                <a:spcPts val="600"/>
              </a:spcAft>
            </a:pPr>
            <a:r>
              <a:rPr sz="900" b="1">
                <a:solidFill>
                  <a:srgbClr val="6F7C88"/>
                </a:solidFill>
                <a:latin typeface="Consolas"/>
              </a:rPr>
              <a:t>PEMANTIK 3</a:t>
            </a:r>
          </a:p>
        </p:txBody>
      </p:sp>
      <p:sp>
        <p:nvSpPr>
          <p:cNvPr id="13" name="TextBox 12"/>
          <p:cNvSpPr txBox="1"/>
          <p:nvPr/>
        </p:nvSpPr>
        <p:spPr>
          <a:xfrm>
            <a:off x="8211312" y="4553712"/>
            <a:ext cx="3154680" cy="548640"/>
          </a:xfrm>
          <a:prstGeom prst="rect">
            <a:avLst/>
          </a:prstGeom>
          <a:noFill/>
        </p:spPr>
        <p:txBody>
          <a:bodyPr wrap="square" lIns="0" rIns="0" tIns="0" bIns="0">
            <a:spAutoFit/>
          </a:bodyPr>
          <a:lstStyle/>
          <a:p>
            <a:pPr algn="l">
              <a:lnSpc>
                <a:spcPct val="125000"/>
              </a:lnSpc>
              <a:spcAft>
                <a:spcPts val="600"/>
              </a:spcAft>
            </a:pPr>
            <a:r>
              <a:rPr sz="1200" b="0">
                <a:solidFill>
                  <a:srgbClr val="A9B4BE"/>
                </a:solidFill>
                <a:latin typeface="Segoe UI"/>
              </a:rPr>
              <a:t>Pengalaman crash apa yang harus kami antisipasi?</a:t>
            </a:r>
          </a:p>
        </p:txBody>
      </p:sp>
      <p:sp>
        <p:nvSpPr>
          <p:cNvPr id="14" name="TextBox 13"/>
          <p:cNvSpPr txBox="1"/>
          <p:nvPr/>
        </p:nvSpPr>
        <p:spPr>
          <a:xfrm>
            <a:off x="566928" y="5532120"/>
            <a:ext cx="8686800" cy="548640"/>
          </a:xfrm>
          <a:prstGeom prst="rect">
            <a:avLst/>
          </a:prstGeom>
          <a:noFill/>
        </p:spPr>
        <p:txBody>
          <a:bodyPr wrap="square" lIns="0" rIns="0" tIns="0" bIns="0">
            <a:spAutoFit/>
          </a:bodyPr>
          <a:lstStyle/>
          <a:p>
            <a:pPr algn="l">
              <a:lnSpc>
                <a:spcPct val="125000"/>
              </a:lnSpc>
              <a:spcAft>
                <a:spcPts val="600"/>
              </a:spcAft>
            </a:pPr>
            <a:r>
              <a:rPr sz="1000" b="0">
                <a:solidFill>
                  <a:srgbClr val="6F7C88"/>
                </a:solidFill>
                <a:latin typeface="Consolas"/>
              </a:rPr>
              <a:t>Dokumen lengkap — model 3D, kode firmware, simulator PID, daftar belanja:</a:t>
            </a:r>
          </a:p>
        </p:txBody>
      </p:sp>
      <p:sp>
        <p:nvSpPr>
          <p:cNvPr id="15" name="TextBox 14"/>
          <p:cNvSpPr txBox="1"/>
          <p:nvPr/>
        </p:nvSpPr>
        <p:spPr>
          <a:xfrm>
            <a:off x="566928" y="5760720"/>
            <a:ext cx="8686800" cy="320040"/>
          </a:xfrm>
          <a:prstGeom prst="rect">
            <a:avLst/>
          </a:prstGeom>
          <a:noFill/>
        </p:spPr>
        <p:txBody>
          <a:bodyPr wrap="square" lIns="0" rIns="0" tIns="0" bIns="0">
            <a:spAutoFit/>
          </a:bodyPr>
          <a:lstStyle/>
          <a:p>
            <a:pPr algn="l">
              <a:lnSpc>
                <a:spcPct val="125000"/>
              </a:lnSpc>
              <a:spcAft>
                <a:spcPts val="600"/>
              </a:spcAft>
            </a:pPr>
            <a:r>
              <a:rPr sz="1400" b="1">
                <a:solidFill>
                  <a:srgbClr val="F2662C"/>
                </a:solidFill>
                <a:latin typeface="Consolas"/>
              </a:rPr>
              <a:t>herutriyadih2-cloud.github.io/rancangan-drone-fpv</a:t>
            </a:r>
          </a:p>
        </p:txBody>
      </p:sp>
      <p:sp>
        <p:nvSpPr>
          <p:cNvPr id="16" name="TextBox 15"/>
          <p:cNvSpPr txBox="1"/>
          <p:nvPr/>
        </p:nvSpPr>
        <p:spPr>
          <a:xfrm>
            <a:off x="566928" y="6355080"/>
            <a:ext cx="6400800" cy="274320"/>
          </a:xfrm>
          <a:prstGeom prst="rect">
            <a:avLst/>
          </a:prstGeom>
          <a:noFill/>
        </p:spPr>
        <p:txBody>
          <a:bodyPr wrap="square" lIns="0" rIns="0" tIns="0" bIns="0">
            <a:spAutoFit/>
          </a:bodyPr>
          <a:lstStyle/>
          <a:p>
            <a:pPr algn="l">
              <a:lnSpc>
                <a:spcPct val="125000"/>
              </a:lnSpc>
              <a:spcAft>
                <a:spcPts val="600"/>
              </a:spcAft>
            </a:pPr>
            <a:r>
              <a:rPr sz="900" b="0">
                <a:solidFill>
                  <a:srgbClr val="6F7C88"/>
                </a:solidFill>
                <a:latin typeface="Consolas"/>
              </a:rPr>
              <a:t>Diskusi</a:t>
            </a:r>
          </a:p>
        </p:txBody>
      </p:sp>
      <p:sp>
        <p:nvSpPr>
          <p:cNvPr id="17" name="TextBox 16"/>
          <p:cNvSpPr txBox="1"/>
          <p:nvPr/>
        </p:nvSpPr>
        <p:spPr>
          <a:xfrm>
            <a:off x="10241280" y="6355080"/>
            <a:ext cx="1371600" cy="274320"/>
          </a:xfrm>
          <a:prstGeom prst="rect">
            <a:avLst/>
          </a:prstGeom>
          <a:noFill/>
        </p:spPr>
        <p:txBody>
          <a:bodyPr wrap="square" lIns="0" rIns="0" tIns="0" bIns="0">
            <a:spAutoFit/>
          </a:bodyPr>
          <a:lstStyle/>
          <a:p>
            <a:pPr algn="r">
              <a:lnSpc>
                <a:spcPct val="125000"/>
              </a:lnSpc>
              <a:spcAft>
                <a:spcPts val="600"/>
              </a:spcAft>
            </a:pPr>
            <a:r>
              <a:rPr sz="900" b="0">
                <a:solidFill>
                  <a:srgbClr val="6F7C88"/>
                </a:solidFill>
                <a:latin typeface="Consolas"/>
              </a:rPr>
              <a:t>43 / 43</a:t>
            </a:r>
          </a:p>
        </p:txBody>
      </p:sp>
      <p:sp>
        <p:nvSpPr>
          <p:cNvPr id="18" name="Rectangle 17"/>
          <p:cNvSpPr/>
          <p:nvPr/>
        </p:nvSpPr>
        <p:spPr>
          <a:xfrm>
            <a:off x="0" y="6803136"/>
            <a:ext cx="12191695" cy="38100"/>
          </a:xfrm>
          <a:prstGeom prst="rect">
            <a:avLst/>
          </a:prstGeom>
          <a:solidFill>
            <a:srgbClr val="F26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rot="20520000">
            <a:off x="1005840" y="2743200"/>
            <a:ext cx="10149840" cy="1371600"/>
          </a:xfrm>
          <a:prstGeom prst="rect">
            <a:avLst/>
          </a:prstGeom>
          <a:noFill/>
        </p:spPr>
        <p:txBody>
          <a:bodyPr wrap="none">
            <a:spAutoFit/>
          </a:bodyPr>
          <a:lstStyle/>
          <a:p>
            <a:pPr algn="ctr"/>
            <a:r>
              <a:rPr sz="3000" b="1">
                <a:solidFill>
                  <a:srgbClr val="3C444D"/>
                </a:solidFill>
                <a:latin typeface="Consolas"/>
              </a:rPr>
              <a:t>CONFIDENTIAL · © HERU TRIYADI 2026</a:t>
            </a:r>
          </a:p>
        </p:txBody>
      </p:sp>
    </p:spTree>
  </p:cSld>
  <p:clrMapOvr>
    <a:masterClrMapping/>
  </p:clrMapOvr>
  <mc:AlternateContent xmlns:mc="http://schemas.openxmlformats.org/markup-compatibility/2006">
    <mc:Choice xmlns:p14="http://schemas.microsoft.com/office/powerpoint/2010/main" Requires="p14">
      <p:transition spd="med" p14:dur="55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